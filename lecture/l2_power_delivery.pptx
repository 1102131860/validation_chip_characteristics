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png" ContentType="image/png"/>
  <Default Extension="rels" ContentType="application/vnd.openxmlformats-package.relationships+xml"/>
  <Default Extension="WMF" ContentType="image/x-wmf"/>
  <Default Extension="xml" ContentType="application/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entation.xml" ContentType="application/vnd.openxmlformats-officedocument.presentationml.presentation.main+xml"/>
  <Override PartName="/ppt/slides/slide1.xml" ContentType="application/vnd.openxmlformats-officedocument.presentationml.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p:sldMasterIdLst>
    <p:sldMasterId id="2147483648" r:id="rId1"/>
  </p:sldMasterIdLst>
  <p:notesMasterIdLst>
    <p:notesMasterId r:id="rId48"/>
  </p:notesMasterIdLst>
  <p:handoutMasterIdLst>
    <p:handoutMasterId r:id="rId49"/>
  </p:handoutMasterIdLst>
  <p:sldIdLst>
    <p:sldId id="643" r:id="rId2"/>
    <p:sldId id="688" r:id="rId3"/>
    <p:sldId id="674" r:id="rId4"/>
    <p:sldId id="675" r:id="rId5"/>
    <p:sldId id="676" r:id="rId6"/>
    <p:sldId id="677" r:id="rId7"/>
    <p:sldId id="678" r:id="rId8"/>
    <p:sldId id="679" r:id="rId9"/>
    <p:sldId id="680" r:id="rId10"/>
    <p:sldId id="684" r:id="rId11"/>
    <p:sldId id="682" r:id="rId12"/>
    <p:sldId id="685" r:id="rId13"/>
    <p:sldId id="686" r:id="rId14"/>
    <p:sldId id="687" r:id="rId15"/>
    <p:sldId id="656" r:id="rId16"/>
    <p:sldId id="704" r:id="rId17"/>
    <p:sldId id="705" r:id="rId18"/>
    <p:sldId id="706" r:id="rId19"/>
    <p:sldId id="657" r:id="rId20"/>
    <p:sldId id="658" r:id="rId21"/>
    <p:sldId id="659" r:id="rId22"/>
    <p:sldId id="660" r:id="rId23"/>
    <p:sldId id="661" r:id="rId24"/>
    <p:sldId id="662" r:id="rId25"/>
    <p:sldId id="564" r:id="rId26"/>
    <p:sldId id="570" r:id="rId27"/>
    <p:sldId id="571" r:id="rId28"/>
    <p:sldId id="647" r:id="rId29"/>
    <p:sldId id="578" r:id="rId30"/>
    <p:sldId id="707" r:id="rId31"/>
    <p:sldId id="690" r:id="rId32"/>
    <p:sldId id="691" r:id="rId33"/>
    <p:sldId id="693" r:id="rId34"/>
    <p:sldId id="694" r:id="rId35"/>
    <p:sldId id="695" r:id="rId36"/>
    <p:sldId id="612" r:id="rId37"/>
    <p:sldId id="614" r:id="rId38"/>
    <p:sldId id="648" r:id="rId39"/>
    <p:sldId id="608" r:id="rId40"/>
    <p:sldId id="615" r:id="rId41"/>
    <p:sldId id="617" r:id="rId42"/>
    <p:sldId id="618" r:id="rId43"/>
    <p:sldId id="619" r:id="rId44"/>
    <p:sldId id="620" r:id="rId45"/>
    <p:sldId id="622" r:id="rId46"/>
    <p:sldId id="623" r:id="rId47"/>
  </p:sldIdLst>
  <p:sldSz cx="12192000" cy="6858000"/>
  <p:notesSz cx="6400800" cy="8686800"/>
  <p:embeddedFontLst>
    <p:embeddedFont>
      <p:font typeface="굴림" panose="020B0600000101010101" pitchFamily="34" charset="-127"/>
      <p:regular r:id="rId50"/>
    </p:embeddedFont>
    <p:embeddedFont>
      <p:font typeface="ＭＳ Ｐゴシック" panose="020B0600070205080204" pitchFamily="34" charset="-128"/>
      <p:regular r:id="rId51"/>
    </p:embeddedFont>
    <p:embeddedFont>
      <p:font typeface="ＭＳ Ｐゴシック" panose="020B0600070205080204" pitchFamily="34" charset="-128"/>
      <p:regular r:id="rId51"/>
    </p:embeddedFont>
    <p:embeddedFont>
      <p:font typeface="Arial Black" panose="020B0604020202020204" pitchFamily="34" charset="0"/>
      <p:bold r:id="rId52"/>
    </p:embeddedFont>
    <p:embeddedFont>
      <p:font typeface="Cambria Math" panose="02040503050406030204" pitchFamily="18" charset="0"/>
      <p:regular r:id="rId53"/>
    </p:embeddedFont>
    <p:embeddedFont>
      <p:font typeface="Trebuchet MS" panose="020B0703020202090204" pitchFamily="34" charset="0"/>
      <p:regular r:id="rId54"/>
      <p:bold r:id="rId55"/>
      <p:italic r:id="rId56"/>
    </p:embeddedFont>
  </p:embeddedFont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736">
          <p15:clr>
            <a:srgbClr val="A4A3A4"/>
          </p15:clr>
        </p15:guide>
        <p15:guide id="2" pos="201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180AD4"/>
    <a:srgbClr val="00C032"/>
    <a:srgbClr val="6257F7"/>
    <a:srgbClr val="D7DDEB"/>
    <a:srgbClr val="93E3FF"/>
    <a:srgbClr val="FC8C1C"/>
    <a:srgbClr val="FF6600"/>
    <a:srgbClr val="FF9900"/>
    <a:srgbClr val="FFF3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411" autoAdjust="0"/>
    <p:restoredTop sz="77647" autoAdjust="0"/>
  </p:normalViewPr>
  <p:slideViewPr>
    <p:cSldViewPr>
      <p:cViewPr varScale="1">
        <p:scale>
          <a:sx n="108" d="100"/>
          <a:sy n="108" d="100"/>
        </p:scale>
        <p:origin x="224" y="51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p:cViewPr>
        <p:scale>
          <a:sx n="66" d="100"/>
          <a:sy n="66" d="100"/>
        </p:scale>
        <p:origin x="-2646" y="216"/>
      </p:cViewPr>
      <p:guideLst>
        <p:guide orient="horz" pos="2736"/>
        <p:guide pos="201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55" Type="http://schemas.openxmlformats.org/officeDocument/2006/relationships/font" Target="fonts/font6.fntdata"/><Relationship Id="rId63"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customXml" Target="../customXml/item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62"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773363" cy="4349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625850" y="0"/>
            <a:ext cx="2773363" cy="434975"/>
          </a:xfrm>
          <a:prstGeom prst="rect">
            <a:avLst/>
          </a:prstGeom>
        </p:spPr>
        <p:txBody>
          <a:bodyPr vert="horz" lIns="91440" tIns="45720" rIns="91440" bIns="45720" rtlCol="0"/>
          <a:lstStyle>
            <a:lvl1pPr algn="r">
              <a:defRPr sz="1200"/>
            </a:lvl1pPr>
          </a:lstStyle>
          <a:p>
            <a:fld id="{63C7F5DE-8BAC-4968-9FD1-7C28D2A9CC1B}" type="datetimeFigureOut">
              <a:rPr lang="en-US" smtClean="0"/>
              <a:t>1/26/26</a:t>
            </a:fld>
            <a:endParaRPr lang="en-US"/>
          </a:p>
        </p:txBody>
      </p:sp>
      <p:sp>
        <p:nvSpPr>
          <p:cNvPr id="4" name="Footer Placeholder 3"/>
          <p:cNvSpPr>
            <a:spLocks noGrp="1"/>
          </p:cNvSpPr>
          <p:nvPr>
            <p:ph type="ftr" sz="quarter" idx="2"/>
          </p:nvPr>
        </p:nvSpPr>
        <p:spPr>
          <a:xfrm>
            <a:off x="0" y="8250238"/>
            <a:ext cx="2773363" cy="4349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625850" y="8250238"/>
            <a:ext cx="2773363" cy="434975"/>
          </a:xfrm>
          <a:prstGeom prst="rect">
            <a:avLst/>
          </a:prstGeom>
        </p:spPr>
        <p:txBody>
          <a:bodyPr vert="horz" lIns="91440" tIns="45720" rIns="91440" bIns="45720" rtlCol="0" anchor="b"/>
          <a:lstStyle>
            <a:lvl1pPr algn="r">
              <a:defRPr sz="1200"/>
            </a:lvl1pPr>
          </a:lstStyle>
          <a:p>
            <a:fld id="{045D8118-FC69-4E62-994E-3CF2891699A2}" type="slidenum">
              <a:rPr lang="en-US" smtClean="0"/>
              <a:t>‹#›</a:t>
            </a:fld>
            <a:endParaRPr lang="en-US"/>
          </a:p>
        </p:txBody>
      </p:sp>
    </p:spTree>
    <p:extLst>
      <p:ext uri="{BB962C8B-B14F-4D97-AF65-F5344CB8AC3E}">
        <p14:creationId xmlns:p14="http://schemas.microsoft.com/office/powerpoint/2010/main" val="9755963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773958" cy="433765"/>
          </a:xfrm>
          <a:prstGeom prst="rect">
            <a:avLst/>
          </a:prstGeom>
        </p:spPr>
        <p:txBody>
          <a:bodyPr vert="horz" wrap="square" lIns="86202" tIns="43102" rIns="86202" bIns="43102" numCol="1" anchor="t" anchorCtr="0" compatLnSpc="1">
            <a:prstTxWarp prst="textNoShape">
              <a:avLst/>
            </a:prstTxWarp>
          </a:bodyPr>
          <a:lstStyle>
            <a:lvl1pPr>
              <a:defRPr sz="1200">
                <a:latin typeface="Calibri" pitchFamily="34" charset="0"/>
              </a:defRPr>
            </a:lvl1pPr>
          </a:lstStyle>
          <a:p>
            <a:endParaRPr lang="ja-JP" altLang="en-US"/>
          </a:p>
        </p:txBody>
      </p:sp>
      <p:sp>
        <p:nvSpPr>
          <p:cNvPr id="3" name="Date Placeholder 2"/>
          <p:cNvSpPr>
            <a:spLocks noGrp="1"/>
          </p:cNvSpPr>
          <p:nvPr>
            <p:ph type="dt" idx="1"/>
          </p:nvPr>
        </p:nvSpPr>
        <p:spPr>
          <a:xfrm>
            <a:off x="3625453" y="1"/>
            <a:ext cx="2773958" cy="433765"/>
          </a:xfrm>
          <a:prstGeom prst="rect">
            <a:avLst/>
          </a:prstGeom>
        </p:spPr>
        <p:txBody>
          <a:bodyPr vert="horz" wrap="square" lIns="86202" tIns="43102" rIns="86202" bIns="43102" numCol="1" anchor="t" anchorCtr="0" compatLnSpc="1">
            <a:prstTxWarp prst="textNoShape">
              <a:avLst/>
            </a:prstTxWarp>
          </a:bodyPr>
          <a:lstStyle>
            <a:lvl1pPr algn="r">
              <a:defRPr sz="1200">
                <a:latin typeface="Calibri" pitchFamily="34" charset="0"/>
              </a:defRPr>
            </a:lvl1pPr>
          </a:lstStyle>
          <a:p>
            <a:fld id="{DC8E06BC-314A-4706-90CB-5D83555F8ED2}" type="datetimeFigureOut">
              <a:rPr lang="ja-JP" altLang="en-US"/>
              <a:pPr/>
              <a:t>2026/1/26</a:t>
            </a:fld>
            <a:endParaRPr lang="en-US" altLang="ja-JP"/>
          </a:p>
        </p:txBody>
      </p:sp>
      <p:sp>
        <p:nvSpPr>
          <p:cNvPr id="4" name="Slide Image Placeholder 3"/>
          <p:cNvSpPr>
            <a:spLocks noGrp="1" noRot="1" noChangeAspect="1"/>
          </p:cNvSpPr>
          <p:nvPr>
            <p:ph type="sldImg" idx="2"/>
          </p:nvPr>
        </p:nvSpPr>
        <p:spPr>
          <a:xfrm>
            <a:off x="304800" y="652463"/>
            <a:ext cx="5791200" cy="3257550"/>
          </a:xfrm>
          <a:prstGeom prst="rect">
            <a:avLst/>
          </a:prstGeom>
          <a:noFill/>
          <a:ln w="12700">
            <a:solidFill>
              <a:prstClr val="black"/>
            </a:solidFill>
          </a:ln>
        </p:spPr>
        <p:txBody>
          <a:bodyPr vert="horz" lIns="86202" tIns="43102" rIns="86202" bIns="43102" rtlCol="0" anchor="ctr"/>
          <a:lstStyle/>
          <a:p>
            <a:pPr lvl="0"/>
            <a:endParaRPr lang="en-US" noProof="0"/>
          </a:p>
        </p:txBody>
      </p:sp>
      <p:sp>
        <p:nvSpPr>
          <p:cNvPr id="5" name="Notes Placeholder 4"/>
          <p:cNvSpPr>
            <a:spLocks noGrp="1"/>
          </p:cNvSpPr>
          <p:nvPr>
            <p:ph type="body" sz="quarter" idx="3"/>
          </p:nvPr>
        </p:nvSpPr>
        <p:spPr>
          <a:xfrm>
            <a:off x="640359" y="4126518"/>
            <a:ext cx="5120084" cy="3908198"/>
          </a:xfrm>
          <a:prstGeom prst="rect">
            <a:avLst/>
          </a:prstGeom>
        </p:spPr>
        <p:txBody>
          <a:bodyPr vert="horz" lIns="86202" tIns="43102" rIns="86202" bIns="43102"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0" y="8251599"/>
            <a:ext cx="2773958" cy="433765"/>
          </a:xfrm>
          <a:prstGeom prst="rect">
            <a:avLst/>
          </a:prstGeom>
        </p:spPr>
        <p:txBody>
          <a:bodyPr vert="horz" wrap="square" lIns="86202" tIns="43102" rIns="86202" bIns="43102" numCol="1" anchor="b" anchorCtr="0" compatLnSpc="1">
            <a:prstTxWarp prst="textNoShape">
              <a:avLst/>
            </a:prstTxWarp>
          </a:bodyPr>
          <a:lstStyle>
            <a:lvl1pPr>
              <a:defRPr sz="1200">
                <a:latin typeface="Calibri" pitchFamily="34" charset="0"/>
              </a:defRPr>
            </a:lvl1pPr>
          </a:lstStyle>
          <a:p>
            <a:endParaRPr lang="ja-JP" altLang="en-US"/>
          </a:p>
        </p:txBody>
      </p:sp>
      <p:sp>
        <p:nvSpPr>
          <p:cNvPr id="7" name="Slide Number Placeholder 6"/>
          <p:cNvSpPr>
            <a:spLocks noGrp="1"/>
          </p:cNvSpPr>
          <p:nvPr>
            <p:ph type="sldNum" sz="quarter" idx="5"/>
          </p:nvPr>
        </p:nvSpPr>
        <p:spPr>
          <a:xfrm>
            <a:off x="3625453" y="8251599"/>
            <a:ext cx="2773958" cy="433765"/>
          </a:xfrm>
          <a:prstGeom prst="rect">
            <a:avLst/>
          </a:prstGeom>
        </p:spPr>
        <p:txBody>
          <a:bodyPr vert="horz" wrap="square" lIns="86202" tIns="43102" rIns="86202" bIns="43102" numCol="1" anchor="b" anchorCtr="0" compatLnSpc="1">
            <a:prstTxWarp prst="textNoShape">
              <a:avLst/>
            </a:prstTxWarp>
          </a:bodyPr>
          <a:lstStyle>
            <a:lvl1pPr algn="r">
              <a:defRPr sz="1200">
                <a:latin typeface="Calibri" pitchFamily="34" charset="0"/>
              </a:defRPr>
            </a:lvl1pPr>
          </a:lstStyle>
          <a:p>
            <a:fld id="{08601D30-A5A7-468B-B1B6-1BCB3557266F}" type="slidenum">
              <a:rPr lang="ja-JP" altLang="en-US"/>
              <a:pPr/>
              <a:t>‹#›</a:t>
            </a:fld>
            <a:endParaRPr lang="en-US" altLang="ja-JP"/>
          </a:p>
        </p:txBody>
      </p:sp>
    </p:spTree>
    <p:extLst>
      <p:ext uri="{BB962C8B-B14F-4D97-AF65-F5344CB8AC3E}">
        <p14:creationId xmlns:p14="http://schemas.microsoft.com/office/powerpoint/2010/main" val="267433567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2463"/>
            <a:ext cx="5791200" cy="3257550"/>
          </a:xfrm>
        </p:spPr>
      </p:sp>
      <p:sp>
        <p:nvSpPr>
          <p:cNvPr id="3" name="Notes Placeholder 2"/>
          <p:cNvSpPr>
            <a:spLocks noGrp="1"/>
          </p:cNvSpPr>
          <p:nvPr>
            <p:ph type="body" idx="1"/>
          </p:nvPr>
        </p:nvSpPr>
        <p:spPr/>
        <p:txBody>
          <a:bodyPr>
            <a:normAutofit/>
          </a:bodyPr>
          <a:lstStyle/>
          <a:p>
            <a:r>
              <a:rPr lang="en-US" dirty="0"/>
              <a:t>When we</a:t>
            </a:r>
            <a:r>
              <a:rPr lang="en-US" baseline="0" dirty="0"/>
              <a:t> do design, we design for the worst-case. What that means is that we try and predict the worst-case situations that can exist on die and margin for the same. Thus, we add margins for phenomenon such as clock-jitter which refers primarily to cycle-cycle jitter. All synchronous systems depend upon a good quality clock source for correct functionality. However, some cycles may be shorter than the rest because of device noise within the PLL or because of the noise induced due to the on-chip </a:t>
            </a:r>
            <a:r>
              <a:rPr lang="en-US" baseline="0" dirty="0" err="1"/>
              <a:t>clcock</a:t>
            </a:r>
            <a:r>
              <a:rPr lang="en-US" baseline="0" dirty="0"/>
              <a:t> tree. So, we need to margin for the same. </a:t>
            </a:r>
            <a:endParaRPr lang="en-US" dirty="0"/>
          </a:p>
        </p:txBody>
      </p:sp>
      <p:sp>
        <p:nvSpPr>
          <p:cNvPr id="4" name="Slide Number Placeholder 3"/>
          <p:cNvSpPr>
            <a:spLocks noGrp="1"/>
          </p:cNvSpPr>
          <p:nvPr>
            <p:ph type="sldNum" sz="quarter" idx="10"/>
          </p:nvPr>
        </p:nvSpPr>
        <p:spPr/>
        <p:txBody>
          <a:bodyPr/>
          <a:lstStyle/>
          <a:p>
            <a:pPr>
              <a:defRPr/>
            </a:pPr>
            <a:fld id="{09F214AE-BE02-2B4A-920B-76CFC4DFE2F3}" type="slidenum">
              <a:rPr lang="en-US" smtClean="0"/>
              <a:pPr>
                <a:defRPr/>
              </a:pPr>
              <a:t>2</a:t>
            </a:fld>
            <a:endParaRPr lang="en-US"/>
          </a:p>
        </p:txBody>
      </p:sp>
    </p:spTree>
    <p:extLst>
      <p:ext uri="{BB962C8B-B14F-4D97-AF65-F5344CB8AC3E}">
        <p14:creationId xmlns:p14="http://schemas.microsoft.com/office/powerpoint/2010/main" val="27227844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2463"/>
            <a:ext cx="5791200" cy="3257550"/>
          </a:xfrm>
        </p:spPr>
      </p:sp>
      <p:sp>
        <p:nvSpPr>
          <p:cNvPr id="3" name="Notes Placeholder 2"/>
          <p:cNvSpPr>
            <a:spLocks noGrp="1"/>
          </p:cNvSpPr>
          <p:nvPr>
            <p:ph type="body" idx="1"/>
          </p:nvPr>
        </p:nvSpPr>
        <p:spPr/>
        <p:txBody>
          <a:bodyPr>
            <a:normAutofit/>
          </a:bodyPr>
          <a:lstStyle/>
          <a:p>
            <a:r>
              <a:rPr lang="en-US" dirty="0"/>
              <a:t>When we</a:t>
            </a:r>
            <a:r>
              <a:rPr lang="en-US" baseline="0" dirty="0"/>
              <a:t> do design, we design for the worst-case. What that means is that we try and predict the worst-case situations that can exist on die and margin for the same. Thus, we add margins for phenomenon such as clock-jitter which refers primarily to cycle-cycle jitter. All synchronous systems depend upon a good quality clock source for correct functionality. However, some cycles may be shorter than the rest because of device noise within the PLL or because of the noise induced due to the on-chip </a:t>
            </a:r>
            <a:r>
              <a:rPr lang="en-US" baseline="0" dirty="0" err="1"/>
              <a:t>clcock</a:t>
            </a:r>
            <a:r>
              <a:rPr lang="en-US" baseline="0" dirty="0"/>
              <a:t> tree. So, we need to margin for the same. </a:t>
            </a:r>
            <a:endParaRPr lang="en-US" dirty="0"/>
          </a:p>
        </p:txBody>
      </p:sp>
      <p:sp>
        <p:nvSpPr>
          <p:cNvPr id="4" name="Slide Number Placeholder 3"/>
          <p:cNvSpPr>
            <a:spLocks noGrp="1"/>
          </p:cNvSpPr>
          <p:nvPr>
            <p:ph type="sldNum" sz="quarter" idx="10"/>
          </p:nvPr>
        </p:nvSpPr>
        <p:spPr/>
        <p:txBody>
          <a:bodyPr/>
          <a:lstStyle/>
          <a:p>
            <a:pPr>
              <a:defRPr/>
            </a:pPr>
            <a:fld id="{09F214AE-BE02-2B4A-920B-76CFC4DFE2F3}" type="slidenum">
              <a:rPr lang="en-US" smtClean="0"/>
              <a:pPr>
                <a:defRPr/>
              </a:pPr>
              <a:t>3</a:t>
            </a:fld>
            <a:endParaRPr lang="en-US"/>
          </a:p>
        </p:txBody>
      </p:sp>
    </p:spTree>
    <p:extLst>
      <p:ext uri="{BB962C8B-B14F-4D97-AF65-F5344CB8AC3E}">
        <p14:creationId xmlns:p14="http://schemas.microsoft.com/office/powerpoint/2010/main" val="39184195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2463"/>
            <a:ext cx="5791200" cy="3257550"/>
          </a:xfrm>
        </p:spPr>
      </p:sp>
      <p:sp>
        <p:nvSpPr>
          <p:cNvPr id="3" name="Notes Placeholder 2"/>
          <p:cNvSpPr>
            <a:spLocks noGrp="1"/>
          </p:cNvSpPr>
          <p:nvPr>
            <p:ph type="body" idx="1"/>
          </p:nvPr>
        </p:nvSpPr>
        <p:spPr/>
        <p:txBody>
          <a:bodyPr>
            <a:normAutofit/>
          </a:bodyPr>
          <a:lstStyle/>
          <a:p>
            <a:r>
              <a:rPr lang="en-US" dirty="0"/>
              <a:t>We add</a:t>
            </a:r>
            <a:r>
              <a:rPr lang="en-US" baseline="0" dirty="0"/>
              <a:t> margins for coupling noise effects. This refers to increase in </a:t>
            </a:r>
            <a:r>
              <a:rPr lang="en-US" baseline="0" dirty="0" err="1"/>
              <a:t>internconnect</a:t>
            </a:r>
            <a:r>
              <a:rPr lang="en-US" baseline="0" dirty="0"/>
              <a:t> delay of a victim net due to an aggressor </a:t>
            </a:r>
            <a:r>
              <a:rPr lang="en-US" baseline="0" dirty="0" err="1"/>
              <a:t>init</a:t>
            </a:r>
            <a:r>
              <a:rPr lang="en-US" baseline="0" dirty="0"/>
              <a:t> </a:t>
            </a:r>
            <a:r>
              <a:rPr lang="en-US" baseline="0" dirty="0" err="1"/>
              <a:t>siwtching</a:t>
            </a:r>
            <a:r>
              <a:rPr lang="en-US" baseline="0" dirty="0"/>
              <a:t>..</a:t>
            </a:r>
            <a:endParaRPr lang="en-US" dirty="0"/>
          </a:p>
        </p:txBody>
      </p:sp>
      <p:sp>
        <p:nvSpPr>
          <p:cNvPr id="4" name="Slide Number Placeholder 3"/>
          <p:cNvSpPr>
            <a:spLocks noGrp="1"/>
          </p:cNvSpPr>
          <p:nvPr>
            <p:ph type="sldNum" sz="quarter" idx="10"/>
          </p:nvPr>
        </p:nvSpPr>
        <p:spPr/>
        <p:txBody>
          <a:bodyPr/>
          <a:lstStyle/>
          <a:p>
            <a:pPr>
              <a:defRPr/>
            </a:pPr>
            <a:fld id="{09F214AE-BE02-2B4A-920B-76CFC4DFE2F3}" type="slidenum">
              <a:rPr lang="en-US" smtClean="0"/>
              <a:pPr>
                <a:defRPr/>
              </a:pPr>
              <a:t>4</a:t>
            </a:fld>
            <a:endParaRPr lang="en-US"/>
          </a:p>
        </p:txBody>
      </p:sp>
    </p:spTree>
    <p:extLst>
      <p:ext uri="{BB962C8B-B14F-4D97-AF65-F5344CB8AC3E}">
        <p14:creationId xmlns:p14="http://schemas.microsoft.com/office/powerpoint/2010/main" val="3345229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2463"/>
            <a:ext cx="5791200" cy="3257550"/>
          </a:xfrm>
        </p:spPr>
      </p:sp>
      <p:sp>
        <p:nvSpPr>
          <p:cNvPr id="3" name="Notes Placeholder 2"/>
          <p:cNvSpPr>
            <a:spLocks noGrp="1"/>
          </p:cNvSpPr>
          <p:nvPr>
            <p:ph type="body" idx="1"/>
          </p:nvPr>
        </p:nvSpPr>
        <p:spPr/>
        <p:txBody>
          <a:bodyPr>
            <a:normAutofit/>
          </a:bodyPr>
          <a:lstStyle/>
          <a:p>
            <a:r>
              <a:rPr lang="en-US" dirty="0"/>
              <a:t>Temperature</a:t>
            </a:r>
            <a:r>
              <a:rPr lang="en-US" baseline="0" dirty="0"/>
              <a:t> effects: We know that temperature varies on-chip. We can have local hot-</a:t>
            </a:r>
            <a:r>
              <a:rPr lang="en-US" baseline="0" dirty="0" err="1"/>
              <a:t>sprts</a:t>
            </a:r>
            <a:r>
              <a:rPr lang="en-US" baseline="0" dirty="0"/>
              <a:t> as well as variations in ambient temperature. Temperature affects transistors differently from wires whose resistivity goes up linearly with temperature. So, temperature variations can be interesting.</a:t>
            </a:r>
            <a:endParaRPr lang="en-US" dirty="0"/>
          </a:p>
        </p:txBody>
      </p:sp>
      <p:sp>
        <p:nvSpPr>
          <p:cNvPr id="4" name="Slide Number Placeholder 3"/>
          <p:cNvSpPr>
            <a:spLocks noGrp="1"/>
          </p:cNvSpPr>
          <p:nvPr>
            <p:ph type="sldNum" sz="quarter" idx="10"/>
          </p:nvPr>
        </p:nvSpPr>
        <p:spPr/>
        <p:txBody>
          <a:bodyPr/>
          <a:lstStyle/>
          <a:p>
            <a:pPr>
              <a:defRPr/>
            </a:pPr>
            <a:fld id="{09F214AE-BE02-2B4A-920B-76CFC4DFE2F3}" type="slidenum">
              <a:rPr lang="en-US" smtClean="0"/>
              <a:pPr>
                <a:defRPr/>
              </a:pPr>
              <a:t>5</a:t>
            </a:fld>
            <a:endParaRPr lang="en-US"/>
          </a:p>
        </p:txBody>
      </p:sp>
    </p:spTree>
    <p:extLst>
      <p:ext uri="{BB962C8B-B14F-4D97-AF65-F5344CB8AC3E}">
        <p14:creationId xmlns:p14="http://schemas.microsoft.com/office/powerpoint/2010/main" val="2677374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2463"/>
            <a:ext cx="5791200" cy="3257550"/>
          </a:xfrm>
        </p:spPr>
      </p:sp>
      <p:sp>
        <p:nvSpPr>
          <p:cNvPr id="3" name="Notes Placeholder 2"/>
          <p:cNvSpPr>
            <a:spLocks noGrp="1"/>
          </p:cNvSpPr>
          <p:nvPr>
            <p:ph type="body" idx="1"/>
          </p:nvPr>
        </p:nvSpPr>
        <p:spPr/>
        <p:txBody>
          <a:bodyPr>
            <a:normAutofit/>
          </a:bodyPr>
          <a:lstStyle/>
          <a:p>
            <a:r>
              <a:rPr lang="en-US" dirty="0"/>
              <a:t>Supply voltage non-idealities.</a:t>
            </a:r>
            <a:r>
              <a:rPr lang="en-US" baseline="0" dirty="0"/>
              <a:t> Supply voltage on-chip can droop because of the resistive nature of the power-grid and because of inductive droops due to the interaction between the package and the die. As we shall see in this talk, voltage </a:t>
            </a:r>
            <a:r>
              <a:rPr lang="en-US" baseline="0" dirty="0" err="1"/>
              <a:t>mragins</a:t>
            </a:r>
            <a:r>
              <a:rPr lang="en-US" baseline="0" dirty="0"/>
              <a:t> are often the largest contributor to the overall margins. </a:t>
            </a:r>
            <a:endParaRPr lang="en-US" dirty="0"/>
          </a:p>
        </p:txBody>
      </p:sp>
      <p:sp>
        <p:nvSpPr>
          <p:cNvPr id="4" name="Slide Number Placeholder 3"/>
          <p:cNvSpPr>
            <a:spLocks noGrp="1"/>
          </p:cNvSpPr>
          <p:nvPr>
            <p:ph type="sldNum" sz="quarter" idx="10"/>
          </p:nvPr>
        </p:nvSpPr>
        <p:spPr/>
        <p:txBody>
          <a:bodyPr/>
          <a:lstStyle/>
          <a:p>
            <a:pPr>
              <a:defRPr/>
            </a:pPr>
            <a:fld id="{09F214AE-BE02-2B4A-920B-76CFC4DFE2F3}" type="slidenum">
              <a:rPr lang="en-US" smtClean="0"/>
              <a:pPr>
                <a:defRPr/>
              </a:pPr>
              <a:t>6</a:t>
            </a:fld>
            <a:endParaRPr lang="en-US"/>
          </a:p>
        </p:txBody>
      </p:sp>
    </p:spTree>
    <p:extLst>
      <p:ext uri="{BB962C8B-B14F-4D97-AF65-F5344CB8AC3E}">
        <p14:creationId xmlns:p14="http://schemas.microsoft.com/office/powerpoint/2010/main" val="10908974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2463"/>
            <a:ext cx="5791200" cy="3257550"/>
          </a:xfrm>
        </p:spPr>
      </p:sp>
      <p:sp>
        <p:nvSpPr>
          <p:cNvPr id="3" name="Notes Placeholder 2"/>
          <p:cNvSpPr>
            <a:spLocks noGrp="1"/>
          </p:cNvSpPr>
          <p:nvPr>
            <p:ph type="body" idx="1"/>
          </p:nvPr>
        </p:nvSpPr>
        <p:spPr/>
        <p:txBody>
          <a:bodyPr>
            <a:normAutofit/>
          </a:bodyPr>
          <a:lstStyle/>
          <a:p>
            <a:r>
              <a:rPr lang="en-US" dirty="0"/>
              <a:t>Process variations </a:t>
            </a:r>
            <a:r>
              <a:rPr lang="en-US" baseline="0" dirty="0"/>
              <a:t>effects, both inter-and intra-die process variations</a:t>
            </a:r>
            <a:endParaRPr lang="en-US" dirty="0"/>
          </a:p>
        </p:txBody>
      </p:sp>
      <p:sp>
        <p:nvSpPr>
          <p:cNvPr id="4" name="Slide Number Placeholder 3"/>
          <p:cNvSpPr>
            <a:spLocks noGrp="1"/>
          </p:cNvSpPr>
          <p:nvPr>
            <p:ph type="sldNum" sz="quarter" idx="10"/>
          </p:nvPr>
        </p:nvSpPr>
        <p:spPr/>
        <p:txBody>
          <a:bodyPr/>
          <a:lstStyle/>
          <a:p>
            <a:pPr>
              <a:defRPr/>
            </a:pPr>
            <a:fld id="{09F214AE-BE02-2B4A-920B-76CFC4DFE2F3}" type="slidenum">
              <a:rPr lang="en-US" smtClean="0"/>
              <a:pPr>
                <a:defRPr/>
              </a:pPr>
              <a:t>7</a:t>
            </a:fld>
            <a:endParaRPr lang="en-US"/>
          </a:p>
        </p:txBody>
      </p:sp>
    </p:spTree>
    <p:extLst>
      <p:ext uri="{BB962C8B-B14F-4D97-AF65-F5344CB8AC3E}">
        <p14:creationId xmlns:p14="http://schemas.microsoft.com/office/powerpoint/2010/main" val="17939666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2463"/>
            <a:ext cx="5791200" cy="3257550"/>
          </a:xfrm>
        </p:spPr>
      </p:sp>
      <p:sp>
        <p:nvSpPr>
          <p:cNvPr id="3" name="Notes Placeholder 2"/>
          <p:cNvSpPr>
            <a:spLocks noGrp="1"/>
          </p:cNvSpPr>
          <p:nvPr>
            <p:ph type="body" idx="1"/>
          </p:nvPr>
        </p:nvSpPr>
        <p:spPr/>
        <p:txBody>
          <a:bodyPr>
            <a:normAutofit/>
          </a:bodyPr>
          <a:lstStyle/>
          <a:p>
            <a:r>
              <a:rPr lang="en-US" dirty="0"/>
              <a:t>Finally</a:t>
            </a:r>
            <a:r>
              <a:rPr lang="en-US" baseline="0" dirty="0"/>
              <a:t> some extra margin is always budgeted as margins for safety. This refers to the so-called “unknown unknowns” of the design process, the 2</a:t>
            </a:r>
            <a:r>
              <a:rPr lang="en-US" baseline="30000" dirty="0"/>
              <a:t>nd</a:t>
            </a:r>
            <a:r>
              <a:rPr lang="en-US" baseline="0" dirty="0"/>
              <a:t> and 3</a:t>
            </a:r>
            <a:r>
              <a:rPr lang="en-US" baseline="30000" dirty="0"/>
              <a:t>rd</a:t>
            </a:r>
            <a:r>
              <a:rPr lang="en-US" baseline="0" dirty="0"/>
              <a:t> effects such as test and measurement uncertainties and the human nature of engineering where to be absolutely safe, some extra margin is always added. So, a </a:t>
            </a:r>
            <a:r>
              <a:rPr lang="en-US" baseline="0" dirty="0" err="1"/>
              <a:t>combinattion</a:t>
            </a:r>
            <a:r>
              <a:rPr lang="en-US" baseline="0" dirty="0"/>
              <a:t> of all these margins implies that our processors do not execute as fast as they are natively capable of doing or as low power as they are natively capable of doing, leading to quite large power and performance overheads. </a:t>
            </a:r>
            <a:endParaRPr lang="en-US" dirty="0"/>
          </a:p>
        </p:txBody>
      </p:sp>
      <p:sp>
        <p:nvSpPr>
          <p:cNvPr id="4" name="Slide Number Placeholder 3"/>
          <p:cNvSpPr>
            <a:spLocks noGrp="1"/>
          </p:cNvSpPr>
          <p:nvPr>
            <p:ph type="sldNum" sz="quarter" idx="10"/>
          </p:nvPr>
        </p:nvSpPr>
        <p:spPr/>
        <p:txBody>
          <a:bodyPr/>
          <a:lstStyle/>
          <a:p>
            <a:pPr>
              <a:defRPr/>
            </a:pPr>
            <a:fld id="{09F214AE-BE02-2B4A-920B-76CFC4DFE2F3}" type="slidenum">
              <a:rPr lang="en-US" smtClean="0"/>
              <a:pPr>
                <a:defRPr/>
              </a:pPr>
              <a:t>8</a:t>
            </a:fld>
            <a:endParaRPr lang="en-US"/>
          </a:p>
        </p:txBody>
      </p:sp>
    </p:spTree>
    <p:extLst>
      <p:ext uri="{BB962C8B-B14F-4D97-AF65-F5344CB8AC3E}">
        <p14:creationId xmlns:p14="http://schemas.microsoft.com/office/powerpoint/2010/main" val="3864888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xfrm>
            <a:off x="304800" y="652463"/>
            <a:ext cx="5791200" cy="3257550"/>
          </a:xfrm>
          <a:ln/>
        </p:spPr>
      </p:sp>
      <p:sp>
        <p:nvSpPr>
          <p:cNvPr id="101379" name="Notes Placeholder 2"/>
          <p:cNvSpPr>
            <a:spLocks noGrp="1"/>
          </p:cNvSpPr>
          <p:nvPr>
            <p:ph type="body" idx="1"/>
          </p:nvPr>
        </p:nvSpPr>
        <p:spPr>
          <a:noFill/>
          <a:ln/>
        </p:spPr>
        <p:txBody>
          <a:bodyPr/>
          <a:lstStyle/>
          <a:p>
            <a:endParaRPr lang="en-GB" altLang="ko-KR">
              <a:latin typeface="Times New Roman" pitchFamily="18" charset="0"/>
              <a:ea typeface="굴림" pitchFamily="50" charset="-127"/>
            </a:endParaRPr>
          </a:p>
        </p:txBody>
      </p:sp>
      <p:sp>
        <p:nvSpPr>
          <p:cNvPr id="101380" name="Footer Placeholder 3"/>
          <p:cNvSpPr>
            <a:spLocks noGrp="1"/>
          </p:cNvSpPr>
          <p:nvPr>
            <p:ph type="ftr" sz="quarter" idx="4"/>
          </p:nvPr>
        </p:nvSpPr>
        <p:spPr>
          <a:noFill/>
        </p:spPr>
        <p:txBody>
          <a:bodyPr/>
          <a:lstStyle/>
          <a:p>
            <a:r>
              <a:rPr lang="ko-KR" altLang="en-US"/>
              <a:t>Dongwoo Lee</a:t>
            </a:r>
            <a:endParaRPr lang="en-US" altLang="ko-KR"/>
          </a:p>
        </p:txBody>
      </p:sp>
      <p:sp>
        <p:nvSpPr>
          <p:cNvPr id="101381" name="Slide Number Placeholder 4"/>
          <p:cNvSpPr>
            <a:spLocks noGrp="1"/>
          </p:cNvSpPr>
          <p:nvPr>
            <p:ph type="sldNum" sz="quarter" idx="5"/>
          </p:nvPr>
        </p:nvSpPr>
        <p:spPr>
          <a:noFill/>
        </p:spPr>
        <p:txBody>
          <a:bodyPr/>
          <a:lstStyle/>
          <a:p>
            <a:fld id="{0E7979E2-8700-4841-9C34-C0D6BF5AEE26}" type="slidenum">
              <a:rPr lang="ko-KR" altLang="en-US"/>
              <a:pPr/>
              <a:t>10</a:t>
            </a:fld>
            <a:endParaRPr lang="en-US" altLang="ko-KR"/>
          </a:p>
        </p:txBody>
      </p:sp>
    </p:spTree>
    <p:extLst>
      <p:ext uri="{BB962C8B-B14F-4D97-AF65-F5344CB8AC3E}">
        <p14:creationId xmlns:p14="http://schemas.microsoft.com/office/powerpoint/2010/main" val="36125988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2463"/>
            <a:ext cx="5791200" cy="3257550"/>
          </a:xfrm>
        </p:spPr>
      </p:sp>
      <p:sp>
        <p:nvSpPr>
          <p:cNvPr id="3" name="Notes Placeholder 2"/>
          <p:cNvSpPr>
            <a:spLocks noGrp="1"/>
          </p:cNvSpPr>
          <p:nvPr>
            <p:ph type="body" idx="1"/>
          </p:nvPr>
        </p:nvSpPr>
        <p:spPr/>
        <p:txBody>
          <a:bodyPr>
            <a:normAutofit/>
          </a:bodyPr>
          <a:lstStyle/>
          <a:p>
            <a:r>
              <a:rPr lang="en-US" dirty="0"/>
              <a:t>The power-deliver</a:t>
            </a:r>
            <a:r>
              <a:rPr lang="en-US" baseline="0" dirty="0"/>
              <a:t>y network can be simplistically decomposed into the die-side, the package and the PCB side including the VRM (or the board regulation module). The die is modeled as a current source (representing switching </a:t>
            </a:r>
            <a:r>
              <a:rPr lang="en-US" baseline="0" dirty="0" err="1"/>
              <a:t>Xtors</a:t>
            </a:r>
            <a:r>
              <a:rPr lang="en-US" baseline="0" dirty="0"/>
              <a:t>), a </a:t>
            </a:r>
            <a:r>
              <a:rPr lang="en-US" baseline="0" dirty="0" err="1"/>
              <a:t>Cdie</a:t>
            </a:r>
            <a:r>
              <a:rPr lang="en-US" baseline="0" dirty="0"/>
              <a:t> (representing non-switching </a:t>
            </a:r>
            <a:r>
              <a:rPr lang="en-US" baseline="0" dirty="0" err="1"/>
              <a:t>Xtors</a:t>
            </a:r>
            <a:r>
              <a:rPr lang="en-US" baseline="0" dirty="0"/>
              <a:t>) and a </a:t>
            </a:r>
            <a:r>
              <a:rPr lang="en-US" baseline="0" dirty="0" err="1"/>
              <a:t>Rdie</a:t>
            </a:r>
            <a:r>
              <a:rPr lang="en-US" baseline="0" dirty="0"/>
              <a:t> (representing power-grid resistance). The package planes and traces are modeled as an RL circuit (similar to traces on PCB). A package may have </a:t>
            </a:r>
            <a:r>
              <a:rPr lang="en-US" baseline="0" dirty="0" err="1"/>
              <a:t>decaps</a:t>
            </a:r>
            <a:r>
              <a:rPr lang="en-US" baseline="0" dirty="0"/>
              <a:t> modeled by a cap with ESR and ESL. The PCB has bulk capacitors that are much larger compared to package </a:t>
            </a:r>
            <a:r>
              <a:rPr lang="en-US" baseline="0" dirty="0" err="1"/>
              <a:t>decaps</a:t>
            </a:r>
            <a:r>
              <a:rPr lang="en-US" baseline="0" dirty="0"/>
              <a:t> but have larger ESR and ESL. For such a simple model of the PDN, it is possible to solve for the die-side voltage drop analytically. The drop can be composed into two parts, a DC IR drop component proportional to total R which is addressed by increasing overall metallization (for </a:t>
            </a:r>
            <a:r>
              <a:rPr lang="en-US" baseline="0" dirty="0" err="1"/>
              <a:t>eg</a:t>
            </a:r>
            <a:r>
              <a:rPr lang="en-US" baseline="0" dirty="0"/>
              <a:t>, top 2 metal layers on die). The AC </a:t>
            </a:r>
            <a:r>
              <a:rPr lang="en-US" baseline="0" dirty="0" err="1"/>
              <a:t>Ldi/dt</a:t>
            </a:r>
            <a:r>
              <a:rPr lang="en-US" baseline="0" dirty="0"/>
              <a:t> component is proportional to </a:t>
            </a:r>
            <a:r>
              <a:rPr lang="en-US" baseline="0" dirty="0" err="1"/>
              <a:t>Lpkg/Cdie</a:t>
            </a:r>
            <a:r>
              <a:rPr lang="en-US" baseline="0" dirty="0"/>
              <a:t>. So, to address it, we increase </a:t>
            </a:r>
            <a:r>
              <a:rPr lang="en-US" baseline="0" dirty="0" err="1"/>
              <a:t>decap</a:t>
            </a:r>
            <a:r>
              <a:rPr lang="en-US" baseline="0" dirty="0"/>
              <a:t> insertion, </a:t>
            </a:r>
            <a:r>
              <a:rPr lang="en-US" baseline="0" dirty="0" err="1"/>
              <a:t>Cdie</a:t>
            </a:r>
            <a:r>
              <a:rPr lang="en-US" baseline="0" dirty="0"/>
              <a:t> increases or work on reducing package inductance. </a:t>
            </a:r>
            <a:endParaRPr lang="en-US" dirty="0"/>
          </a:p>
        </p:txBody>
      </p:sp>
      <p:sp>
        <p:nvSpPr>
          <p:cNvPr id="4" name="Slide Number Placeholder 3"/>
          <p:cNvSpPr>
            <a:spLocks noGrp="1"/>
          </p:cNvSpPr>
          <p:nvPr>
            <p:ph type="sldNum" sz="quarter" idx="10"/>
          </p:nvPr>
        </p:nvSpPr>
        <p:spPr/>
        <p:txBody>
          <a:bodyPr/>
          <a:lstStyle/>
          <a:p>
            <a:pPr>
              <a:defRPr/>
            </a:pPr>
            <a:fld id="{09F214AE-BE02-2B4A-920B-76CFC4DFE2F3}" type="slidenum">
              <a:rPr lang="en-US" smtClean="0"/>
              <a:pPr>
                <a:defRPr/>
              </a:pPr>
              <a:t>14</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7AAE9-72B9-8CCA-93C5-B36FCD3A41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2FCBC7-3EDD-7D63-5937-ADD22B0D742E}"/>
              </a:ext>
            </a:extLst>
          </p:cNvPr>
          <p:cNvSpPr>
            <a:spLocks noGrp="1" noRot="1" noChangeAspect="1"/>
          </p:cNvSpPr>
          <p:nvPr>
            <p:ph type="sldImg"/>
          </p:nvPr>
        </p:nvSpPr>
        <p:spPr>
          <a:xfrm>
            <a:off x="304800" y="652463"/>
            <a:ext cx="5791200" cy="3257550"/>
          </a:xfrm>
        </p:spPr>
      </p:sp>
      <p:sp>
        <p:nvSpPr>
          <p:cNvPr id="3" name="Notes Placeholder 2">
            <a:extLst>
              <a:ext uri="{FF2B5EF4-FFF2-40B4-BE49-F238E27FC236}">
                <a16:creationId xmlns:a16="http://schemas.microsoft.com/office/drawing/2014/main" id="{8EAFA645-4322-EC77-AFC5-22C0122102FF}"/>
              </a:ext>
            </a:extLst>
          </p:cNvPr>
          <p:cNvSpPr>
            <a:spLocks noGrp="1"/>
          </p:cNvSpPr>
          <p:nvPr>
            <p:ph type="body" idx="1"/>
          </p:nvPr>
        </p:nvSpPr>
        <p:spPr/>
        <p:txBody>
          <a:bodyPr>
            <a:normAutofit/>
          </a:bodyPr>
          <a:lstStyle/>
          <a:p>
            <a:r>
              <a:rPr lang="en-US" dirty="0"/>
              <a:t>The power-deliver</a:t>
            </a:r>
            <a:r>
              <a:rPr lang="en-US" baseline="0" dirty="0"/>
              <a:t>y network can be simplistically decomposed into the die-side, the package and the PCB side including the VRM (or the board regulation module). The die is modeled as a current source (representing switching </a:t>
            </a:r>
            <a:r>
              <a:rPr lang="en-US" baseline="0" dirty="0" err="1"/>
              <a:t>Xtors</a:t>
            </a:r>
            <a:r>
              <a:rPr lang="en-US" baseline="0" dirty="0"/>
              <a:t>), a </a:t>
            </a:r>
            <a:r>
              <a:rPr lang="en-US" baseline="0" dirty="0" err="1"/>
              <a:t>Cdie</a:t>
            </a:r>
            <a:r>
              <a:rPr lang="en-US" baseline="0" dirty="0"/>
              <a:t> (representing non-switching </a:t>
            </a:r>
            <a:r>
              <a:rPr lang="en-US" baseline="0" dirty="0" err="1"/>
              <a:t>Xtors</a:t>
            </a:r>
            <a:r>
              <a:rPr lang="en-US" baseline="0" dirty="0"/>
              <a:t>) and a </a:t>
            </a:r>
            <a:r>
              <a:rPr lang="en-US" baseline="0" dirty="0" err="1"/>
              <a:t>Rdie</a:t>
            </a:r>
            <a:r>
              <a:rPr lang="en-US" baseline="0" dirty="0"/>
              <a:t> (representing power-grid resistance). The package planes and traces are modeled as an RL circuit (similar to traces on PCB). A package may have </a:t>
            </a:r>
            <a:r>
              <a:rPr lang="en-US" baseline="0" dirty="0" err="1"/>
              <a:t>decaps</a:t>
            </a:r>
            <a:r>
              <a:rPr lang="en-US" baseline="0" dirty="0"/>
              <a:t> modeled by a cap with ESR and ESL. The PCB has bulk capacitors that are much larger compared to package </a:t>
            </a:r>
            <a:r>
              <a:rPr lang="en-US" baseline="0" dirty="0" err="1"/>
              <a:t>decaps</a:t>
            </a:r>
            <a:r>
              <a:rPr lang="en-US" baseline="0" dirty="0"/>
              <a:t> but have larger ESR and ESL. For such a simple model of the PDN, it is possible to solve for the die-side voltage drop analytically. The drop can be composed into two parts, a DC IR drop component proportional to total R which is addressed by increasing overall metallization (for </a:t>
            </a:r>
            <a:r>
              <a:rPr lang="en-US" baseline="0" dirty="0" err="1"/>
              <a:t>eg</a:t>
            </a:r>
            <a:r>
              <a:rPr lang="en-US" baseline="0" dirty="0"/>
              <a:t>, top 2 metal layers on die). The AC </a:t>
            </a:r>
            <a:r>
              <a:rPr lang="en-US" baseline="0" dirty="0" err="1"/>
              <a:t>Ldi/dt</a:t>
            </a:r>
            <a:r>
              <a:rPr lang="en-US" baseline="0" dirty="0"/>
              <a:t> component is proportional to </a:t>
            </a:r>
            <a:r>
              <a:rPr lang="en-US" baseline="0" dirty="0" err="1"/>
              <a:t>Lpkg/Cdie</a:t>
            </a:r>
            <a:r>
              <a:rPr lang="en-US" baseline="0" dirty="0"/>
              <a:t>. So, to address it, we increase </a:t>
            </a:r>
            <a:r>
              <a:rPr lang="en-US" baseline="0" dirty="0" err="1"/>
              <a:t>decap</a:t>
            </a:r>
            <a:r>
              <a:rPr lang="en-US" baseline="0" dirty="0"/>
              <a:t> insertion, </a:t>
            </a:r>
            <a:r>
              <a:rPr lang="en-US" baseline="0" dirty="0" err="1"/>
              <a:t>Cdie</a:t>
            </a:r>
            <a:r>
              <a:rPr lang="en-US" baseline="0" dirty="0"/>
              <a:t> increases or work on reducing package inductance. </a:t>
            </a:r>
            <a:endParaRPr lang="en-US" dirty="0"/>
          </a:p>
        </p:txBody>
      </p:sp>
      <p:sp>
        <p:nvSpPr>
          <p:cNvPr id="4" name="Slide Number Placeholder 3">
            <a:extLst>
              <a:ext uri="{FF2B5EF4-FFF2-40B4-BE49-F238E27FC236}">
                <a16:creationId xmlns:a16="http://schemas.microsoft.com/office/drawing/2014/main" id="{E1527FA0-3267-AC53-C796-1F94D003E3DA}"/>
              </a:ext>
            </a:extLst>
          </p:cNvPr>
          <p:cNvSpPr>
            <a:spLocks noGrp="1"/>
          </p:cNvSpPr>
          <p:nvPr>
            <p:ph type="sldNum" sz="quarter" idx="10"/>
          </p:nvPr>
        </p:nvSpPr>
        <p:spPr/>
        <p:txBody>
          <a:bodyPr/>
          <a:lstStyle/>
          <a:p>
            <a:pPr>
              <a:defRPr/>
            </a:pPr>
            <a:fld id="{09F214AE-BE02-2B4A-920B-76CFC4DFE2F3}" type="slidenum">
              <a:rPr lang="en-US" smtClean="0"/>
              <a:pPr>
                <a:defRPr/>
              </a:pPr>
              <a:t>16</a:t>
            </a:fld>
            <a:endParaRPr lang="en-US"/>
          </a:p>
        </p:txBody>
      </p:sp>
    </p:spTree>
    <p:extLst>
      <p:ext uri="{BB962C8B-B14F-4D97-AF65-F5344CB8AC3E}">
        <p14:creationId xmlns:p14="http://schemas.microsoft.com/office/powerpoint/2010/main" val="38363527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2463"/>
            <a:ext cx="5791200" cy="3257550"/>
          </a:xfrm>
        </p:spPr>
      </p:sp>
      <p:sp>
        <p:nvSpPr>
          <p:cNvPr id="3" name="Notes Placeholder 2"/>
          <p:cNvSpPr>
            <a:spLocks noGrp="1"/>
          </p:cNvSpPr>
          <p:nvPr>
            <p:ph type="body" idx="1"/>
          </p:nvPr>
        </p:nvSpPr>
        <p:spPr/>
        <p:txBody>
          <a:bodyPr>
            <a:normAutofit/>
          </a:bodyPr>
          <a:lstStyle/>
          <a:p>
            <a:r>
              <a:rPr lang="en-US" dirty="0"/>
              <a:t>Looking</a:t>
            </a:r>
            <a:r>
              <a:rPr lang="en-US" baseline="0" dirty="0"/>
              <a:t> at the frequency domain response of the power-grid. X-axis shows frequency on a log scale. Y axis shows the impedance in </a:t>
            </a:r>
            <a:r>
              <a:rPr lang="en-US" baseline="0" dirty="0" err="1"/>
              <a:t>dbOhms</a:t>
            </a:r>
            <a:r>
              <a:rPr lang="en-US" baseline="0" dirty="0"/>
              <a:t>. 20logZ. In absence of any planes or decoupling capacitor, the overall impedance would resemble an inductor at high-frequencies </a:t>
            </a:r>
            <a:r>
              <a:rPr lang="en-US" baseline="0" dirty="0" err="1"/>
              <a:t>ie</a:t>
            </a:r>
            <a:r>
              <a:rPr lang="en-US" baseline="0" dirty="0"/>
              <a:t> have infinite impedance. </a:t>
            </a:r>
            <a:endParaRPr lang="en-US" dirty="0"/>
          </a:p>
        </p:txBody>
      </p:sp>
      <p:sp>
        <p:nvSpPr>
          <p:cNvPr id="4" name="Slide Number Placeholder 3"/>
          <p:cNvSpPr>
            <a:spLocks noGrp="1"/>
          </p:cNvSpPr>
          <p:nvPr>
            <p:ph type="sldNum" sz="quarter" idx="10"/>
          </p:nvPr>
        </p:nvSpPr>
        <p:spPr/>
        <p:txBody>
          <a:bodyPr/>
          <a:lstStyle/>
          <a:p>
            <a:pPr>
              <a:defRPr/>
            </a:pPr>
            <a:fld id="{09F214AE-BE02-2B4A-920B-76CFC4DFE2F3}" type="slidenum">
              <a:rPr lang="en-US" smtClean="0"/>
              <a:pPr>
                <a:defRPr/>
              </a:pPr>
              <a:t>18</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2463"/>
            <a:ext cx="5791200" cy="3257550"/>
          </a:xfrm>
        </p:spPr>
      </p:sp>
      <p:sp>
        <p:nvSpPr>
          <p:cNvPr id="3" name="Notes Placeholder 2"/>
          <p:cNvSpPr>
            <a:spLocks noGrp="1"/>
          </p:cNvSpPr>
          <p:nvPr>
            <p:ph type="body" idx="1"/>
          </p:nvPr>
        </p:nvSpPr>
        <p:spPr/>
        <p:txBody>
          <a:bodyPr>
            <a:normAutofit/>
          </a:bodyPr>
          <a:lstStyle/>
          <a:p>
            <a:r>
              <a:rPr lang="en-US" dirty="0"/>
              <a:t>The PCB bulk capacitors begin</a:t>
            </a:r>
            <a:r>
              <a:rPr lang="en-US" baseline="0" dirty="0"/>
              <a:t> to act at 100KHz order frequencies bringing the overall impedance down. However, as frequency increases their series inductance limits and hence </a:t>
            </a:r>
            <a:r>
              <a:rPr lang="en-US" baseline="0" dirty="0" err="1"/>
              <a:t>Ztot</a:t>
            </a:r>
            <a:r>
              <a:rPr lang="en-US" baseline="0" dirty="0"/>
              <a:t> again begins to increase. </a:t>
            </a:r>
            <a:endParaRPr lang="en-US" dirty="0"/>
          </a:p>
        </p:txBody>
      </p:sp>
      <p:sp>
        <p:nvSpPr>
          <p:cNvPr id="4" name="Slide Number Placeholder 3"/>
          <p:cNvSpPr>
            <a:spLocks noGrp="1"/>
          </p:cNvSpPr>
          <p:nvPr>
            <p:ph type="sldNum" sz="quarter" idx="10"/>
          </p:nvPr>
        </p:nvSpPr>
        <p:spPr/>
        <p:txBody>
          <a:bodyPr/>
          <a:lstStyle/>
          <a:p>
            <a:pPr>
              <a:defRPr/>
            </a:pPr>
            <a:fld id="{09F214AE-BE02-2B4A-920B-76CFC4DFE2F3}" type="slidenum">
              <a:rPr lang="en-US" smtClean="0"/>
              <a:pPr>
                <a:defRPr/>
              </a:pPr>
              <a:t>19</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2463"/>
            <a:ext cx="5791200" cy="3257550"/>
          </a:xfrm>
        </p:spPr>
      </p:sp>
      <p:sp>
        <p:nvSpPr>
          <p:cNvPr id="3" name="Notes Placeholder 2"/>
          <p:cNvSpPr>
            <a:spLocks noGrp="1"/>
          </p:cNvSpPr>
          <p:nvPr>
            <p:ph type="body" idx="1"/>
          </p:nvPr>
        </p:nvSpPr>
        <p:spPr/>
        <p:txBody>
          <a:bodyPr>
            <a:normAutofit/>
          </a:bodyPr>
          <a:lstStyle/>
          <a:p>
            <a:r>
              <a:rPr lang="en-US" dirty="0"/>
              <a:t>The package </a:t>
            </a:r>
            <a:r>
              <a:rPr lang="en-US" dirty="0" err="1"/>
              <a:t>decaps</a:t>
            </a:r>
            <a:r>
              <a:rPr lang="en-US" dirty="0"/>
              <a:t> start kicking in at higher frequencies</a:t>
            </a:r>
            <a:r>
              <a:rPr lang="en-US" baseline="0" dirty="0"/>
              <a:t> but run out of steam around 100Mhz (assuming SMD capacitors with low ESL.)</a:t>
            </a:r>
            <a:endParaRPr lang="en-US" dirty="0"/>
          </a:p>
        </p:txBody>
      </p:sp>
      <p:sp>
        <p:nvSpPr>
          <p:cNvPr id="4" name="Slide Number Placeholder 3"/>
          <p:cNvSpPr>
            <a:spLocks noGrp="1"/>
          </p:cNvSpPr>
          <p:nvPr>
            <p:ph type="sldNum" sz="quarter" idx="10"/>
          </p:nvPr>
        </p:nvSpPr>
        <p:spPr/>
        <p:txBody>
          <a:bodyPr/>
          <a:lstStyle/>
          <a:p>
            <a:pPr>
              <a:defRPr/>
            </a:pPr>
            <a:fld id="{09F214AE-BE02-2B4A-920B-76CFC4DFE2F3}" type="slidenum">
              <a:rPr lang="en-US" smtClean="0"/>
              <a:pPr>
                <a:defRPr/>
              </a:pPr>
              <a:t>20</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2463"/>
            <a:ext cx="5791200" cy="3257550"/>
          </a:xfrm>
        </p:spPr>
      </p:sp>
      <p:sp>
        <p:nvSpPr>
          <p:cNvPr id="3" name="Notes Placeholder 2"/>
          <p:cNvSpPr>
            <a:spLocks noGrp="1"/>
          </p:cNvSpPr>
          <p:nvPr>
            <p:ph type="body" idx="1"/>
          </p:nvPr>
        </p:nvSpPr>
        <p:spPr/>
        <p:txBody>
          <a:bodyPr>
            <a:normAutofit/>
          </a:bodyPr>
          <a:lstStyle/>
          <a:p>
            <a:r>
              <a:rPr lang="en-US" dirty="0"/>
              <a:t>Finally, at very high frequencies, the die-side</a:t>
            </a:r>
            <a:r>
              <a:rPr lang="en-US" baseline="0" dirty="0"/>
              <a:t> </a:t>
            </a:r>
            <a:r>
              <a:rPr lang="en-US" baseline="0" dirty="0" err="1"/>
              <a:t>decaps</a:t>
            </a:r>
            <a:r>
              <a:rPr lang="en-US" baseline="0" dirty="0"/>
              <a:t> and package/PCB planes are the only sources that can provide charge and bring the impedance down. Each impedance peak occurs at the resonance between a cap and the inductor that feeds it. For example, the first peak is due to resonance between Bulk cap and VRM inductance, the second is between </a:t>
            </a:r>
            <a:r>
              <a:rPr lang="en-US" baseline="0" dirty="0" err="1"/>
              <a:t>pkg</a:t>
            </a:r>
            <a:r>
              <a:rPr lang="en-US" baseline="0" dirty="0"/>
              <a:t> </a:t>
            </a:r>
            <a:r>
              <a:rPr lang="en-US" baseline="0" dirty="0" err="1"/>
              <a:t>decap</a:t>
            </a:r>
            <a:r>
              <a:rPr lang="en-US" baseline="0" dirty="0"/>
              <a:t> and PCB inductance, the highest peak is between package inductance and die-</a:t>
            </a:r>
            <a:r>
              <a:rPr lang="en-US" baseline="0" dirty="0" err="1"/>
              <a:t>decap</a:t>
            </a:r>
            <a:r>
              <a:rPr lang="en-US" baseline="0" dirty="0"/>
              <a:t>. Again, reiterating that highest peak is limited by </a:t>
            </a:r>
            <a:r>
              <a:rPr lang="en-US" baseline="0" dirty="0" err="1"/>
              <a:t>Lpkg</a:t>
            </a:r>
            <a:r>
              <a:rPr lang="en-US" baseline="0" dirty="0"/>
              <a:t>.</a:t>
            </a:r>
            <a:endParaRPr lang="en-US" dirty="0"/>
          </a:p>
        </p:txBody>
      </p:sp>
      <p:sp>
        <p:nvSpPr>
          <p:cNvPr id="4" name="Slide Number Placeholder 3"/>
          <p:cNvSpPr>
            <a:spLocks noGrp="1"/>
          </p:cNvSpPr>
          <p:nvPr>
            <p:ph type="sldNum" sz="quarter" idx="10"/>
          </p:nvPr>
        </p:nvSpPr>
        <p:spPr/>
        <p:txBody>
          <a:bodyPr/>
          <a:lstStyle/>
          <a:p>
            <a:pPr>
              <a:defRPr/>
            </a:pPr>
            <a:fld id="{09F214AE-BE02-2B4A-920B-76CFC4DFE2F3}" type="slidenum">
              <a:rPr lang="en-US" smtClean="0"/>
              <a:pPr>
                <a:defRPr/>
              </a:pPr>
              <a:t>21</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2463"/>
            <a:ext cx="5791200" cy="3257550"/>
          </a:xfrm>
        </p:spPr>
      </p:sp>
      <p:sp>
        <p:nvSpPr>
          <p:cNvPr id="3" name="Notes Placeholder 2"/>
          <p:cNvSpPr>
            <a:spLocks noGrp="1"/>
          </p:cNvSpPr>
          <p:nvPr>
            <p:ph type="body" idx="1"/>
          </p:nvPr>
        </p:nvSpPr>
        <p:spPr/>
        <p:txBody>
          <a:bodyPr>
            <a:normAutofit/>
          </a:bodyPr>
          <a:lstStyle/>
          <a:p>
            <a:r>
              <a:rPr lang="en-US" dirty="0"/>
              <a:t>Key</a:t>
            </a:r>
            <a:r>
              <a:rPr lang="en-US" baseline="0" dirty="0"/>
              <a:t> for a good PDN design is to estimate a target </a:t>
            </a:r>
            <a:r>
              <a:rPr lang="en-US" baseline="0" dirty="0" err="1"/>
              <a:t>impedeance</a:t>
            </a:r>
            <a:r>
              <a:rPr lang="en-US" baseline="0" dirty="0"/>
              <a:t> </a:t>
            </a:r>
            <a:r>
              <a:rPr lang="en-US" baseline="0" dirty="0" err="1"/>
              <a:t>Ztarg</a:t>
            </a:r>
            <a:r>
              <a:rPr lang="en-US" baseline="0" dirty="0"/>
              <a:t> and by insertion of planes, Bulk caps and Package </a:t>
            </a:r>
            <a:r>
              <a:rPr lang="en-US" baseline="0" dirty="0" err="1"/>
              <a:t>decaps</a:t>
            </a:r>
            <a:r>
              <a:rPr lang="en-US" baseline="0" dirty="0"/>
              <a:t>, ensure that </a:t>
            </a:r>
            <a:r>
              <a:rPr lang="en-US" baseline="0" dirty="0" err="1"/>
              <a:t>Ztotal</a:t>
            </a:r>
            <a:r>
              <a:rPr lang="en-US" baseline="0" dirty="0"/>
              <a:t> is always less than a target impedance.</a:t>
            </a:r>
            <a:endParaRPr lang="en-US" dirty="0"/>
          </a:p>
        </p:txBody>
      </p:sp>
      <p:sp>
        <p:nvSpPr>
          <p:cNvPr id="4" name="Slide Number Placeholder 3"/>
          <p:cNvSpPr>
            <a:spLocks noGrp="1"/>
          </p:cNvSpPr>
          <p:nvPr>
            <p:ph type="sldNum" sz="quarter" idx="10"/>
          </p:nvPr>
        </p:nvSpPr>
        <p:spPr/>
        <p:txBody>
          <a:bodyPr/>
          <a:lstStyle/>
          <a:p>
            <a:pPr>
              <a:defRPr/>
            </a:pPr>
            <a:fld id="{09F214AE-BE02-2B4A-920B-76CFC4DFE2F3}" type="slidenum">
              <a:rPr lang="en-US" smtClean="0"/>
              <a:pPr>
                <a:defRPr/>
              </a:pPr>
              <a:t>22</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2463"/>
            <a:ext cx="5791200" cy="3257550"/>
          </a:xfrm>
        </p:spPr>
      </p:sp>
      <p:sp>
        <p:nvSpPr>
          <p:cNvPr id="3" name="Notes Placeholder 2"/>
          <p:cNvSpPr>
            <a:spLocks noGrp="1"/>
          </p:cNvSpPr>
          <p:nvPr>
            <p:ph type="body" idx="1"/>
          </p:nvPr>
        </p:nvSpPr>
        <p:spPr/>
        <p:txBody>
          <a:bodyPr/>
          <a:lstStyle/>
          <a:p>
            <a:r>
              <a:rPr lang="en-US" dirty="0"/>
              <a:t>Plot shows measured voltage response at a die due to a step in load current</a:t>
            </a:r>
          </a:p>
          <a:p>
            <a:r>
              <a:rPr lang="en-US" dirty="0"/>
              <a:t>2 components to droop.</a:t>
            </a:r>
          </a:p>
          <a:p>
            <a:r>
              <a:rPr lang="en-US" dirty="0"/>
              <a:t>-Res droop is</a:t>
            </a:r>
            <a:r>
              <a:rPr lang="en-US" baseline="0" dirty="0"/>
              <a:t> more localized, and very fast</a:t>
            </a:r>
          </a:p>
          <a:p>
            <a:pPr marL="171450" indent="-171450">
              <a:buFontTx/>
              <a:buChar char="-"/>
            </a:pPr>
            <a:r>
              <a:rPr lang="en-US" baseline="0" dirty="0" err="1"/>
              <a:t>Compneation</a:t>
            </a:r>
            <a:r>
              <a:rPr lang="en-US" baseline="0" dirty="0"/>
              <a:t> difficult</a:t>
            </a:r>
          </a:p>
          <a:p>
            <a:pPr marL="171450" indent="-171450">
              <a:buFontTx/>
              <a:buChar char="-"/>
            </a:pPr>
            <a:r>
              <a:rPr lang="en-US" baseline="0" dirty="0"/>
              <a:t>Thankfully, also less pronounced</a:t>
            </a:r>
          </a:p>
          <a:p>
            <a:pPr marL="171450" indent="-171450">
              <a:buFontTx/>
              <a:buChar char="-"/>
            </a:pPr>
            <a:endParaRPr lang="en-US" baseline="0" dirty="0"/>
          </a:p>
          <a:p>
            <a:pPr marL="0" indent="0">
              <a:buFontTx/>
              <a:buNone/>
            </a:pPr>
            <a:r>
              <a:rPr lang="en-US" baseline="0" dirty="0" err="1"/>
              <a:t>Ldi</a:t>
            </a:r>
            <a:r>
              <a:rPr lang="en-US" baseline="0" dirty="0"/>
              <a:t>/</a:t>
            </a:r>
            <a:r>
              <a:rPr lang="en-US" baseline="0" dirty="0" err="1"/>
              <a:t>dt</a:t>
            </a:r>
            <a:r>
              <a:rPr lang="en-US" baseline="0" dirty="0"/>
              <a:t> is slower and more global. Also most pronounced. Can account for as much as 15% of supply in margin.</a:t>
            </a:r>
          </a:p>
          <a:p>
            <a:pPr marL="0" indent="0">
              <a:buFontTx/>
              <a:buNone/>
            </a:pPr>
            <a:r>
              <a:rPr lang="en-US" baseline="0" dirty="0"/>
              <a:t>Focus of this tut.</a:t>
            </a:r>
          </a:p>
          <a:p>
            <a:pPr marL="0" indent="0">
              <a:buFontTx/>
              <a:buNone/>
            </a:pPr>
            <a:endParaRPr lang="en-US" baseline="0" dirty="0"/>
          </a:p>
        </p:txBody>
      </p:sp>
      <p:sp>
        <p:nvSpPr>
          <p:cNvPr id="4" name="Slide Number Placeholder 3"/>
          <p:cNvSpPr>
            <a:spLocks noGrp="1"/>
          </p:cNvSpPr>
          <p:nvPr>
            <p:ph type="sldNum" sz="quarter" idx="10"/>
          </p:nvPr>
        </p:nvSpPr>
        <p:spPr/>
        <p:txBody>
          <a:bodyPr/>
          <a:lstStyle/>
          <a:p>
            <a:fld id="{08601D30-A5A7-468B-B1B6-1BCB3557266F}" type="slidenum">
              <a:rPr lang="ja-JP" altLang="en-US" smtClean="0"/>
              <a:pPr/>
              <a:t>24</a:t>
            </a:fld>
            <a:endParaRPr lang="en-US" altLang="ja-JP"/>
          </a:p>
        </p:txBody>
      </p:sp>
    </p:spTree>
    <p:extLst>
      <p:ext uri="{BB962C8B-B14F-4D97-AF65-F5344CB8AC3E}">
        <p14:creationId xmlns:p14="http://schemas.microsoft.com/office/powerpoint/2010/main" val="37709011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09600" y="533399"/>
            <a:ext cx="10972800" cy="1600200"/>
          </a:xfrm>
        </p:spPr>
        <p:txBody>
          <a:bodyPr/>
          <a:lstStyle>
            <a:lvl1pPr>
              <a:defRPr sz="4000">
                <a:solidFill>
                  <a:srgbClr val="002060"/>
                </a:solidFill>
                <a:latin typeface="Calibri" pitchFamily="34" charset="0"/>
                <a:cs typeface="Calibri"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609600" y="2286000"/>
            <a:ext cx="10972800" cy="1676400"/>
          </a:xfrm>
        </p:spPr>
        <p:txBody>
          <a:bodyPr anchor="ctr"/>
          <a:lstStyle>
            <a:lvl1pPr marL="0" indent="0" algn="ctr">
              <a:buNone/>
              <a:defRPr sz="3200" b="1">
                <a:solidFill>
                  <a:srgbClr val="002060"/>
                </a:solidFill>
                <a:latin typeface="Calibri" pitchFamily="34" charset="0"/>
                <a:cs typeface="Calibr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Text Placeholder 5"/>
          <p:cNvSpPr>
            <a:spLocks noGrp="1"/>
          </p:cNvSpPr>
          <p:nvPr>
            <p:ph type="body" sz="quarter" idx="14"/>
          </p:nvPr>
        </p:nvSpPr>
        <p:spPr>
          <a:xfrm>
            <a:off x="609600" y="4114801"/>
            <a:ext cx="10972800" cy="1676400"/>
          </a:xfrm>
        </p:spPr>
        <p:txBody>
          <a:bodyPr anchor="ctr"/>
          <a:lstStyle>
            <a:lvl1pPr marL="0" indent="0" algn="ctr">
              <a:buFontTx/>
              <a:buNone/>
              <a:defRPr sz="3200" b="1" baseline="0">
                <a:solidFill>
                  <a:srgbClr val="002060"/>
                </a:solidFill>
                <a:latin typeface="Calibri" pitchFamily="34" charset="0"/>
                <a:cs typeface="Calibri" pitchFamily="34" charset="0"/>
              </a:defRPr>
            </a:lvl1pPr>
            <a:lvl2pPr marL="457200" indent="0" algn="ctr">
              <a:buFontTx/>
              <a:buNone/>
              <a:defRPr/>
            </a:lvl2pPr>
            <a:lvl3pPr marL="914400" indent="0" algn="ctr">
              <a:buFontTx/>
              <a:buNone/>
              <a:defRPr/>
            </a:lvl3pPr>
            <a:lvl4pPr marL="1371600" indent="0" algn="ctr">
              <a:buFontTx/>
              <a:buNone/>
              <a:defRPr/>
            </a:lvl4pPr>
            <a:lvl5pPr marL="1828800" indent="0" algn="ctr">
              <a:buFontTx/>
              <a:buNone/>
              <a:defRPr/>
            </a:lvl5pPr>
          </a:lstStyle>
          <a:p>
            <a:pPr lvl="0"/>
            <a:r>
              <a:rPr lang="en-US"/>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pattFill prst="pct5">
          <a:fgClr>
            <a:srgbClr val="FCFCFC"/>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2060"/>
                </a:solidFill>
              </a:defRPr>
            </a:lvl1pPr>
          </a:lstStyle>
          <a:p>
            <a:r>
              <a:rPr lang="en-US" dirty="0"/>
              <a:t>Click to edit Master title style</a:t>
            </a:r>
          </a:p>
        </p:txBody>
      </p:sp>
      <p:sp>
        <p:nvSpPr>
          <p:cNvPr id="3" name="Content Placeholder 2"/>
          <p:cNvSpPr>
            <a:spLocks noGrp="1"/>
          </p:cNvSpPr>
          <p:nvPr>
            <p:ph idx="1" hasCustomPrompt="1"/>
          </p:nvPr>
        </p:nvSpPr>
        <p:spPr>
          <a:xfrm>
            <a:off x="203200" y="914402"/>
            <a:ext cx="11785600" cy="5638799"/>
          </a:xfrm>
        </p:spPr>
        <p:txBody>
          <a:bodyPr/>
          <a:lstStyle>
            <a:lvl1pPr marL="457200" indent="-457200">
              <a:spcBef>
                <a:spcPts val="250"/>
              </a:spcBef>
              <a:buFont typeface="Wingdings" panose="05000000000000000000" pitchFamily="2" charset="2"/>
              <a:buChar char="§"/>
              <a:defRPr sz="2800"/>
            </a:lvl1pPr>
            <a:lvl2pPr marL="742950" indent="-285750">
              <a:spcBef>
                <a:spcPts val="250"/>
              </a:spcBef>
              <a:buFont typeface="Wingdings" panose="05000000000000000000" pitchFamily="2" charset="2"/>
              <a:buChar char="§"/>
              <a:defRPr sz="2200"/>
            </a:lvl2pPr>
            <a:lvl3pPr>
              <a:spcBef>
                <a:spcPts val="250"/>
              </a:spcBef>
              <a:defRPr sz="1800"/>
            </a:lvl3pPr>
            <a:lvl4pPr>
              <a:spcBef>
                <a:spcPts val="250"/>
              </a:spcBef>
              <a:defRPr sz="1800"/>
            </a:lvl4pPr>
            <a:lvl5pPr>
              <a:spcBef>
                <a:spcPts val="250"/>
              </a:spcBef>
              <a:defRPr sz="1800"/>
            </a:lvl5pPr>
          </a:lstStyle>
          <a:p>
            <a:pPr lvl="0"/>
            <a:r>
              <a:rPr lang="en-US" dirty="0"/>
              <a:t>Click to edit Master text styles</a:t>
            </a:r>
          </a:p>
          <a:p>
            <a:pPr lvl="1"/>
            <a:r>
              <a:rPr lang="en-US" dirty="0"/>
              <a:t>Second level</a:t>
            </a:r>
          </a:p>
        </p:txBody>
      </p:sp>
      <p:sp>
        <p:nvSpPr>
          <p:cNvPr id="4" name="Slide Number Placeholder 7"/>
          <p:cNvSpPr>
            <a:spLocks noGrp="1"/>
          </p:cNvSpPr>
          <p:nvPr>
            <p:ph type="sldNum" sz="quarter" idx="10"/>
          </p:nvPr>
        </p:nvSpPr>
        <p:spPr>
          <a:xfrm>
            <a:off x="11277600" y="6629400"/>
            <a:ext cx="914400" cy="228601"/>
          </a:xfrm>
        </p:spPr>
        <p:txBody>
          <a:bodyPr/>
          <a:lstStyle>
            <a:lvl1pPr>
              <a:defRPr sz="1400">
                <a:solidFill>
                  <a:srgbClr val="002060"/>
                </a:solidFill>
                <a:latin typeface="Calibri" pitchFamily="34" charset="0"/>
                <a:cs typeface="Calibri" pitchFamily="34" charset="0"/>
              </a:defRPr>
            </a:lvl1pPr>
          </a:lstStyle>
          <a:p>
            <a:fld id="{7D4E4B3C-6D75-45C2-A79F-093804AEFBBA}" type="slidenum">
              <a:rPr lang="en-US" altLang="ja-JP" smtClean="0"/>
              <a:pPr/>
              <a:t>‹#›</a:t>
            </a:fld>
            <a:endParaRPr lang="en-US" altLang="ja-JP"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03200" y="914401"/>
            <a:ext cx="5791200" cy="5257800"/>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914401"/>
            <a:ext cx="5791200" cy="5257800"/>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8"/>
          <p:cNvSpPr>
            <a:spLocks noGrp="1"/>
          </p:cNvSpPr>
          <p:nvPr>
            <p:ph type="sldNum" sz="quarter" idx="10"/>
          </p:nvPr>
        </p:nvSpPr>
        <p:spPr>
          <a:xfrm>
            <a:off x="8839200" y="6416677"/>
            <a:ext cx="3251200" cy="365125"/>
          </a:xfrm>
        </p:spPr>
        <p:txBody>
          <a:bodyPr/>
          <a:lstStyle>
            <a:lvl1pPr>
              <a:defRPr/>
            </a:lvl1pPr>
          </a:lstStyle>
          <a:p>
            <a:fld id="{E64912BF-E30A-418A-9C76-4104E50E4EE9}" type="slidenum">
              <a:rPr lang="en-US" altLang="ja-JP" smtClean="0"/>
              <a:pPr/>
              <a:t>‹#›</a:t>
            </a:fld>
            <a:endParaRPr lang="en-US" altLang="ja-JP" dirty="0"/>
          </a:p>
        </p:txBody>
      </p:sp>
      <p:sp>
        <p:nvSpPr>
          <p:cNvPr id="8" name="Slide Number Placeholder 7"/>
          <p:cNvSpPr txBox="1">
            <a:spLocks/>
          </p:cNvSpPr>
          <p:nvPr userDrawn="1"/>
        </p:nvSpPr>
        <p:spPr>
          <a:xfrm>
            <a:off x="101600" y="6416677"/>
            <a:ext cx="9144000" cy="365125"/>
          </a:xfrm>
          <a:prstGeom prst="rect">
            <a:avLst/>
          </a:prstGeom>
        </p:spPr>
        <p:txBody>
          <a:bodyPr vert="horz" wrap="square" lIns="91440" tIns="45720" rIns="91440" bIns="45720" numCol="1" anchor="ctr" anchorCtr="0" compatLnSpc="1">
            <a:prstTxWarp prst="textNoShape">
              <a:avLst/>
            </a:prstTxWarp>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ja-JP" sz="1800" b="1" i="0" u="none" strike="noStrike" kern="1200" cap="none" spc="0" normalizeH="0" baseline="0" noProof="0" dirty="0">
                <a:ln>
                  <a:noFill/>
                </a:ln>
                <a:solidFill>
                  <a:schemeClr val="bg1"/>
                </a:solidFill>
                <a:effectLst/>
                <a:uLnTx/>
                <a:uFillTx/>
                <a:latin typeface="Trebuchet MS" pitchFamily="34" charset="0"/>
                <a:ea typeface="ＭＳ Ｐゴシック" pitchFamily="50" charset="-128"/>
                <a:cs typeface="Arial" charset="0"/>
              </a:rPr>
              <a:t>Energy-Efficient VLSI Systems</a:t>
            </a: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8208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361005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3075" name="Title Placeholder 1"/>
          <p:cNvSpPr>
            <a:spLocks noGrp="1"/>
          </p:cNvSpPr>
          <p:nvPr>
            <p:ph type="title"/>
          </p:nvPr>
        </p:nvSpPr>
        <p:spPr bwMode="auto">
          <a:xfrm>
            <a:off x="203200" y="152400"/>
            <a:ext cx="11785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ja-JP" dirty="0"/>
              <a:t>Click to edit Master title style</a:t>
            </a:r>
          </a:p>
        </p:txBody>
      </p:sp>
      <p:sp>
        <p:nvSpPr>
          <p:cNvPr id="3076" name="Text Placeholder 2"/>
          <p:cNvSpPr>
            <a:spLocks noGrp="1"/>
          </p:cNvSpPr>
          <p:nvPr>
            <p:ph type="body" idx="1"/>
          </p:nvPr>
        </p:nvSpPr>
        <p:spPr bwMode="auto">
          <a:xfrm>
            <a:off x="203200" y="914401"/>
            <a:ext cx="11785600" cy="5257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ltLang="ja-JP" dirty="0"/>
          </a:p>
        </p:txBody>
      </p:sp>
      <p:sp>
        <p:nvSpPr>
          <p:cNvPr id="4" name="Date Placeholder 3"/>
          <p:cNvSpPr>
            <a:spLocks noGrp="1"/>
          </p:cNvSpPr>
          <p:nvPr>
            <p:ph type="dt" sz="half" idx="2"/>
          </p:nvPr>
        </p:nvSpPr>
        <p:spPr>
          <a:xfrm>
            <a:off x="203200" y="6416677"/>
            <a:ext cx="3251200" cy="365125"/>
          </a:xfrm>
          <a:prstGeom prst="rect">
            <a:avLst/>
          </a:prstGeom>
        </p:spPr>
        <p:txBody>
          <a:bodyPr vert="horz" wrap="square" lIns="91440" tIns="45720" rIns="91440" bIns="45720" numCol="1" anchor="ctr" anchorCtr="0" compatLnSpc="1">
            <a:prstTxWarp prst="textNoShape">
              <a:avLst/>
            </a:prstTxWarp>
          </a:bodyPr>
          <a:lstStyle>
            <a:lvl1pPr>
              <a:defRPr sz="1400" b="1">
                <a:solidFill>
                  <a:srgbClr val="002060"/>
                </a:solidFill>
                <a:latin typeface="Calibri" pitchFamily="34" charset="0"/>
                <a:ea typeface="ＭＳ Ｐゴシック" pitchFamily="50" charset="-128"/>
                <a:cs typeface="Calibri" pitchFamily="34" charset="0"/>
              </a:defRPr>
            </a:lvl1pPr>
          </a:lstStyle>
          <a:p>
            <a:endParaRPr lang="ja-JP" altLang="en-US" dirty="0"/>
          </a:p>
        </p:txBody>
      </p:sp>
      <p:sp>
        <p:nvSpPr>
          <p:cNvPr id="5" name="Footer Placeholder 4"/>
          <p:cNvSpPr>
            <a:spLocks noGrp="1"/>
          </p:cNvSpPr>
          <p:nvPr>
            <p:ph type="ftr" sz="quarter" idx="3"/>
          </p:nvPr>
        </p:nvSpPr>
        <p:spPr>
          <a:xfrm>
            <a:off x="4165600" y="6416677"/>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400" b="1">
                <a:solidFill>
                  <a:srgbClr val="002060"/>
                </a:solidFill>
                <a:latin typeface="Calibri" pitchFamily="34" charset="0"/>
                <a:ea typeface="ＭＳ Ｐゴシック" pitchFamily="50" charset="-128"/>
                <a:cs typeface="Calibri" pitchFamily="34" charset="0"/>
              </a:defRPr>
            </a:lvl1pPr>
          </a:lstStyle>
          <a:p>
            <a:endParaRPr lang="ja-JP" altLang="en-US" dirty="0"/>
          </a:p>
        </p:txBody>
      </p:sp>
      <p:sp>
        <p:nvSpPr>
          <p:cNvPr id="6" name="Slide Number Placeholder 5"/>
          <p:cNvSpPr>
            <a:spLocks noGrp="1"/>
          </p:cNvSpPr>
          <p:nvPr>
            <p:ph type="sldNum" sz="quarter" idx="4"/>
          </p:nvPr>
        </p:nvSpPr>
        <p:spPr>
          <a:xfrm>
            <a:off x="8737600" y="6416677"/>
            <a:ext cx="3251200" cy="365125"/>
          </a:xfrm>
          <a:prstGeom prst="rect">
            <a:avLst/>
          </a:prstGeom>
        </p:spPr>
        <p:txBody>
          <a:bodyPr vert="horz" wrap="square" lIns="91440" tIns="45720" rIns="91440" bIns="45720" numCol="1" anchor="ctr" anchorCtr="0" compatLnSpc="1">
            <a:prstTxWarp prst="textNoShape">
              <a:avLst/>
            </a:prstTxWarp>
          </a:bodyPr>
          <a:lstStyle>
            <a:lvl1pPr algn="r">
              <a:defRPr sz="1400" b="1">
                <a:solidFill>
                  <a:srgbClr val="002060"/>
                </a:solidFill>
                <a:latin typeface="Calibri" pitchFamily="34" charset="0"/>
                <a:ea typeface="ＭＳ Ｐゴシック" pitchFamily="50" charset="-128"/>
                <a:cs typeface="Calibri" pitchFamily="34" charset="0"/>
              </a:defRPr>
            </a:lvl1pPr>
          </a:lstStyle>
          <a:p>
            <a:r>
              <a:rPr lang="en-US" altLang="ja-JP" dirty="0"/>
              <a:t> </a:t>
            </a:r>
            <a:fld id="{385039B7-5274-4A48-892E-B09EE908FA7B}" type="slidenum">
              <a:rPr lang="en-US" altLang="ja-JP" smtClean="0"/>
              <a:pPr/>
              <a:t>‹#›</a:t>
            </a:fld>
            <a:endParaRPr lang="en-US" altLang="ja-JP" dirty="0"/>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95" r:id="rId4"/>
    <p:sldLayoutId id="2147483697" r:id="rId5"/>
  </p:sldLayoutIdLst>
  <p:hf hdr="0" ftr="0" dt="0"/>
  <p:txStyles>
    <p:titleStyle>
      <a:lvl1pPr algn="l" rtl="0" eaLnBrk="1" fontAlgn="base" hangingPunct="1">
        <a:spcBef>
          <a:spcPct val="0"/>
        </a:spcBef>
        <a:spcAft>
          <a:spcPct val="0"/>
        </a:spcAft>
        <a:defRPr sz="3600" b="1" kern="1200">
          <a:solidFill>
            <a:srgbClr val="002060"/>
          </a:solidFill>
          <a:latin typeface="Calibri" pitchFamily="34" charset="0"/>
          <a:ea typeface="+mj-ea"/>
          <a:cs typeface="Calibri" pitchFamily="34" charset="0"/>
        </a:defRPr>
      </a:lvl1pPr>
      <a:lvl2pPr algn="ctr" rtl="0" eaLnBrk="1" fontAlgn="base" hangingPunct="1">
        <a:spcBef>
          <a:spcPct val="0"/>
        </a:spcBef>
        <a:spcAft>
          <a:spcPct val="0"/>
        </a:spcAft>
        <a:defRPr sz="3600" b="1">
          <a:solidFill>
            <a:schemeClr val="tx1"/>
          </a:solidFill>
          <a:latin typeface="Trebuchet MS" pitchFamily="34" charset="0"/>
        </a:defRPr>
      </a:lvl2pPr>
      <a:lvl3pPr algn="ctr" rtl="0" eaLnBrk="1" fontAlgn="base" hangingPunct="1">
        <a:spcBef>
          <a:spcPct val="0"/>
        </a:spcBef>
        <a:spcAft>
          <a:spcPct val="0"/>
        </a:spcAft>
        <a:defRPr sz="3600" b="1">
          <a:solidFill>
            <a:schemeClr val="tx1"/>
          </a:solidFill>
          <a:latin typeface="Trebuchet MS" pitchFamily="34" charset="0"/>
        </a:defRPr>
      </a:lvl3pPr>
      <a:lvl4pPr algn="ctr" rtl="0" eaLnBrk="1" fontAlgn="base" hangingPunct="1">
        <a:spcBef>
          <a:spcPct val="0"/>
        </a:spcBef>
        <a:spcAft>
          <a:spcPct val="0"/>
        </a:spcAft>
        <a:defRPr sz="3600" b="1">
          <a:solidFill>
            <a:schemeClr val="tx1"/>
          </a:solidFill>
          <a:latin typeface="Trebuchet MS" pitchFamily="34" charset="0"/>
        </a:defRPr>
      </a:lvl4pPr>
      <a:lvl5pPr algn="ctr" rtl="0" eaLnBrk="1" fontAlgn="base" hangingPunct="1">
        <a:spcBef>
          <a:spcPct val="0"/>
        </a:spcBef>
        <a:spcAft>
          <a:spcPct val="0"/>
        </a:spcAft>
        <a:defRPr sz="3600" b="1">
          <a:solidFill>
            <a:schemeClr val="tx1"/>
          </a:solidFill>
          <a:latin typeface="Trebuchet MS" pitchFamily="34" charset="0"/>
        </a:defRPr>
      </a:lvl5pPr>
      <a:lvl6pPr marL="457200" algn="ctr" rtl="0" eaLnBrk="1" fontAlgn="base" hangingPunct="1">
        <a:spcBef>
          <a:spcPct val="0"/>
        </a:spcBef>
        <a:spcAft>
          <a:spcPct val="0"/>
        </a:spcAft>
        <a:defRPr sz="3600" b="1">
          <a:solidFill>
            <a:schemeClr val="tx1"/>
          </a:solidFill>
          <a:latin typeface="Trebuchet MS" pitchFamily="34" charset="0"/>
        </a:defRPr>
      </a:lvl6pPr>
      <a:lvl7pPr marL="914400" algn="ctr" rtl="0" eaLnBrk="1" fontAlgn="base" hangingPunct="1">
        <a:spcBef>
          <a:spcPct val="0"/>
        </a:spcBef>
        <a:spcAft>
          <a:spcPct val="0"/>
        </a:spcAft>
        <a:defRPr sz="3600" b="1">
          <a:solidFill>
            <a:schemeClr val="tx1"/>
          </a:solidFill>
          <a:latin typeface="Trebuchet MS" pitchFamily="34" charset="0"/>
        </a:defRPr>
      </a:lvl7pPr>
      <a:lvl8pPr marL="1371600" algn="ctr" rtl="0" eaLnBrk="1" fontAlgn="base" hangingPunct="1">
        <a:spcBef>
          <a:spcPct val="0"/>
        </a:spcBef>
        <a:spcAft>
          <a:spcPct val="0"/>
        </a:spcAft>
        <a:defRPr sz="3600" b="1">
          <a:solidFill>
            <a:schemeClr val="tx1"/>
          </a:solidFill>
          <a:latin typeface="Trebuchet MS" pitchFamily="34" charset="0"/>
        </a:defRPr>
      </a:lvl8pPr>
      <a:lvl9pPr marL="1828800" algn="ctr" rtl="0" eaLnBrk="1" fontAlgn="base" hangingPunct="1">
        <a:spcBef>
          <a:spcPct val="0"/>
        </a:spcBef>
        <a:spcAft>
          <a:spcPct val="0"/>
        </a:spcAft>
        <a:defRPr sz="3600" b="1">
          <a:solidFill>
            <a:schemeClr val="tx1"/>
          </a:solidFill>
          <a:latin typeface="Trebuchet MS" pitchFamily="34" charset="0"/>
        </a:defRPr>
      </a:lvl9pPr>
    </p:titleStyle>
    <p:bodyStyle>
      <a:lvl1pPr marL="342900" indent="-342900" algn="l" rtl="0" eaLnBrk="1" fontAlgn="base" hangingPunct="1">
        <a:spcBef>
          <a:spcPct val="20000"/>
        </a:spcBef>
        <a:spcAft>
          <a:spcPct val="0"/>
        </a:spcAft>
        <a:buFont typeface="Arial" charset="0"/>
        <a:buChar char="•"/>
        <a:defRPr sz="2800" kern="1200">
          <a:solidFill>
            <a:srgbClr val="002060"/>
          </a:solidFill>
          <a:latin typeface="Calibri" pitchFamily="34" charset="0"/>
          <a:ea typeface="+mn-ea"/>
          <a:cs typeface="Calibri" pitchFamily="34" charset="0"/>
        </a:defRPr>
      </a:lvl1pPr>
      <a:lvl2pPr marL="742950" indent="-285750" algn="l" rtl="0" eaLnBrk="1" fontAlgn="base" hangingPunct="1">
        <a:spcBef>
          <a:spcPct val="20000"/>
        </a:spcBef>
        <a:spcAft>
          <a:spcPct val="0"/>
        </a:spcAft>
        <a:buFont typeface="Arial" charset="0"/>
        <a:buChar char="–"/>
        <a:defRPr sz="2400" kern="1200">
          <a:solidFill>
            <a:srgbClr val="002060"/>
          </a:solidFill>
          <a:latin typeface="Calibri" pitchFamily="34" charset="0"/>
          <a:ea typeface="+mn-ea"/>
          <a:cs typeface="Calibri" pitchFamily="34" charset="0"/>
        </a:defRPr>
      </a:lvl2pPr>
      <a:lvl3pPr marL="11430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3pPr>
      <a:lvl4pPr marL="16002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4pPr>
      <a:lvl5pPr marL="20574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emf"/><Relationship Id="rId5" Type="http://schemas.openxmlformats.org/officeDocument/2006/relationships/oleObject" Target="../embeddings/oleObject3.bin"/><Relationship Id="rId4" Type="http://schemas.openxmlformats.org/officeDocument/2006/relationships/image" Target="../media/image2.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oleObject" Target="../embeddings/oleObject2.bin"/><Relationship Id="rId7" Type="http://schemas.openxmlformats.org/officeDocument/2006/relationships/image" Target="../media/image4.emf"/><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emf"/><Relationship Id="rId5" Type="http://schemas.openxmlformats.org/officeDocument/2006/relationships/oleObject" Target="../embeddings/oleObject3.bin"/><Relationship Id="rId4" Type="http://schemas.openxmlformats.org/officeDocument/2006/relationships/image" Target="../media/image2.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2.emf"/><Relationship Id="rId1" Type="http://schemas.openxmlformats.org/officeDocument/2006/relationships/slideLayout" Target="../slideLayouts/slideLayout5.xml"/><Relationship Id="rId4" Type="http://schemas.openxmlformats.org/officeDocument/2006/relationships/image" Target="../media/image36.png"/></Relationships>
</file>

<file path=ppt/slides/_rels/slide45.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1981200" y="533399"/>
            <a:ext cx="8229600" cy="2362201"/>
          </a:xfrm>
        </p:spPr>
        <p:txBody>
          <a:bodyPr/>
          <a:lstStyle/>
          <a:p>
            <a:pPr algn="ctr"/>
            <a:r>
              <a:rPr lang="en-US" b="0" dirty="0"/>
              <a:t>Power Delivery</a:t>
            </a:r>
            <a:endParaRPr lang="en-US" dirty="0"/>
          </a:p>
        </p:txBody>
      </p:sp>
      <p:sp>
        <p:nvSpPr>
          <p:cNvPr id="6" name="Subtitle 5"/>
          <p:cNvSpPr>
            <a:spLocks noGrp="1"/>
          </p:cNvSpPr>
          <p:nvPr>
            <p:ph type="subTitle" idx="1"/>
          </p:nvPr>
        </p:nvSpPr>
        <p:spPr>
          <a:xfrm>
            <a:off x="3009900" y="6248400"/>
            <a:ext cx="7315200" cy="609600"/>
          </a:xfrm>
        </p:spPr>
        <p:txBody>
          <a:bodyPr/>
          <a:lstStyle/>
          <a:p>
            <a:r>
              <a:rPr lang="en-US" sz="2000" dirty="0"/>
              <a:t>Based on slides from tutorial by Visvesh Sathe and </a:t>
            </a:r>
            <a:r>
              <a:rPr lang="en-US" sz="2000" dirty="0" err="1"/>
              <a:t>Shiddhartha</a:t>
            </a:r>
            <a:r>
              <a:rPr lang="en-US" sz="2000" dirty="0"/>
              <a:t> Das</a:t>
            </a:r>
          </a:p>
        </p:txBody>
      </p:sp>
      <p:sp>
        <p:nvSpPr>
          <p:cNvPr id="4" name="Slide Number Placeholder 3"/>
          <p:cNvSpPr>
            <a:spLocks noGrp="1"/>
          </p:cNvSpPr>
          <p:nvPr>
            <p:ph type="sldNum" sz="quarter" idx="4294967295"/>
          </p:nvPr>
        </p:nvSpPr>
        <p:spPr>
          <a:xfrm>
            <a:off x="9982200" y="6629400"/>
            <a:ext cx="685800" cy="228600"/>
          </a:xfrm>
        </p:spPr>
        <p:txBody>
          <a:bodyPr/>
          <a:lstStyle/>
          <a:p>
            <a:fld id="{7D4E4B3C-6D75-45C2-A79F-093804AEFBBA}" type="slidenum">
              <a:rPr lang="en-US" altLang="ja-JP" smtClean="0"/>
              <a:pPr/>
              <a:t>0</a:t>
            </a:fld>
            <a:endParaRPr lang="en-US" altLang="ja-JP" dirty="0"/>
          </a:p>
        </p:txBody>
      </p:sp>
    </p:spTree>
    <p:extLst>
      <p:ext uri="{BB962C8B-B14F-4D97-AF65-F5344CB8AC3E}">
        <p14:creationId xmlns:p14="http://schemas.microsoft.com/office/powerpoint/2010/main" val="1417453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1676400" y="914401"/>
            <a:ext cx="8839200" cy="5674659"/>
          </a:xfrm>
        </p:spPr>
        <p:txBody>
          <a:bodyPr/>
          <a:lstStyle/>
          <a:p>
            <a:pPr marL="457200" lvl="1" indent="-457200"/>
            <a:r>
              <a:rPr lang="en-US" sz="2800" dirty="0"/>
              <a:t>Opening Remarks</a:t>
            </a:r>
          </a:p>
          <a:p>
            <a:pPr marL="457200" lvl="1" indent="-457200"/>
            <a:endParaRPr lang="en-US" sz="1100" dirty="0"/>
          </a:p>
          <a:p>
            <a:r>
              <a:rPr lang="en-US" dirty="0"/>
              <a:t>Understanding supply noise</a:t>
            </a:r>
          </a:p>
          <a:p>
            <a:pPr lvl="1"/>
            <a:r>
              <a:rPr lang="en-US" dirty="0"/>
              <a:t>Power supply delivery – A case study</a:t>
            </a:r>
          </a:p>
          <a:p>
            <a:r>
              <a:rPr lang="en-US" dirty="0"/>
              <a:t>De-coupling capacitance </a:t>
            </a:r>
          </a:p>
          <a:p>
            <a:r>
              <a:rPr lang="en-US" dirty="0"/>
              <a:t>Microarchitecture techniques </a:t>
            </a:r>
          </a:p>
          <a:p>
            <a:endParaRPr lang="en-US" sz="1200" dirty="0"/>
          </a:p>
          <a:p>
            <a:r>
              <a:rPr lang="en-US" dirty="0"/>
              <a:t>Break (5m)</a:t>
            </a:r>
          </a:p>
          <a:p>
            <a:endParaRPr lang="en-US" sz="1200" dirty="0"/>
          </a:p>
          <a:p>
            <a:r>
              <a:rPr lang="en-US" dirty="0"/>
              <a:t>Adaptive Clocking</a:t>
            </a:r>
          </a:p>
          <a:p>
            <a:pPr marL="857250" lvl="2" indent="-457200">
              <a:buFont typeface="Wingdings" panose="05000000000000000000" pitchFamily="2" charset="2"/>
              <a:buChar char="§"/>
            </a:pPr>
            <a:r>
              <a:rPr lang="en-US" sz="2400" dirty="0"/>
              <a:t>Generation: Intel Nehalem</a:t>
            </a:r>
          </a:p>
          <a:p>
            <a:pPr marL="857250" lvl="2" indent="-457200">
              <a:buFont typeface="Wingdings" panose="05000000000000000000" pitchFamily="2" charset="2"/>
              <a:buChar char="§"/>
            </a:pPr>
            <a:r>
              <a:rPr lang="en-US" sz="2400" dirty="0"/>
              <a:t>Generation: AMD Steamroller</a:t>
            </a:r>
          </a:p>
          <a:p>
            <a:pPr marL="857250" lvl="2" indent="-457200">
              <a:buFont typeface="Wingdings" panose="05000000000000000000" pitchFamily="2" charset="2"/>
              <a:buChar char="§"/>
            </a:pPr>
            <a:r>
              <a:rPr lang="en-US" sz="2400" dirty="0"/>
              <a:t>Distribution: Qualcomm</a:t>
            </a:r>
          </a:p>
          <a:p>
            <a:r>
              <a:rPr lang="en-US" dirty="0"/>
              <a:t>Integrated Voltage Regulation</a:t>
            </a:r>
          </a:p>
        </p:txBody>
      </p:sp>
      <p:sp>
        <p:nvSpPr>
          <p:cNvPr id="4" name="Slide Number Placeholder 3"/>
          <p:cNvSpPr>
            <a:spLocks noGrp="1"/>
          </p:cNvSpPr>
          <p:nvPr>
            <p:ph type="sldNum" sz="quarter" idx="10"/>
          </p:nvPr>
        </p:nvSpPr>
        <p:spPr/>
        <p:txBody>
          <a:bodyPr/>
          <a:lstStyle/>
          <a:p>
            <a:fld id="{7D4E4B3C-6D75-45C2-A79F-093804AEFBBA}" type="slidenum">
              <a:rPr lang="en-US" altLang="ja-JP" smtClean="0"/>
              <a:pPr/>
              <a:t>1</a:t>
            </a:fld>
            <a:endParaRPr lang="en-US" altLang="ja-JP" dirty="0"/>
          </a:p>
        </p:txBody>
      </p:sp>
    </p:spTree>
    <p:extLst>
      <p:ext uri="{BB962C8B-B14F-4D97-AF65-F5344CB8AC3E}">
        <p14:creationId xmlns:p14="http://schemas.microsoft.com/office/powerpoint/2010/main" val="3350009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1676400" y="152400"/>
            <a:ext cx="8839200" cy="609600"/>
          </a:xfrm>
          <a:prstGeom prst="rect">
            <a:avLst/>
          </a:prstGeom>
        </p:spPr>
        <p:txBody>
          <a:bodyPr/>
          <a:lstStyle>
            <a:lvl1pPr algn="l" rtl="0" eaLnBrk="1" fontAlgn="base" hangingPunct="1">
              <a:spcBef>
                <a:spcPct val="0"/>
              </a:spcBef>
              <a:spcAft>
                <a:spcPct val="0"/>
              </a:spcAft>
              <a:defRPr sz="3600" b="1" kern="1200">
                <a:solidFill>
                  <a:srgbClr val="002060"/>
                </a:solidFill>
                <a:latin typeface="Calibri" pitchFamily="34" charset="0"/>
                <a:ea typeface="+mj-ea"/>
                <a:cs typeface="Calibri" pitchFamily="34" charset="0"/>
              </a:defRPr>
            </a:lvl1pPr>
            <a:lvl2pPr algn="ctr" rtl="0" eaLnBrk="1" fontAlgn="base" hangingPunct="1">
              <a:spcBef>
                <a:spcPct val="0"/>
              </a:spcBef>
              <a:spcAft>
                <a:spcPct val="0"/>
              </a:spcAft>
              <a:defRPr sz="3600" b="1">
                <a:solidFill>
                  <a:schemeClr val="tx1"/>
                </a:solidFill>
                <a:latin typeface="Trebuchet MS" pitchFamily="34" charset="0"/>
              </a:defRPr>
            </a:lvl2pPr>
            <a:lvl3pPr algn="ctr" rtl="0" eaLnBrk="1" fontAlgn="base" hangingPunct="1">
              <a:spcBef>
                <a:spcPct val="0"/>
              </a:spcBef>
              <a:spcAft>
                <a:spcPct val="0"/>
              </a:spcAft>
              <a:defRPr sz="3600" b="1">
                <a:solidFill>
                  <a:schemeClr val="tx1"/>
                </a:solidFill>
                <a:latin typeface="Trebuchet MS" pitchFamily="34" charset="0"/>
              </a:defRPr>
            </a:lvl3pPr>
            <a:lvl4pPr algn="ctr" rtl="0" eaLnBrk="1" fontAlgn="base" hangingPunct="1">
              <a:spcBef>
                <a:spcPct val="0"/>
              </a:spcBef>
              <a:spcAft>
                <a:spcPct val="0"/>
              </a:spcAft>
              <a:defRPr sz="3600" b="1">
                <a:solidFill>
                  <a:schemeClr val="tx1"/>
                </a:solidFill>
                <a:latin typeface="Trebuchet MS" pitchFamily="34" charset="0"/>
              </a:defRPr>
            </a:lvl4pPr>
            <a:lvl5pPr algn="ctr" rtl="0" eaLnBrk="1" fontAlgn="base" hangingPunct="1">
              <a:spcBef>
                <a:spcPct val="0"/>
              </a:spcBef>
              <a:spcAft>
                <a:spcPct val="0"/>
              </a:spcAft>
              <a:defRPr sz="3600" b="1">
                <a:solidFill>
                  <a:schemeClr val="tx1"/>
                </a:solidFill>
                <a:latin typeface="Trebuchet MS" pitchFamily="34" charset="0"/>
              </a:defRPr>
            </a:lvl5pPr>
            <a:lvl6pPr marL="457200" algn="ctr" rtl="0" eaLnBrk="1" fontAlgn="base" hangingPunct="1">
              <a:spcBef>
                <a:spcPct val="0"/>
              </a:spcBef>
              <a:spcAft>
                <a:spcPct val="0"/>
              </a:spcAft>
              <a:defRPr sz="3600" b="1">
                <a:solidFill>
                  <a:schemeClr val="tx1"/>
                </a:solidFill>
                <a:latin typeface="Trebuchet MS" pitchFamily="34" charset="0"/>
              </a:defRPr>
            </a:lvl6pPr>
            <a:lvl7pPr marL="914400" algn="ctr" rtl="0" eaLnBrk="1" fontAlgn="base" hangingPunct="1">
              <a:spcBef>
                <a:spcPct val="0"/>
              </a:spcBef>
              <a:spcAft>
                <a:spcPct val="0"/>
              </a:spcAft>
              <a:defRPr sz="3600" b="1">
                <a:solidFill>
                  <a:schemeClr val="tx1"/>
                </a:solidFill>
                <a:latin typeface="Trebuchet MS" pitchFamily="34" charset="0"/>
              </a:defRPr>
            </a:lvl7pPr>
            <a:lvl8pPr marL="1371600" algn="ctr" rtl="0" eaLnBrk="1" fontAlgn="base" hangingPunct="1">
              <a:spcBef>
                <a:spcPct val="0"/>
              </a:spcBef>
              <a:spcAft>
                <a:spcPct val="0"/>
              </a:spcAft>
              <a:defRPr sz="3600" b="1">
                <a:solidFill>
                  <a:schemeClr val="tx1"/>
                </a:solidFill>
                <a:latin typeface="Trebuchet MS" pitchFamily="34" charset="0"/>
              </a:defRPr>
            </a:lvl8pPr>
            <a:lvl9pPr marL="1828800" algn="ctr" rtl="0" eaLnBrk="1" fontAlgn="base" hangingPunct="1">
              <a:spcBef>
                <a:spcPct val="0"/>
              </a:spcBef>
              <a:spcAft>
                <a:spcPct val="0"/>
              </a:spcAft>
              <a:defRPr sz="3600" b="1">
                <a:solidFill>
                  <a:schemeClr val="tx1"/>
                </a:solidFill>
                <a:latin typeface="Trebuchet MS" pitchFamily="34" charset="0"/>
              </a:defRPr>
            </a:lvl9pPr>
          </a:lstStyle>
          <a:p>
            <a:r>
              <a:rPr lang="en-US" dirty="0"/>
              <a:t>Margins in Design</a:t>
            </a:r>
          </a:p>
        </p:txBody>
      </p:sp>
      <p:sp>
        <p:nvSpPr>
          <p:cNvPr id="44043" name="Line 26"/>
          <p:cNvSpPr>
            <a:spLocks noChangeShapeType="1"/>
          </p:cNvSpPr>
          <p:nvPr/>
        </p:nvSpPr>
        <p:spPr bwMode="auto">
          <a:xfrm flipV="1">
            <a:off x="3124200" y="4848225"/>
            <a:ext cx="0" cy="60960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4" name="Line 27"/>
          <p:cNvSpPr>
            <a:spLocks noChangeShapeType="1"/>
          </p:cNvSpPr>
          <p:nvPr/>
        </p:nvSpPr>
        <p:spPr bwMode="auto">
          <a:xfrm>
            <a:off x="3124200" y="4848225"/>
            <a:ext cx="2438400" cy="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5" name="Line 28"/>
          <p:cNvSpPr>
            <a:spLocks noChangeShapeType="1"/>
          </p:cNvSpPr>
          <p:nvPr/>
        </p:nvSpPr>
        <p:spPr bwMode="auto">
          <a:xfrm>
            <a:off x="8229600" y="4848225"/>
            <a:ext cx="0" cy="60960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6" name="Line 29"/>
          <p:cNvSpPr>
            <a:spLocks noChangeShapeType="1"/>
          </p:cNvSpPr>
          <p:nvPr/>
        </p:nvSpPr>
        <p:spPr bwMode="auto">
          <a:xfrm>
            <a:off x="5562600" y="5457825"/>
            <a:ext cx="2667000" cy="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7" name="Line 30"/>
          <p:cNvSpPr>
            <a:spLocks noChangeShapeType="1"/>
          </p:cNvSpPr>
          <p:nvPr/>
        </p:nvSpPr>
        <p:spPr bwMode="auto">
          <a:xfrm flipV="1">
            <a:off x="5562600" y="4848225"/>
            <a:ext cx="0" cy="60960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8" name="Line 31"/>
          <p:cNvSpPr>
            <a:spLocks noChangeShapeType="1"/>
          </p:cNvSpPr>
          <p:nvPr/>
        </p:nvSpPr>
        <p:spPr bwMode="auto">
          <a:xfrm>
            <a:off x="8229600" y="4848225"/>
            <a:ext cx="1524000" cy="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55" name="Line 38"/>
          <p:cNvSpPr>
            <a:spLocks noChangeShapeType="1"/>
          </p:cNvSpPr>
          <p:nvPr/>
        </p:nvSpPr>
        <p:spPr bwMode="auto">
          <a:xfrm>
            <a:off x="8134350" y="3429000"/>
            <a:ext cx="0" cy="0"/>
          </a:xfrm>
          <a:prstGeom prst="line">
            <a:avLst/>
          </a:prstGeom>
          <a:noFill/>
          <a:ln w="6350">
            <a:noFill/>
            <a:round/>
            <a:headEnd/>
            <a:tailEnd/>
          </a:ln>
        </p:spPr>
        <p:txBody>
          <a:bodyPr wrap="none" anchor="ctr">
            <a:prstTxWarp prst="textNoShape">
              <a:avLst/>
            </a:prstTxWarp>
          </a:bodyPr>
          <a:lstStyle/>
          <a:p>
            <a:endParaRPr lang="en-US" sz="2200"/>
          </a:p>
        </p:txBody>
      </p:sp>
      <p:sp>
        <p:nvSpPr>
          <p:cNvPr id="44056" name="Line 39"/>
          <p:cNvSpPr>
            <a:spLocks noChangeShapeType="1"/>
          </p:cNvSpPr>
          <p:nvPr/>
        </p:nvSpPr>
        <p:spPr bwMode="auto">
          <a:xfrm>
            <a:off x="8305800" y="3429000"/>
            <a:ext cx="228600" cy="0"/>
          </a:xfrm>
          <a:prstGeom prst="line">
            <a:avLst/>
          </a:prstGeom>
          <a:noFill/>
          <a:ln w="6350">
            <a:noFill/>
            <a:round/>
            <a:headEnd/>
            <a:tailEnd/>
          </a:ln>
        </p:spPr>
        <p:txBody>
          <a:bodyPr wrap="none" anchor="ctr">
            <a:prstTxWarp prst="textNoShape">
              <a:avLst/>
            </a:prstTxWarp>
          </a:bodyPr>
          <a:lstStyle/>
          <a:p>
            <a:endParaRPr lang="en-US" sz="2200"/>
          </a:p>
        </p:txBody>
      </p:sp>
      <p:sp>
        <p:nvSpPr>
          <p:cNvPr id="44057" name="Line 40"/>
          <p:cNvSpPr>
            <a:spLocks noChangeShapeType="1"/>
          </p:cNvSpPr>
          <p:nvPr/>
        </p:nvSpPr>
        <p:spPr bwMode="auto">
          <a:xfrm flipV="1">
            <a:off x="8534400" y="3429000"/>
            <a:ext cx="76200" cy="0"/>
          </a:xfrm>
          <a:prstGeom prst="line">
            <a:avLst/>
          </a:prstGeom>
          <a:noFill/>
          <a:ln w="6350">
            <a:noFill/>
            <a:round/>
            <a:headEnd/>
            <a:tailEnd/>
          </a:ln>
        </p:spPr>
        <p:txBody>
          <a:bodyPr wrap="none" anchor="ctr">
            <a:prstTxWarp prst="textNoShape">
              <a:avLst/>
            </a:prstTxWarp>
          </a:bodyPr>
          <a:lstStyle/>
          <a:p>
            <a:endParaRPr lang="en-US" sz="2200"/>
          </a:p>
        </p:txBody>
      </p:sp>
      <p:sp>
        <p:nvSpPr>
          <p:cNvPr id="44058" name="Line 41"/>
          <p:cNvSpPr>
            <a:spLocks noChangeShapeType="1"/>
          </p:cNvSpPr>
          <p:nvPr/>
        </p:nvSpPr>
        <p:spPr bwMode="auto">
          <a:xfrm flipV="1">
            <a:off x="2362200" y="4772025"/>
            <a:ext cx="0" cy="304800"/>
          </a:xfrm>
          <a:prstGeom prst="line">
            <a:avLst/>
          </a:prstGeom>
          <a:noFill/>
          <a:ln w="6350">
            <a:noFill/>
            <a:round/>
            <a:headEnd/>
            <a:tailEnd/>
          </a:ln>
        </p:spPr>
        <p:txBody>
          <a:bodyPr wrap="none" anchor="ctr">
            <a:prstTxWarp prst="textNoShape">
              <a:avLst/>
            </a:prstTxWarp>
          </a:bodyPr>
          <a:lstStyle/>
          <a:p>
            <a:endParaRPr lang="en-US" sz="2200"/>
          </a:p>
        </p:txBody>
      </p:sp>
      <p:sp>
        <p:nvSpPr>
          <p:cNvPr id="44061" name="Text Box 58"/>
          <p:cNvSpPr txBox="1">
            <a:spLocks noChangeArrowheads="1"/>
          </p:cNvSpPr>
          <p:nvPr/>
        </p:nvSpPr>
        <p:spPr bwMode="auto">
          <a:xfrm>
            <a:off x="2270126" y="5951539"/>
            <a:ext cx="930275" cy="430887"/>
          </a:xfrm>
          <a:prstGeom prst="rect">
            <a:avLst/>
          </a:prstGeom>
          <a:noFill/>
          <a:ln w="6350">
            <a:noFill/>
            <a:miter lim="800000"/>
            <a:headEnd/>
            <a:tailEnd/>
          </a:ln>
        </p:spPr>
        <p:txBody>
          <a:bodyPr>
            <a:prstTxWarp prst="textNoShape">
              <a:avLst/>
            </a:prstTxWarp>
            <a:spAutoFit/>
          </a:bodyPr>
          <a:lstStyle/>
          <a:p>
            <a:endParaRPr lang="en-GB" sz="2200"/>
          </a:p>
        </p:txBody>
      </p:sp>
      <p:sp>
        <p:nvSpPr>
          <p:cNvPr id="44064" name="Text Box 70"/>
          <p:cNvSpPr txBox="1">
            <a:spLocks noChangeArrowheads="1"/>
          </p:cNvSpPr>
          <p:nvPr/>
        </p:nvSpPr>
        <p:spPr bwMode="auto">
          <a:xfrm>
            <a:off x="2133600" y="4876801"/>
            <a:ext cx="764490" cy="430887"/>
          </a:xfrm>
          <a:prstGeom prst="rect">
            <a:avLst/>
          </a:prstGeom>
          <a:noFill/>
          <a:ln w="9525">
            <a:noFill/>
            <a:miter lim="800000"/>
            <a:headEnd/>
            <a:tailEnd/>
          </a:ln>
        </p:spPr>
        <p:txBody>
          <a:bodyPr wrap="none">
            <a:prstTxWarp prst="textNoShape">
              <a:avLst/>
            </a:prstTxWarp>
            <a:spAutoFit/>
          </a:bodyPr>
          <a:lstStyle/>
          <a:p>
            <a:r>
              <a:rPr lang="en-GB" sz="2200" b="1" dirty="0"/>
              <a:t>CLK</a:t>
            </a:r>
          </a:p>
        </p:txBody>
      </p:sp>
      <p:sp>
        <p:nvSpPr>
          <p:cNvPr id="44065" name="Line 71"/>
          <p:cNvSpPr>
            <a:spLocks noChangeShapeType="1"/>
          </p:cNvSpPr>
          <p:nvPr/>
        </p:nvSpPr>
        <p:spPr bwMode="auto">
          <a:xfrm>
            <a:off x="2667000" y="5457825"/>
            <a:ext cx="457200" cy="0"/>
          </a:xfrm>
          <a:prstGeom prst="line">
            <a:avLst/>
          </a:prstGeom>
          <a:noFill/>
          <a:ln w="38100">
            <a:solidFill>
              <a:schemeClr val="tx1"/>
            </a:solidFill>
            <a:round/>
            <a:headEnd/>
            <a:tailEnd/>
          </a:ln>
        </p:spPr>
        <p:txBody>
          <a:bodyPr>
            <a:prstTxWarp prst="textNoShape">
              <a:avLst/>
            </a:prstTxWarp>
          </a:bodyPr>
          <a:lstStyle/>
          <a:p>
            <a:endParaRPr lang="en-US" sz="2200"/>
          </a:p>
        </p:txBody>
      </p:sp>
    </p:spTree>
    <p:extLst>
      <p:ext uri="{BB962C8B-B14F-4D97-AF65-F5344CB8AC3E}">
        <p14:creationId xmlns:p14="http://schemas.microsoft.com/office/powerpoint/2010/main" val="137749607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4" name="Rectangle 4"/>
          <p:cNvSpPr>
            <a:spLocks noChangeArrowheads="1"/>
          </p:cNvSpPr>
          <p:nvPr/>
        </p:nvSpPr>
        <p:spPr bwMode="auto">
          <a:xfrm>
            <a:off x="8077200" y="4848225"/>
            <a:ext cx="76200" cy="609600"/>
          </a:xfrm>
          <a:prstGeom prst="rect">
            <a:avLst/>
          </a:prstGeom>
          <a:solidFill>
            <a:srgbClr val="9933FF"/>
          </a:solidFill>
          <a:ln w="9525">
            <a:noFill/>
            <a:miter lim="800000"/>
            <a:headEnd/>
            <a:tailEnd/>
          </a:ln>
        </p:spPr>
        <p:txBody>
          <a:bodyPr wrap="none" anchor="ctr">
            <a:prstTxWarp prst="textNoShape">
              <a:avLst/>
            </a:prstTxWarp>
          </a:bodyPr>
          <a:lstStyle/>
          <a:p>
            <a:endParaRPr lang="en-US" sz="2200"/>
          </a:p>
        </p:txBody>
      </p:sp>
      <p:sp>
        <p:nvSpPr>
          <p:cNvPr id="44043" name="Line 26"/>
          <p:cNvSpPr>
            <a:spLocks noChangeShapeType="1"/>
          </p:cNvSpPr>
          <p:nvPr/>
        </p:nvSpPr>
        <p:spPr bwMode="auto">
          <a:xfrm flipV="1">
            <a:off x="3124200" y="4848225"/>
            <a:ext cx="0" cy="60960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4" name="Line 27"/>
          <p:cNvSpPr>
            <a:spLocks noChangeShapeType="1"/>
          </p:cNvSpPr>
          <p:nvPr/>
        </p:nvSpPr>
        <p:spPr bwMode="auto">
          <a:xfrm>
            <a:off x="3124200" y="4848225"/>
            <a:ext cx="2438400" cy="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5" name="Line 28"/>
          <p:cNvSpPr>
            <a:spLocks noChangeShapeType="1"/>
          </p:cNvSpPr>
          <p:nvPr/>
        </p:nvSpPr>
        <p:spPr bwMode="auto">
          <a:xfrm>
            <a:off x="8229600" y="4848225"/>
            <a:ext cx="0" cy="60960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6" name="Line 29"/>
          <p:cNvSpPr>
            <a:spLocks noChangeShapeType="1"/>
          </p:cNvSpPr>
          <p:nvPr/>
        </p:nvSpPr>
        <p:spPr bwMode="auto">
          <a:xfrm>
            <a:off x="5562600" y="5457825"/>
            <a:ext cx="2667000" cy="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7" name="Line 30"/>
          <p:cNvSpPr>
            <a:spLocks noChangeShapeType="1"/>
          </p:cNvSpPr>
          <p:nvPr/>
        </p:nvSpPr>
        <p:spPr bwMode="auto">
          <a:xfrm flipV="1">
            <a:off x="5562600" y="4848225"/>
            <a:ext cx="0" cy="60960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8" name="Line 31"/>
          <p:cNvSpPr>
            <a:spLocks noChangeShapeType="1"/>
          </p:cNvSpPr>
          <p:nvPr/>
        </p:nvSpPr>
        <p:spPr bwMode="auto">
          <a:xfrm>
            <a:off x="8229600" y="4848225"/>
            <a:ext cx="1524000" cy="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55" name="Line 38"/>
          <p:cNvSpPr>
            <a:spLocks noChangeShapeType="1"/>
          </p:cNvSpPr>
          <p:nvPr/>
        </p:nvSpPr>
        <p:spPr bwMode="auto">
          <a:xfrm>
            <a:off x="8134350" y="3429000"/>
            <a:ext cx="0" cy="0"/>
          </a:xfrm>
          <a:prstGeom prst="line">
            <a:avLst/>
          </a:prstGeom>
          <a:noFill/>
          <a:ln w="6350">
            <a:noFill/>
            <a:round/>
            <a:headEnd/>
            <a:tailEnd/>
          </a:ln>
        </p:spPr>
        <p:txBody>
          <a:bodyPr wrap="none" anchor="ctr">
            <a:prstTxWarp prst="textNoShape">
              <a:avLst/>
            </a:prstTxWarp>
          </a:bodyPr>
          <a:lstStyle/>
          <a:p>
            <a:endParaRPr lang="en-US" sz="2200"/>
          </a:p>
        </p:txBody>
      </p:sp>
      <p:sp>
        <p:nvSpPr>
          <p:cNvPr id="44056" name="Line 39"/>
          <p:cNvSpPr>
            <a:spLocks noChangeShapeType="1"/>
          </p:cNvSpPr>
          <p:nvPr/>
        </p:nvSpPr>
        <p:spPr bwMode="auto">
          <a:xfrm>
            <a:off x="8305800" y="3429000"/>
            <a:ext cx="228600" cy="0"/>
          </a:xfrm>
          <a:prstGeom prst="line">
            <a:avLst/>
          </a:prstGeom>
          <a:noFill/>
          <a:ln w="6350">
            <a:noFill/>
            <a:round/>
            <a:headEnd/>
            <a:tailEnd/>
          </a:ln>
        </p:spPr>
        <p:txBody>
          <a:bodyPr wrap="none" anchor="ctr">
            <a:prstTxWarp prst="textNoShape">
              <a:avLst/>
            </a:prstTxWarp>
          </a:bodyPr>
          <a:lstStyle/>
          <a:p>
            <a:endParaRPr lang="en-US" sz="2200"/>
          </a:p>
        </p:txBody>
      </p:sp>
      <p:sp>
        <p:nvSpPr>
          <p:cNvPr id="44057" name="Line 40"/>
          <p:cNvSpPr>
            <a:spLocks noChangeShapeType="1"/>
          </p:cNvSpPr>
          <p:nvPr/>
        </p:nvSpPr>
        <p:spPr bwMode="auto">
          <a:xfrm flipV="1">
            <a:off x="8534400" y="3429000"/>
            <a:ext cx="76200" cy="0"/>
          </a:xfrm>
          <a:prstGeom prst="line">
            <a:avLst/>
          </a:prstGeom>
          <a:noFill/>
          <a:ln w="6350">
            <a:noFill/>
            <a:round/>
            <a:headEnd/>
            <a:tailEnd/>
          </a:ln>
        </p:spPr>
        <p:txBody>
          <a:bodyPr wrap="none" anchor="ctr">
            <a:prstTxWarp prst="textNoShape">
              <a:avLst/>
            </a:prstTxWarp>
          </a:bodyPr>
          <a:lstStyle/>
          <a:p>
            <a:endParaRPr lang="en-US" sz="2200"/>
          </a:p>
        </p:txBody>
      </p:sp>
      <p:sp>
        <p:nvSpPr>
          <p:cNvPr id="44058" name="Line 41"/>
          <p:cNvSpPr>
            <a:spLocks noChangeShapeType="1"/>
          </p:cNvSpPr>
          <p:nvPr/>
        </p:nvSpPr>
        <p:spPr bwMode="auto">
          <a:xfrm flipV="1">
            <a:off x="2362200" y="4772025"/>
            <a:ext cx="0" cy="304800"/>
          </a:xfrm>
          <a:prstGeom prst="line">
            <a:avLst/>
          </a:prstGeom>
          <a:noFill/>
          <a:ln w="6350">
            <a:noFill/>
            <a:round/>
            <a:headEnd/>
            <a:tailEnd/>
          </a:ln>
        </p:spPr>
        <p:txBody>
          <a:bodyPr wrap="none" anchor="ctr">
            <a:prstTxWarp prst="textNoShape">
              <a:avLst/>
            </a:prstTxWarp>
          </a:bodyPr>
          <a:lstStyle/>
          <a:p>
            <a:endParaRPr lang="en-US" sz="2200"/>
          </a:p>
        </p:txBody>
      </p:sp>
      <p:grpSp>
        <p:nvGrpSpPr>
          <p:cNvPr id="7" name="Group 45"/>
          <p:cNvGrpSpPr>
            <a:grpSpLocks/>
          </p:cNvGrpSpPr>
          <p:nvPr/>
        </p:nvGrpSpPr>
        <p:grpSpPr bwMode="auto">
          <a:xfrm>
            <a:off x="3124200" y="914400"/>
            <a:ext cx="5181600" cy="3276600"/>
            <a:chOff x="2822" y="737"/>
            <a:chExt cx="2754" cy="1855"/>
          </a:xfrm>
        </p:grpSpPr>
        <p:sp>
          <p:nvSpPr>
            <p:cNvPr id="44078" name="AutoShape 46"/>
            <p:cNvSpPr>
              <a:spLocks noChangeArrowheads="1"/>
            </p:cNvSpPr>
            <p:nvPr/>
          </p:nvSpPr>
          <p:spPr bwMode="auto">
            <a:xfrm>
              <a:off x="2822" y="737"/>
              <a:ext cx="2754" cy="1855"/>
            </a:xfrm>
            <a:prstGeom prst="roundRect">
              <a:avLst>
                <a:gd name="adj" fmla="val 16667"/>
              </a:avLst>
            </a:prstGeom>
            <a:gradFill rotWithShape="1">
              <a:gsLst>
                <a:gs pos="0">
                  <a:srgbClr val="9933FF"/>
                </a:gs>
                <a:gs pos="100000">
                  <a:srgbClr val="441771"/>
                </a:gs>
              </a:gsLst>
              <a:lin ang="5400000" scaled="1"/>
            </a:gradFill>
            <a:ln w="6350">
              <a:noFill/>
              <a:round/>
              <a:headEnd/>
              <a:tailEnd/>
            </a:ln>
          </p:spPr>
          <p:txBody>
            <a:bodyPr wrap="none" anchor="ctr">
              <a:prstTxWarp prst="textNoShape">
                <a:avLst/>
              </a:prstTxWarp>
            </a:bodyPr>
            <a:lstStyle/>
            <a:p>
              <a:endParaRPr lang="en-US" sz="2200"/>
            </a:p>
          </p:txBody>
        </p:sp>
        <p:sp>
          <p:nvSpPr>
            <p:cNvPr id="44079" name="Text Box 47"/>
            <p:cNvSpPr txBox="1">
              <a:spLocks noChangeArrowheads="1"/>
            </p:cNvSpPr>
            <p:nvPr/>
          </p:nvSpPr>
          <p:spPr bwMode="auto">
            <a:xfrm>
              <a:off x="3120" y="823"/>
              <a:ext cx="2233" cy="1586"/>
            </a:xfrm>
            <a:prstGeom prst="rect">
              <a:avLst/>
            </a:prstGeom>
            <a:noFill/>
            <a:ln w="6350">
              <a:noFill/>
              <a:miter lim="800000"/>
              <a:headEnd/>
              <a:tailEnd/>
            </a:ln>
          </p:spPr>
          <p:txBody>
            <a:bodyPr>
              <a:prstTxWarp prst="textNoShape">
                <a:avLst/>
              </a:prstTxWarp>
              <a:spAutoFit/>
            </a:bodyPr>
            <a:lstStyle/>
            <a:p>
              <a:r>
                <a:rPr lang="en-GB" sz="2200" dirty="0">
                  <a:solidFill>
                    <a:schemeClr val="bg1"/>
                  </a:solidFill>
                </a:rPr>
                <a:t>         CLOCK JITTER</a:t>
              </a:r>
            </a:p>
            <a:p>
              <a:endParaRPr lang="en-GB" sz="2200" dirty="0">
                <a:solidFill>
                  <a:schemeClr val="bg1"/>
                </a:solidFill>
              </a:endParaRPr>
            </a:p>
            <a:p>
              <a:endParaRPr lang="en-GB" sz="2200" dirty="0">
                <a:solidFill>
                  <a:schemeClr val="bg1"/>
                </a:solidFill>
              </a:endParaRPr>
            </a:p>
            <a:p>
              <a:endParaRPr lang="en-GB" sz="2200" dirty="0">
                <a:solidFill>
                  <a:schemeClr val="bg1"/>
                </a:solidFill>
              </a:endParaRPr>
            </a:p>
            <a:p>
              <a:endParaRPr lang="en-GB" sz="2200" dirty="0">
                <a:solidFill>
                  <a:schemeClr val="bg1"/>
                </a:solidFill>
              </a:endParaRPr>
            </a:p>
            <a:p>
              <a:endParaRPr lang="en-GB" sz="2200" dirty="0">
                <a:solidFill>
                  <a:schemeClr val="bg1"/>
                </a:solidFill>
              </a:endParaRPr>
            </a:p>
            <a:p>
              <a:pPr>
                <a:buFont typeface="Wingdings" pitchFamily="-107" charset="2"/>
                <a:buChar char="§"/>
              </a:pPr>
              <a:r>
                <a:rPr lang="en-GB" sz="2200" dirty="0">
                  <a:solidFill>
                    <a:schemeClr val="bg1"/>
                  </a:solidFill>
                </a:rPr>
                <a:t> cycle to cycle jitter</a:t>
              </a:r>
            </a:p>
            <a:p>
              <a:pPr>
                <a:buFont typeface="Wingdings" pitchFamily="-107" charset="2"/>
                <a:buChar char="§"/>
              </a:pPr>
              <a:r>
                <a:rPr lang="en-GB" sz="2200" dirty="0">
                  <a:solidFill>
                    <a:schemeClr val="bg1"/>
                  </a:solidFill>
                </a:rPr>
                <a:t> PLL + clock tree </a:t>
              </a:r>
            </a:p>
          </p:txBody>
        </p:sp>
        <p:grpSp>
          <p:nvGrpSpPr>
            <p:cNvPr id="8" name="Group 48"/>
            <p:cNvGrpSpPr>
              <a:grpSpLocks/>
            </p:cNvGrpSpPr>
            <p:nvPr/>
          </p:nvGrpSpPr>
          <p:grpSpPr bwMode="auto">
            <a:xfrm>
              <a:off x="3456" y="1536"/>
              <a:ext cx="1392" cy="240"/>
              <a:chOff x="288" y="3648"/>
              <a:chExt cx="1392" cy="240"/>
            </a:xfrm>
          </p:grpSpPr>
          <p:sp>
            <p:nvSpPr>
              <p:cNvPr id="44081" name="Line 49"/>
              <p:cNvSpPr>
                <a:spLocks noChangeShapeType="1"/>
              </p:cNvSpPr>
              <p:nvPr/>
            </p:nvSpPr>
            <p:spPr bwMode="auto">
              <a:xfrm>
                <a:off x="288" y="3888"/>
                <a:ext cx="240" cy="0"/>
              </a:xfrm>
              <a:prstGeom prst="line">
                <a:avLst/>
              </a:prstGeom>
              <a:noFill/>
              <a:ln w="28575">
                <a:solidFill>
                  <a:schemeClr val="bg1"/>
                </a:solidFill>
                <a:round/>
                <a:headEnd/>
                <a:tailEnd/>
              </a:ln>
            </p:spPr>
            <p:txBody>
              <a:bodyPr wrap="none" anchor="ctr">
                <a:prstTxWarp prst="textNoShape">
                  <a:avLst/>
                </a:prstTxWarp>
              </a:bodyPr>
              <a:lstStyle/>
              <a:p>
                <a:endParaRPr lang="en-US" sz="2200"/>
              </a:p>
            </p:txBody>
          </p:sp>
          <p:sp>
            <p:nvSpPr>
              <p:cNvPr id="44082" name="Line 50"/>
              <p:cNvSpPr>
                <a:spLocks noChangeShapeType="1"/>
              </p:cNvSpPr>
              <p:nvPr/>
            </p:nvSpPr>
            <p:spPr bwMode="auto">
              <a:xfrm flipV="1">
                <a:off x="528" y="3648"/>
                <a:ext cx="0" cy="240"/>
              </a:xfrm>
              <a:prstGeom prst="line">
                <a:avLst/>
              </a:prstGeom>
              <a:noFill/>
              <a:ln w="28575">
                <a:solidFill>
                  <a:schemeClr val="bg1"/>
                </a:solidFill>
                <a:round/>
                <a:headEnd/>
                <a:tailEnd/>
              </a:ln>
            </p:spPr>
            <p:txBody>
              <a:bodyPr wrap="none" anchor="ctr">
                <a:prstTxWarp prst="textNoShape">
                  <a:avLst/>
                </a:prstTxWarp>
              </a:bodyPr>
              <a:lstStyle/>
              <a:p>
                <a:endParaRPr lang="en-US" sz="2200"/>
              </a:p>
            </p:txBody>
          </p:sp>
          <p:sp>
            <p:nvSpPr>
              <p:cNvPr id="44083" name="Line 51"/>
              <p:cNvSpPr>
                <a:spLocks noChangeShapeType="1"/>
              </p:cNvSpPr>
              <p:nvPr/>
            </p:nvSpPr>
            <p:spPr bwMode="auto">
              <a:xfrm flipV="1">
                <a:off x="912" y="3648"/>
                <a:ext cx="0" cy="240"/>
              </a:xfrm>
              <a:prstGeom prst="line">
                <a:avLst/>
              </a:prstGeom>
              <a:noFill/>
              <a:ln w="28575">
                <a:solidFill>
                  <a:schemeClr val="bg1"/>
                </a:solidFill>
                <a:round/>
                <a:headEnd/>
                <a:tailEnd/>
              </a:ln>
            </p:spPr>
            <p:txBody>
              <a:bodyPr wrap="none" anchor="ctr">
                <a:prstTxWarp prst="textNoShape">
                  <a:avLst/>
                </a:prstTxWarp>
              </a:bodyPr>
              <a:lstStyle/>
              <a:p>
                <a:endParaRPr lang="en-US" sz="2200"/>
              </a:p>
            </p:txBody>
          </p:sp>
          <p:sp>
            <p:nvSpPr>
              <p:cNvPr id="44084" name="Line 52"/>
              <p:cNvSpPr>
                <a:spLocks noChangeShapeType="1"/>
              </p:cNvSpPr>
              <p:nvPr/>
            </p:nvSpPr>
            <p:spPr bwMode="auto">
              <a:xfrm flipV="1">
                <a:off x="1296" y="3648"/>
                <a:ext cx="0" cy="240"/>
              </a:xfrm>
              <a:prstGeom prst="line">
                <a:avLst/>
              </a:prstGeom>
              <a:noFill/>
              <a:ln w="28575">
                <a:solidFill>
                  <a:schemeClr val="bg1"/>
                </a:solidFill>
                <a:round/>
                <a:headEnd/>
                <a:tailEnd/>
              </a:ln>
            </p:spPr>
            <p:txBody>
              <a:bodyPr wrap="none" anchor="ctr">
                <a:prstTxWarp prst="textNoShape">
                  <a:avLst/>
                </a:prstTxWarp>
              </a:bodyPr>
              <a:lstStyle/>
              <a:p>
                <a:endParaRPr lang="en-US" sz="2200"/>
              </a:p>
            </p:txBody>
          </p:sp>
          <p:sp>
            <p:nvSpPr>
              <p:cNvPr id="44085" name="Line 53"/>
              <p:cNvSpPr>
                <a:spLocks noChangeShapeType="1"/>
              </p:cNvSpPr>
              <p:nvPr/>
            </p:nvSpPr>
            <p:spPr bwMode="auto">
              <a:xfrm>
                <a:off x="528" y="3648"/>
                <a:ext cx="384" cy="0"/>
              </a:xfrm>
              <a:prstGeom prst="line">
                <a:avLst/>
              </a:prstGeom>
              <a:noFill/>
              <a:ln w="28575">
                <a:solidFill>
                  <a:schemeClr val="bg1"/>
                </a:solidFill>
                <a:round/>
                <a:headEnd/>
                <a:tailEnd/>
              </a:ln>
            </p:spPr>
            <p:txBody>
              <a:bodyPr wrap="none" anchor="ctr">
                <a:prstTxWarp prst="textNoShape">
                  <a:avLst/>
                </a:prstTxWarp>
              </a:bodyPr>
              <a:lstStyle/>
              <a:p>
                <a:endParaRPr lang="en-US" sz="2200"/>
              </a:p>
            </p:txBody>
          </p:sp>
          <p:sp>
            <p:nvSpPr>
              <p:cNvPr id="44086" name="Line 54"/>
              <p:cNvSpPr>
                <a:spLocks noChangeShapeType="1"/>
              </p:cNvSpPr>
              <p:nvPr/>
            </p:nvSpPr>
            <p:spPr bwMode="auto">
              <a:xfrm>
                <a:off x="528" y="3648"/>
                <a:ext cx="384" cy="0"/>
              </a:xfrm>
              <a:prstGeom prst="line">
                <a:avLst/>
              </a:prstGeom>
              <a:noFill/>
              <a:ln w="28575">
                <a:solidFill>
                  <a:schemeClr val="bg1"/>
                </a:solidFill>
                <a:round/>
                <a:headEnd/>
                <a:tailEnd/>
              </a:ln>
            </p:spPr>
            <p:txBody>
              <a:bodyPr wrap="none" anchor="ctr">
                <a:prstTxWarp prst="textNoShape">
                  <a:avLst/>
                </a:prstTxWarp>
              </a:bodyPr>
              <a:lstStyle/>
              <a:p>
                <a:endParaRPr lang="en-US" sz="2200"/>
              </a:p>
            </p:txBody>
          </p:sp>
          <p:sp>
            <p:nvSpPr>
              <p:cNvPr id="44087" name="Line 55"/>
              <p:cNvSpPr>
                <a:spLocks noChangeShapeType="1"/>
              </p:cNvSpPr>
              <p:nvPr/>
            </p:nvSpPr>
            <p:spPr bwMode="auto">
              <a:xfrm>
                <a:off x="912" y="3888"/>
                <a:ext cx="384" cy="0"/>
              </a:xfrm>
              <a:prstGeom prst="line">
                <a:avLst/>
              </a:prstGeom>
              <a:noFill/>
              <a:ln w="28575">
                <a:solidFill>
                  <a:schemeClr val="bg1"/>
                </a:solidFill>
                <a:round/>
                <a:headEnd/>
                <a:tailEnd/>
              </a:ln>
            </p:spPr>
            <p:txBody>
              <a:bodyPr wrap="none" anchor="ctr">
                <a:prstTxWarp prst="textNoShape">
                  <a:avLst/>
                </a:prstTxWarp>
              </a:bodyPr>
              <a:lstStyle/>
              <a:p>
                <a:endParaRPr lang="en-US" sz="2200"/>
              </a:p>
            </p:txBody>
          </p:sp>
          <p:sp>
            <p:nvSpPr>
              <p:cNvPr id="44088" name="Line 56"/>
              <p:cNvSpPr>
                <a:spLocks noChangeShapeType="1"/>
              </p:cNvSpPr>
              <p:nvPr/>
            </p:nvSpPr>
            <p:spPr bwMode="auto">
              <a:xfrm>
                <a:off x="1296" y="3648"/>
                <a:ext cx="384" cy="0"/>
              </a:xfrm>
              <a:prstGeom prst="line">
                <a:avLst/>
              </a:prstGeom>
              <a:noFill/>
              <a:ln w="28575">
                <a:solidFill>
                  <a:schemeClr val="bg1"/>
                </a:solidFill>
                <a:round/>
                <a:headEnd/>
                <a:tailEnd/>
              </a:ln>
            </p:spPr>
            <p:txBody>
              <a:bodyPr wrap="none" anchor="ctr">
                <a:prstTxWarp prst="textNoShape">
                  <a:avLst/>
                </a:prstTxWarp>
              </a:bodyPr>
              <a:lstStyle/>
              <a:p>
                <a:endParaRPr lang="en-US" sz="2200"/>
              </a:p>
            </p:txBody>
          </p:sp>
          <p:sp>
            <p:nvSpPr>
              <p:cNvPr id="44089" name="Rectangle 57" descr="Wide downward diagonal"/>
              <p:cNvSpPr>
                <a:spLocks noChangeArrowheads="1"/>
              </p:cNvSpPr>
              <p:nvPr/>
            </p:nvSpPr>
            <p:spPr bwMode="auto">
              <a:xfrm>
                <a:off x="1248" y="3648"/>
                <a:ext cx="48" cy="240"/>
              </a:xfrm>
              <a:prstGeom prst="rect">
                <a:avLst/>
              </a:prstGeom>
              <a:pattFill prst="wdDnDiag">
                <a:fgClr>
                  <a:schemeClr val="bg1"/>
                </a:fgClr>
                <a:bgClr>
                  <a:srgbClr val="441671"/>
                </a:bgClr>
              </a:pattFill>
              <a:ln w="28575">
                <a:solidFill>
                  <a:schemeClr val="bg1"/>
                </a:solidFill>
                <a:miter lim="800000"/>
                <a:headEnd/>
                <a:tailEnd/>
              </a:ln>
            </p:spPr>
            <p:txBody>
              <a:bodyPr wrap="none" anchor="ctr">
                <a:prstTxWarp prst="textNoShape">
                  <a:avLst/>
                </a:prstTxWarp>
              </a:bodyPr>
              <a:lstStyle/>
              <a:p>
                <a:endParaRPr lang="en-US" sz="2200"/>
              </a:p>
            </p:txBody>
          </p:sp>
        </p:grpSp>
      </p:grpSp>
      <p:sp>
        <p:nvSpPr>
          <p:cNvPr id="44061" name="Text Box 58"/>
          <p:cNvSpPr txBox="1">
            <a:spLocks noChangeArrowheads="1"/>
          </p:cNvSpPr>
          <p:nvPr/>
        </p:nvSpPr>
        <p:spPr bwMode="auto">
          <a:xfrm>
            <a:off x="2270126" y="5951539"/>
            <a:ext cx="930275" cy="430887"/>
          </a:xfrm>
          <a:prstGeom prst="rect">
            <a:avLst/>
          </a:prstGeom>
          <a:noFill/>
          <a:ln w="6350">
            <a:noFill/>
            <a:miter lim="800000"/>
            <a:headEnd/>
            <a:tailEnd/>
          </a:ln>
        </p:spPr>
        <p:txBody>
          <a:bodyPr>
            <a:prstTxWarp prst="textNoShape">
              <a:avLst/>
            </a:prstTxWarp>
            <a:spAutoFit/>
          </a:bodyPr>
          <a:lstStyle/>
          <a:p>
            <a:endParaRPr lang="en-GB" sz="2200"/>
          </a:p>
        </p:txBody>
      </p:sp>
      <p:sp>
        <p:nvSpPr>
          <p:cNvPr id="44064" name="Text Box 70"/>
          <p:cNvSpPr txBox="1">
            <a:spLocks noChangeArrowheads="1"/>
          </p:cNvSpPr>
          <p:nvPr/>
        </p:nvSpPr>
        <p:spPr bwMode="auto">
          <a:xfrm>
            <a:off x="2133600" y="4876801"/>
            <a:ext cx="764490" cy="430887"/>
          </a:xfrm>
          <a:prstGeom prst="rect">
            <a:avLst/>
          </a:prstGeom>
          <a:noFill/>
          <a:ln w="9525">
            <a:noFill/>
            <a:miter lim="800000"/>
            <a:headEnd/>
            <a:tailEnd/>
          </a:ln>
        </p:spPr>
        <p:txBody>
          <a:bodyPr wrap="none">
            <a:prstTxWarp prst="textNoShape">
              <a:avLst/>
            </a:prstTxWarp>
            <a:spAutoFit/>
          </a:bodyPr>
          <a:lstStyle/>
          <a:p>
            <a:r>
              <a:rPr lang="en-GB" sz="2200" b="1" dirty="0"/>
              <a:t>CLK</a:t>
            </a:r>
          </a:p>
        </p:txBody>
      </p:sp>
      <p:sp>
        <p:nvSpPr>
          <p:cNvPr id="44065" name="Line 71"/>
          <p:cNvSpPr>
            <a:spLocks noChangeShapeType="1"/>
          </p:cNvSpPr>
          <p:nvPr/>
        </p:nvSpPr>
        <p:spPr bwMode="auto">
          <a:xfrm>
            <a:off x="2667000" y="5457825"/>
            <a:ext cx="457200" cy="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74" name="AutoShape 33"/>
          <p:cNvSpPr>
            <a:spLocks/>
          </p:cNvSpPr>
          <p:nvPr/>
        </p:nvSpPr>
        <p:spPr bwMode="auto">
          <a:xfrm flipH="1">
            <a:off x="8464550" y="6096000"/>
            <a:ext cx="908050" cy="304800"/>
          </a:xfrm>
          <a:prstGeom prst="borderCallout1">
            <a:avLst>
              <a:gd name="adj1" fmla="val 37500"/>
              <a:gd name="adj2" fmla="val 111111"/>
              <a:gd name="adj3" fmla="val -171875"/>
              <a:gd name="adj4" fmla="val 140278"/>
            </a:avLst>
          </a:prstGeom>
          <a:gradFill rotWithShape="1">
            <a:gsLst>
              <a:gs pos="0">
                <a:srgbClr val="9933FF"/>
              </a:gs>
              <a:gs pos="100000">
                <a:srgbClr val="471876"/>
              </a:gs>
            </a:gsLst>
            <a:lin ang="5400000" scaled="1"/>
          </a:gradFill>
          <a:ln w="9525">
            <a:solidFill>
              <a:srgbClr val="9933FF"/>
            </a:solidFill>
            <a:miter lim="800000"/>
            <a:headEnd/>
            <a:tailEnd/>
          </a:ln>
        </p:spPr>
        <p:txBody>
          <a:bodyPr anchor="ctr" anchorCtr="1">
            <a:prstTxWarp prst="textNoShape">
              <a:avLst/>
            </a:prstTxWarp>
          </a:bodyPr>
          <a:lstStyle/>
          <a:p>
            <a:r>
              <a:rPr lang="en-GB" sz="2200" dirty="0">
                <a:solidFill>
                  <a:schemeClr val="bg1"/>
                </a:solidFill>
              </a:rPr>
              <a:t>jitter</a:t>
            </a:r>
          </a:p>
        </p:txBody>
      </p:sp>
      <p:sp>
        <p:nvSpPr>
          <p:cNvPr id="31" name="Title 1"/>
          <p:cNvSpPr txBox="1">
            <a:spLocks/>
          </p:cNvSpPr>
          <p:nvPr/>
        </p:nvSpPr>
        <p:spPr>
          <a:xfrm>
            <a:off x="1676400" y="152400"/>
            <a:ext cx="8839200" cy="609600"/>
          </a:xfrm>
          <a:prstGeom prst="rect">
            <a:avLst/>
          </a:prstGeom>
        </p:spPr>
        <p:txBody>
          <a:bodyPr/>
          <a:lstStyle>
            <a:lvl1pPr algn="l" rtl="0" eaLnBrk="1" fontAlgn="base" hangingPunct="1">
              <a:spcBef>
                <a:spcPct val="0"/>
              </a:spcBef>
              <a:spcAft>
                <a:spcPct val="0"/>
              </a:spcAft>
              <a:defRPr sz="3600" b="1" kern="1200">
                <a:solidFill>
                  <a:srgbClr val="002060"/>
                </a:solidFill>
                <a:latin typeface="Calibri" pitchFamily="34" charset="0"/>
                <a:ea typeface="+mj-ea"/>
                <a:cs typeface="Calibri" pitchFamily="34" charset="0"/>
              </a:defRPr>
            </a:lvl1pPr>
            <a:lvl2pPr algn="ctr" rtl="0" eaLnBrk="1" fontAlgn="base" hangingPunct="1">
              <a:spcBef>
                <a:spcPct val="0"/>
              </a:spcBef>
              <a:spcAft>
                <a:spcPct val="0"/>
              </a:spcAft>
              <a:defRPr sz="3600" b="1">
                <a:solidFill>
                  <a:schemeClr val="tx1"/>
                </a:solidFill>
                <a:latin typeface="Trebuchet MS" pitchFamily="34" charset="0"/>
              </a:defRPr>
            </a:lvl2pPr>
            <a:lvl3pPr algn="ctr" rtl="0" eaLnBrk="1" fontAlgn="base" hangingPunct="1">
              <a:spcBef>
                <a:spcPct val="0"/>
              </a:spcBef>
              <a:spcAft>
                <a:spcPct val="0"/>
              </a:spcAft>
              <a:defRPr sz="3600" b="1">
                <a:solidFill>
                  <a:schemeClr val="tx1"/>
                </a:solidFill>
                <a:latin typeface="Trebuchet MS" pitchFamily="34" charset="0"/>
              </a:defRPr>
            </a:lvl3pPr>
            <a:lvl4pPr algn="ctr" rtl="0" eaLnBrk="1" fontAlgn="base" hangingPunct="1">
              <a:spcBef>
                <a:spcPct val="0"/>
              </a:spcBef>
              <a:spcAft>
                <a:spcPct val="0"/>
              </a:spcAft>
              <a:defRPr sz="3600" b="1">
                <a:solidFill>
                  <a:schemeClr val="tx1"/>
                </a:solidFill>
                <a:latin typeface="Trebuchet MS" pitchFamily="34" charset="0"/>
              </a:defRPr>
            </a:lvl4pPr>
            <a:lvl5pPr algn="ctr" rtl="0" eaLnBrk="1" fontAlgn="base" hangingPunct="1">
              <a:spcBef>
                <a:spcPct val="0"/>
              </a:spcBef>
              <a:spcAft>
                <a:spcPct val="0"/>
              </a:spcAft>
              <a:defRPr sz="3600" b="1">
                <a:solidFill>
                  <a:schemeClr val="tx1"/>
                </a:solidFill>
                <a:latin typeface="Trebuchet MS" pitchFamily="34" charset="0"/>
              </a:defRPr>
            </a:lvl5pPr>
            <a:lvl6pPr marL="457200" algn="ctr" rtl="0" eaLnBrk="1" fontAlgn="base" hangingPunct="1">
              <a:spcBef>
                <a:spcPct val="0"/>
              </a:spcBef>
              <a:spcAft>
                <a:spcPct val="0"/>
              </a:spcAft>
              <a:defRPr sz="3600" b="1">
                <a:solidFill>
                  <a:schemeClr val="tx1"/>
                </a:solidFill>
                <a:latin typeface="Trebuchet MS" pitchFamily="34" charset="0"/>
              </a:defRPr>
            </a:lvl6pPr>
            <a:lvl7pPr marL="914400" algn="ctr" rtl="0" eaLnBrk="1" fontAlgn="base" hangingPunct="1">
              <a:spcBef>
                <a:spcPct val="0"/>
              </a:spcBef>
              <a:spcAft>
                <a:spcPct val="0"/>
              </a:spcAft>
              <a:defRPr sz="3600" b="1">
                <a:solidFill>
                  <a:schemeClr val="tx1"/>
                </a:solidFill>
                <a:latin typeface="Trebuchet MS" pitchFamily="34" charset="0"/>
              </a:defRPr>
            </a:lvl7pPr>
            <a:lvl8pPr marL="1371600" algn="ctr" rtl="0" eaLnBrk="1" fontAlgn="base" hangingPunct="1">
              <a:spcBef>
                <a:spcPct val="0"/>
              </a:spcBef>
              <a:spcAft>
                <a:spcPct val="0"/>
              </a:spcAft>
              <a:defRPr sz="3600" b="1">
                <a:solidFill>
                  <a:schemeClr val="tx1"/>
                </a:solidFill>
                <a:latin typeface="Trebuchet MS" pitchFamily="34" charset="0"/>
              </a:defRPr>
            </a:lvl8pPr>
            <a:lvl9pPr marL="1828800" algn="ctr" rtl="0" eaLnBrk="1" fontAlgn="base" hangingPunct="1">
              <a:spcBef>
                <a:spcPct val="0"/>
              </a:spcBef>
              <a:spcAft>
                <a:spcPct val="0"/>
              </a:spcAft>
              <a:defRPr sz="3600" b="1">
                <a:solidFill>
                  <a:schemeClr val="tx1"/>
                </a:solidFill>
                <a:latin typeface="Trebuchet MS" pitchFamily="34" charset="0"/>
              </a:defRPr>
            </a:lvl9pPr>
          </a:lstStyle>
          <a:p>
            <a:r>
              <a:rPr lang="en-US" dirty="0"/>
              <a:t>Margins in Design</a:t>
            </a:r>
          </a:p>
        </p:txBody>
      </p:sp>
    </p:spTree>
    <p:extLst>
      <p:ext uri="{BB962C8B-B14F-4D97-AF65-F5344CB8AC3E}">
        <p14:creationId xmlns:p14="http://schemas.microsoft.com/office/powerpoint/2010/main" val="4244127168"/>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2"/>
          <p:cNvSpPr>
            <a:spLocks noChangeArrowheads="1"/>
          </p:cNvSpPr>
          <p:nvPr/>
        </p:nvSpPr>
        <p:spPr bwMode="auto">
          <a:xfrm>
            <a:off x="7848600" y="4848225"/>
            <a:ext cx="228600" cy="609600"/>
          </a:xfrm>
          <a:prstGeom prst="rect">
            <a:avLst/>
          </a:prstGeom>
          <a:solidFill>
            <a:srgbClr val="0000FF"/>
          </a:solidFill>
          <a:ln w="9525">
            <a:noFill/>
            <a:miter lim="800000"/>
            <a:headEnd/>
            <a:tailEnd/>
          </a:ln>
        </p:spPr>
        <p:txBody>
          <a:bodyPr wrap="none" anchor="ctr">
            <a:prstTxWarp prst="textNoShape">
              <a:avLst/>
            </a:prstTxWarp>
          </a:bodyPr>
          <a:lstStyle/>
          <a:p>
            <a:endParaRPr lang="en-US" sz="2200"/>
          </a:p>
        </p:txBody>
      </p:sp>
      <p:sp>
        <p:nvSpPr>
          <p:cNvPr id="327684" name="Rectangle 4"/>
          <p:cNvSpPr>
            <a:spLocks noChangeArrowheads="1"/>
          </p:cNvSpPr>
          <p:nvPr/>
        </p:nvSpPr>
        <p:spPr bwMode="auto">
          <a:xfrm>
            <a:off x="8077200" y="4848225"/>
            <a:ext cx="76200" cy="609600"/>
          </a:xfrm>
          <a:prstGeom prst="rect">
            <a:avLst/>
          </a:prstGeom>
          <a:solidFill>
            <a:srgbClr val="9933FF"/>
          </a:solidFill>
          <a:ln w="9525">
            <a:noFill/>
            <a:miter lim="800000"/>
            <a:headEnd/>
            <a:tailEnd/>
          </a:ln>
        </p:spPr>
        <p:txBody>
          <a:bodyPr wrap="none" anchor="ctr">
            <a:prstTxWarp prst="textNoShape">
              <a:avLst/>
            </a:prstTxWarp>
          </a:bodyPr>
          <a:lstStyle/>
          <a:p>
            <a:endParaRPr lang="en-US" sz="2200"/>
          </a:p>
        </p:txBody>
      </p:sp>
      <p:sp>
        <p:nvSpPr>
          <p:cNvPr id="44043" name="Line 26"/>
          <p:cNvSpPr>
            <a:spLocks noChangeShapeType="1"/>
          </p:cNvSpPr>
          <p:nvPr/>
        </p:nvSpPr>
        <p:spPr bwMode="auto">
          <a:xfrm flipV="1">
            <a:off x="3124200" y="4848225"/>
            <a:ext cx="0" cy="60960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4" name="Line 27"/>
          <p:cNvSpPr>
            <a:spLocks noChangeShapeType="1"/>
          </p:cNvSpPr>
          <p:nvPr/>
        </p:nvSpPr>
        <p:spPr bwMode="auto">
          <a:xfrm>
            <a:off x="3124200" y="4848225"/>
            <a:ext cx="2438400" cy="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5" name="Line 28"/>
          <p:cNvSpPr>
            <a:spLocks noChangeShapeType="1"/>
          </p:cNvSpPr>
          <p:nvPr/>
        </p:nvSpPr>
        <p:spPr bwMode="auto">
          <a:xfrm>
            <a:off x="8229600" y="4848225"/>
            <a:ext cx="0" cy="60960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6" name="Line 29"/>
          <p:cNvSpPr>
            <a:spLocks noChangeShapeType="1"/>
          </p:cNvSpPr>
          <p:nvPr/>
        </p:nvSpPr>
        <p:spPr bwMode="auto">
          <a:xfrm>
            <a:off x="5562600" y="5457825"/>
            <a:ext cx="2667000" cy="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7" name="Line 30"/>
          <p:cNvSpPr>
            <a:spLocks noChangeShapeType="1"/>
          </p:cNvSpPr>
          <p:nvPr/>
        </p:nvSpPr>
        <p:spPr bwMode="auto">
          <a:xfrm flipV="1">
            <a:off x="5562600" y="4848225"/>
            <a:ext cx="0" cy="60960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8" name="Line 31"/>
          <p:cNvSpPr>
            <a:spLocks noChangeShapeType="1"/>
          </p:cNvSpPr>
          <p:nvPr/>
        </p:nvSpPr>
        <p:spPr bwMode="auto">
          <a:xfrm>
            <a:off x="8229600" y="4848225"/>
            <a:ext cx="1524000" cy="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327713" name="AutoShape 33"/>
          <p:cNvSpPr>
            <a:spLocks/>
          </p:cNvSpPr>
          <p:nvPr/>
        </p:nvSpPr>
        <p:spPr bwMode="auto">
          <a:xfrm flipH="1">
            <a:off x="8464550" y="6096000"/>
            <a:ext cx="908050" cy="304800"/>
          </a:xfrm>
          <a:prstGeom prst="borderCallout1">
            <a:avLst>
              <a:gd name="adj1" fmla="val 37500"/>
              <a:gd name="adj2" fmla="val 111111"/>
              <a:gd name="adj3" fmla="val -171875"/>
              <a:gd name="adj4" fmla="val 140278"/>
            </a:avLst>
          </a:prstGeom>
          <a:gradFill rotWithShape="1">
            <a:gsLst>
              <a:gs pos="0">
                <a:srgbClr val="9933FF"/>
              </a:gs>
              <a:gs pos="100000">
                <a:srgbClr val="471876"/>
              </a:gs>
            </a:gsLst>
            <a:lin ang="5400000" scaled="1"/>
          </a:gradFill>
          <a:ln w="9525">
            <a:solidFill>
              <a:srgbClr val="9933FF"/>
            </a:solidFill>
            <a:miter lim="800000"/>
            <a:headEnd/>
            <a:tailEnd/>
          </a:ln>
        </p:spPr>
        <p:txBody>
          <a:bodyPr anchor="ctr" anchorCtr="1">
            <a:prstTxWarp prst="textNoShape">
              <a:avLst/>
            </a:prstTxWarp>
          </a:bodyPr>
          <a:lstStyle/>
          <a:p>
            <a:r>
              <a:rPr lang="en-GB" sz="2200" dirty="0">
                <a:solidFill>
                  <a:schemeClr val="bg1"/>
                </a:solidFill>
              </a:rPr>
              <a:t>jitter</a:t>
            </a:r>
          </a:p>
        </p:txBody>
      </p:sp>
      <p:sp>
        <p:nvSpPr>
          <p:cNvPr id="327714" name="AutoShape 34"/>
          <p:cNvSpPr>
            <a:spLocks/>
          </p:cNvSpPr>
          <p:nvPr/>
        </p:nvSpPr>
        <p:spPr bwMode="auto">
          <a:xfrm>
            <a:off x="6705601" y="6078538"/>
            <a:ext cx="1271587" cy="322262"/>
          </a:xfrm>
          <a:prstGeom prst="borderCallout1">
            <a:avLst>
              <a:gd name="adj1" fmla="val -9791"/>
              <a:gd name="adj2" fmla="val 63739"/>
              <a:gd name="adj3" fmla="val -197829"/>
              <a:gd name="adj4" fmla="val 92261"/>
            </a:avLst>
          </a:prstGeom>
          <a:gradFill rotWithShape="1">
            <a:gsLst>
              <a:gs pos="0">
                <a:srgbClr val="0000FF"/>
              </a:gs>
              <a:gs pos="100000">
                <a:srgbClr val="3939FF"/>
              </a:gs>
            </a:gsLst>
            <a:lin ang="5400000" scaled="1"/>
          </a:gradFill>
          <a:ln w="9525">
            <a:solidFill>
              <a:srgbClr val="0000FF"/>
            </a:solidFill>
            <a:miter lim="800000"/>
            <a:headEnd/>
            <a:tailEnd/>
          </a:ln>
        </p:spPr>
        <p:txBody>
          <a:bodyPr anchor="ctr" anchorCtr="1">
            <a:prstTxWarp prst="textNoShape">
              <a:avLst/>
            </a:prstTxWarp>
          </a:bodyPr>
          <a:lstStyle/>
          <a:p>
            <a:r>
              <a:rPr lang="en-GB" sz="2200" dirty="0">
                <a:solidFill>
                  <a:schemeClr val="bg1"/>
                </a:solidFill>
              </a:rPr>
              <a:t>coupling</a:t>
            </a:r>
          </a:p>
        </p:txBody>
      </p:sp>
      <p:sp>
        <p:nvSpPr>
          <p:cNvPr id="44055" name="Line 38"/>
          <p:cNvSpPr>
            <a:spLocks noChangeShapeType="1"/>
          </p:cNvSpPr>
          <p:nvPr/>
        </p:nvSpPr>
        <p:spPr bwMode="auto">
          <a:xfrm>
            <a:off x="8134350" y="3429000"/>
            <a:ext cx="0" cy="0"/>
          </a:xfrm>
          <a:prstGeom prst="line">
            <a:avLst/>
          </a:prstGeom>
          <a:noFill/>
          <a:ln w="6350">
            <a:noFill/>
            <a:round/>
            <a:headEnd/>
            <a:tailEnd/>
          </a:ln>
        </p:spPr>
        <p:txBody>
          <a:bodyPr wrap="none" anchor="ctr">
            <a:prstTxWarp prst="textNoShape">
              <a:avLst/>
            </a:prstTxWarp>
          </a:bodyPr>
          <a:lstStyle/>
          <a:p>
            <a:endParaRPr lang="en-US" sz="2200"/>
          </a:p>
        </p:txBody>
      </p:sp>
      <p:sp>
        <p:nvSpPr>
          <p:cNvPr id="44056" name="Line 39"/>
          <p:cNvSpPr>
            <a:spLocks noChangeShapeType="1"/>
          </p:cNvSpPr>
          <p:nvPr/>
        </p:nvSpPr>
        <p:spPr bwMode="auto">
          <a:xfrm>
            <a:off x="8305800" y="3429000"/>
            <a:ext cx="228600" cy="0"/>
          </a:xfrm>
          <a:prstGeom prst="line">
            <a:avLst/>
          </a:prstGeom>
          <a:noFill/>
          <a:ln w="6350">
            <a:noFill/>
            <a:round/>
            <a:headEnd/>
            <a:tailEnd/>
          </a:ln>
        </p:spPr>
        <p:txBody>
          <a:bodyPr wrap="none" anchor="ctr">
            <a:prstTxWarp prst="textNoShape">
              <a:avLst/>
            </a:prstTxWarp>
          </a:bodyPr>
          <a:lstStyle/>
          <a:p>
            <a:endParaRPr lang="en-US" sz="2200"/>
          </a:p>
        </p:txBody>
      </p:sp>
      <p:sp>
        <p:nvSpPr>
          <p:cNvPr id="44057" name="Line 40"/>
          <p:cNvSpPr>
            <a:spLocks noChangeShapeType="1"/>
          </p:cNvSpPr>
          <p:nvPr/>
        </p:nvSpPr>
        <p:spPr bwMode="auto">
          <a:xfrm flipV="1">
            <a:off x="8534400" y="3429000"/>
            <a:ext cx="76200" cy="0"/>
          </a:xfrm>
          <a:prstGeom prst="line">
            <a:avLst/>
          </a:prstGeom>
          <a:noFill/>
          <a:ln w="6350">
            <a:noFill/>
            <a:round/>
            <a:headEnd/>
            <a:tailEnd/>
          </a:ln>
        </p:spPr>
        <p:txBody>
          <a:bodyPr wrap="none" anchor="ctr">
            <a:prstTxWarp prst="textNoShape">
              <a:avLst/>
            </a:prstTxWarp>
          </a:bodyPr>
          <a:lstStyle/>
          <a:p>
            <a:endParaRPr lang="en-US" sz="2200"/>
          </a:p>
        </p:txBody>
      </p:sp>
      <p:sp>
        <p:nvSpPr>
          <p:cNvPr id="44058" name="Line 41"/>
          <p:cNvSpPr>
            <a:spLocks noChangeShapeType="1"/>
          </p:cNvSpPr>
          <p:nvPr/>
        </p:nvSpPr>
        <p:spPr bwMode="auto">
          <a:xfrm flipV="1">
            <a:off x="2362200" y="4772025"/>
            <a:ext cx="0" cy="304800"/>
          </a:xfrm>
          <a:prstGeom prst="line">
            <a:avLst/>
          </a:prstGeom>
          <a:noFill/>
          <a:ln w="6350">
            <a:noFill/>
            <a:round/>
            <a:headEnd/>
            <a:tailEnd/>
          </a:ln>
        </p:spPr>
        <p:txBody>
          <a:bodyPr wrap="none" anchor="ctr">
            <a:prstTxWarp prst="textNoShape">
              <a:avLst/>
            </a:prstTxWarp>
          </a:bodyPr>
          <a:lstStyle/>
          <a:p>
            <a:endParaRPr lang="en-US" sz="2200"/>
          </a:p>
        </p:txBody>
      </p:sp>
      <p:sp>
        <p:nvSpPr>
          <p:cNvPr id="44061" name="Text Box 58"/>
          <p:cNvSpPr txBox="1">
            <a:spLocks noChangeArrowheads="1"/>
          </p:cNvSpPr>
          <p:nvPr/>
        </p:nvSpPr>
        <p:spPr bwMode="auto">
          <a:xfrm>
            <a:off x="2270126" y="5951539"/>
            <a:ext cx="930275" cy="430887"/>
          </a:xfrm>
          <a:prstGeom prst="rect">
            <a:avLst/>
          </a:prstGeom>
          <a:noFill/>
          <a:ln w="6350">
            <a:noFill/>
            <a:miter lim="800000"/>
            <a:headEnd/>
            <a:tailEnd/>
          </a:ln>
        </p:spPr>
        <p:txBody>
          <a:bodyPr>
            <a:prstTxWarp prst="textNoShape">
              <a:avLst/>
            </a:prstTxWarp>
            <a:spAutoFit/>
          </a:bodyPr>
          <a:lstStyle/>
          <a:p>
            <a:endParaRPr lang="en-GB" sz="2200"/>
          </a:p>
        </p:txBody>
      </p:sp>
      <p:sp>
        <p:nvSpPr>
          <p:cNvPr id="44064" name="Text Box 70"/>
          <p:cNvSpPr txBox="1">
            <a:spLocks noChangeArrowheads="1"/>
          </p:cNvSpPr>
          <p:nvPr/>
        </p:nvSpPr>
        <p:spPr bwMode="auto">
          <a:xfrm>
            <a:off x="2133600" y="4876801"/>
            <a:ext cx="764490" cy="430887"/>
          </a:xfrm>
          <a:prstGeom prst="rect">
            <a:avLst/>
          </a:prstGeom>
          <a:noFill/>
          <a:ln w="9525">
            <a:noFill/>
            <a:miter lim="800000"/>
            <a:headEnd/>
            <a:tailEnd/>
          </a:ln>
        </p:spPr>
        <p:txBody>
          <a:bodyPr wrap="none">
            <a:prstTxWarp prst="textNoShape">
              <a:avLst/>
            </a:prstTxWarp>
            <a:spAutoFit/>
          </a:bodyPr>
          <a:lstStyle/>
          <a:p>
            <a:r>
              <a:rPr lang="en-GB" sz="2200" b="1" dirty="0"/>
              <a:t>CLK</a:t>
            </a:r>
          </a:p>
        </p:txBody>
      </p:sp>
      <p:sp>
        <p:nvSpPr>
          <p:cNvPr id="44065" name="Line 71"/>
          <p:cNvSpPr>
            <a:spLocks noChangeShapeType="1"/>
          </p:cNvSpPr>
          <p:nvPr/>
        </p:nvSpPr>
        <p:spPr bwMode="auto">
          <a:xfrm>
            <a:off x="2667000" y="5457825"/>
            <a:ext cx="457200" cy="0"/>
          </a:xfrm>
          <a:prstGeom prst="line">
            <a:avLst/>
          </a:prstGeom>
          <a:noFill/>
          <a:ln w="38100">
            <a:solidFill>
              <a:schemeClr val="tx1"/>
            </a:solidFill>
            <a:round/>
            <a:headEnd/>
            <a:tailEnd/>
          </a:ln>
        </p:spPr>
        <p:txBody>
          <a:bodyPr>
            <a:prstTxWarp prst="textNoShape">
              <a:avLst/>
            </a:prstTxWarp>
          </a:bodyPr>
          <a:lstStyle/>
          <a:p>
            <a:endParaRPr lang="en-US" sz="2200"/>
          </a:p>
        </p:txBody>
      </p:sp>
      <p:grpSp>
        <p:nvGrpSpPr>
          <p:cNvPr id="13" name="Group 8"/>
          <p:cNvGrpSpPr>
            <a:grpSpLocks/>
          </p:cNvGrpSpPr>
          <p:nvPr/>
        </p:nvGrpSpPr>
        <p:grpSpPr bwMode="auto">
          <a:xfrm>
            <a:off x="3125789" y="914400"/>
            <a:ext cx="5180013" cy="3429000"/>
            <a:chOff x="721" y="-192"/>
            <a:chExt cx="3263" cy="2160"/>
          </a:xfrm>
        </p:grpSpPr>
        <p:sp>
          <p:nvSpPr>
            <p:cNvPr id="44067" name="AutoShape 9"/>
            <p:cNvSpPr>
              <a:spLocks noChangeArrowheads="1"/>
            </p:cNvSpPr>
            <p:nvPr/>
          </p:nvSpPr>
          <p:spPr bwMode="auto">
            <a:xfrm>
              <a:off x="721" y="-192"/>
              <a:ext cx="3263" cy="2064"/>
            </a:xfrm>
            <a:prstGeom prst="roundRect">
              <a:avLst>
                <a:gd name="adj" fmla="val 16667"/>
              </a:avLst>
            </a:prstGeom>
            <a:gradFill rotWithShape="1">
              <a:gsLst>
                <a:gs pos="0">
                  <a:srgbClr val="3333FF"/>
                </a:gs>
                <a:gs pos="100000">
                  <a:srgbClr val="7D7DFF"/>
                </a:gs>
              </a:gsLst>
              <a:lin ang="5400000" scaled="1"/>
            </a:gradFill>
            <a:ln w="6350">
              <a:solidFill>
                <a:schemeClr val="tx1"/>
              </a:solidFill>
              <a:round/>
              <a:headEnd/>
              <a:tailEnd/>
            </a:ln>
          </p:spPr>
          <p:txBody>
            <a:bodyPr wrap="none" anchor="ctr">
              <a:prstTxWarp prst="textNoShape">
                <a:avLst/>
              </a:prstTxWarp>
            </a:bodyPr>
            <a:lstStyle/>
            <a:p>
              <a:endParaRPr lang="en-US" sz="2200"/>
            </a:p>
          </p:txBody>
        </p:sp>
        <p:graphicFrame>
          <p:nvGraphicFramePr>
            <p:cNvPr id="44034" name="Object 2"/>
            <p:cNvGraphicFramePr>
              <a:graphicFrameLocks noChangeAspect="1"/>
            </p:cNvGraphicFramePr>
            <p:nvPr/>
          </p:nvGraphicFramePr>
          <p:xfrm>
            <a:off x="1488" y="354"/>
            <a:ext cx="1962" cy="1614"/>
          </p:xfrm>
          <a:graphic>
            <a:graphicData uri="http://schemas.openxmlformats.org/presentationml/2006/ole">
              <mc:AlternateContent xmlns:mc="http://schemas.openxmlformats.org/markup-compatibility/2006">
                <mc:Choice xmlns:v="urn:schemas-microsoft-com:vml" Requires="v">
                  <p:oleObj name="Visio" r:id="rId3" imgW="3860800" imgH="3187700" progId="">
                    <p:embed/>
                  </p:oleObj>
                </mc:Choice>
                <mc:Fallback>
                  <p:oleObj name="Visio" r:id="rId3" imgW="3860800" imgH="3187700" progId="">
                    <p:embed/>
                    <p:pic>
                      <p:nvPicPr>
                        <p:cNvPr id="4403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8" y="354"/>
                          <a:ext cx="1962" cy="1614"/>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pSp>
      <p:sp>
        <p:nvSpPr>
          <p:cNvPr id="72" name="Text Box 10"/>
          <p:cNvSpPr txBox="1">
            <a:spLocks noChangeArrowheads="1"/>
          </p:cNvSpPr>
          <p:nvPr/>
        </p:nvSpPr>
        <p:spPr bwMode="auto">
          <a:xfrm>
            <a:off x="3581400" y="1050926"/>
            <a:ext cx="4572000" cy="3140075"/>
          </a:xfrm>
          <a:prstGeom prst="rect">
            <a:avLst/>
          </a:prstGeom>
          <a:noFill/>
          <a:ln w="6350">
            <a:noFill/>
            <a:miter lim="800000"/>
            <a:headEnd/>
            <a:tailEnd/>
          </a:ln>
        </p:spPr>
        <p:txBody>
          <a:bodyPr wrap="square">
            <a:prstTxWarp prst="textNoShape">
              <a:avLst/>
            </a:prstTxWarp>
            <a:spAutoFit/>
          </a:bodyPr>
          <a:lstStyle/>
          <a:p>
            <a:r>
              <a:rPr lang="en-GB" sz="2200" dirty="0">
                <a:solidFill>
                  <a:schemeClr val="bg1"/>
                </a:solidFill>
              </a:rPr>
              <a:t>       COUPLING NOISE</a:t>
            </a:r>
          </a:p>
          <a:p>
            <a:endParaRPr lang="en-GB" sz="2200" dirty="0">
              <a:solidFill>
                <a:schemeClr val="bg1"/>
              </a:solidFill>
            </a:endParaRPr>
          </a:p>
          <a:p>
            <a:endParaRPr lang="en-GB" sz="2200" dirty="0">
              <a:solidFill>
                <a:schemeClr val="bg1"/>
              </a:solidFill>
            </a:endParaRPr>
          </a:p>
          <a:p>
            <a:endParaRPr lang="en-GB" sz="2200" dirty="0">
              <a:solidFill>
                <a:schemeClr val="bg1"/>
              </a:solidFill>
            </a:endParaRPr>
          </a:p>
          <a:p>
            <a:endParaRPr lang="en-GB" sz="2200" dirty="0">
              <a:solidFill>
                <a:schemeClr val="bg1"/>
              </a:solidFill>
            </a:endParaRPr>
          </a:p>
          <a:p>
            <a:endParaRPr lang="en-GB" sz="2200" dirty="0">
              <a:solidFill>
                <a:schemeClr val="bg1"/>
              </a:solidFill>
            </a:endParaRPr>
          </a:p>
          <a:p>
            <a:pPr>
              <a:buFont typeface="Wingdings" pitchFamily="-107" charset="2"/>
              <a:buChar char="§"/>
            </a:pPr>
            <a:r>
              <a:rPr lang="en-GB" sz="2200" dirty="0">
                <a:solidFill>
                  <a:schemeClr val="bg1"/>
                </a:solidFill>
              </a:rPr>
              <a:t> capacitive coupling between nets</a:t>
            </a:r>
          </a:p>
          <a:p>
            <a:pPr>
              <a:buFont typeface="Wingdings" pitchFamily="-107" charset="2"/>
              <a:buChar char="§"/>
            </a:pPr>
            <a:r>
              <a:rPr lang="en-GB" sz="2200" dirty="0">
                <a:solidFill>
                  <a:schemeClr val="bg1"/>
                </a:solidFill>
              </a:rPr>
              <a:t> victim &amp; aggressor both switch</a:t>
            </a:r>
          </a:p>
          <a:p>
            <a:endParaRPr lang="en-GB" sz="2200" dirty="0"/>
          </a:p>
        </p:txBody>
      </p:sp>
      <p:sp>
        <p:nvSpPr>
          <p:cNvPr id="24" name="Title 1"/>
          <p:cNvSpPr txBox="1">
            <a:spLocks/>
          </p:cNvSpPr>
          <p:nvPr/>
        </p:nvSpPr>
        <p:spPr>
          <a:xfrm>
            <a:off x="1676400" y="152400"/>
            <a:ext cx="8839200" cy="609600"/>
          </a:xfrm>
          <a:prstGeom prst="rect">
            <a:avLst/>
          </a:prstGeom>
        </p:spPr>
        <p:txBody>
          <a:bodyPr/>
          <a:lstStyle>
            <a:lvl1pPr algn="l" rtl="0" eaLnBrk="1" fontAlgn="base" hangingPunct="1">
              <a:spcBef>
                <a:spcPct val="0"/>
              </a:spcBef>
              <a:spcAft>
                <a:spcPct val="0"/>
              </a:spcAft>
              <a:defRPr sz="3600" b="1" kern="1200">
                <a:solidFill>
                  <a:srgbClr val="002060"/>
                </a:solidFill>
                <a:latin typeface="Calibri" pitchFamily="34" charset="0"/>
                <a:ea typeface="+mj-ea"/>
                <a:cs typeface="Calibri" pitchFamily="34" charset="0"/>
              </a:defRPr>
            </a:lvl1pPr>
            <a:lvl2pPr algn="ctr" rtl="0" eaLnBrk="1" fontAlgn="base" hangingPunct="1">
              <a:spcBef>
                <a:spcPct val="0"/>
              </a:spcBef>
              <a:spcAft>
                <a:spcPct val="0"/>
              </a:spcAft>
              <a:defRPr sz="3600" b="1">
                <a:solidFill>
                  <a:schemeClr val="tx1"/>
                </a:solidFill>
                <a:latin typeface="Trebuchet MS" pitchFamily="34" charset="0"/>
              </a:defRPr>
            </a:lvl2pPr>
            <a:lvl3pPr algn="ctr" rtl="0" eaLnBrk="1" fontAlgn="base" hangingPunct="1">
              <a:spcBef>
                <a:spcPct val="0"/>
              </a:spcBef>
              <a:spcAft>
                <a:spcPct val="0"/>
              </a:spcAft>
              <a:defRPr sz="3600" b="1">
                <a:solidFill>
                  <a:schemeClr val="tx1"/>
                </a:solidFill>
                <a:latin typeface="Trebuchet MS" pitchFamily="34" charset="0"/>
              </a:defRPr>
            </a:lvl3pPr>
            <a:lvl4pPr algn="ctr" rtl="0" eaLnBrk="1" fontAlgn="base" hangingPunct="1">
              <a:spcBef>
                <a:spcPct val="0"/>
              </a:spcBef>
              <a:spcAft>
                <a:spcPct val="0"/>
              </a:spcAft>
              <a:defRPr sz="3600" b="1">
                <a:solidFill>
                  <a:schemeClr val="tx1"/>
                </a:solidFill>
                <a:latin typeface="Trebuchet MS" pitchFamily="34" charset="0"/>
              </a:defRPr>
            </a:lvl4pPr>
            <a:lvl5pPr algn="ctr" rtl="0" eaLnBrk="1" fontAlgn="base" hangingPunct="1">
              <a:spcBef>
                <a:spcPct val="0"/>
              </a:spcBef>
              <a:spcAft>
                <a:spcPct val="0"/>
              </a:spcAft>
              <a:defRPr sz="3600" b="1">
                <a:solidFill>
                  <a:schemeClr val="tx1"/>
                </a:solidFill>
                <a:latin typeface="Trebuchet MS" pitchFamily="34" charset="0"/>
              </a:defRPr>
            </a:lvl5pPr>
            <a:lvl6pPr marL="457200" algn="ctr" rtl="0" eaLnBrk="1" fontAlgn="base" hangingPunct="1">
              <a:spcBef>
                <a:spcPct val="0"/>
              </a:spcBef>
              <a:spcAft>
                <a:spcPct val="0"/>
              </a:spcAft>
              <a:defRPr sz="3600" b="1">
                <a:solidFill>
                  <a:schemeClr val="tx1"/>
                </a:solidFill>
                <a:latin typeface="Trebuchet MS" pitchFamily="34" charset="0"/>
              </a:defRPr>
            </a:lvl6pPr>
            <a:lvl7pPr marL="914400" algn="ctr" rtl="0" eaLnBrk="1" fontAlgn="base" hangingPunct="1">
              <a:spcBef>
                <a:spcPct val="0"/>
              </a:spcBef>
              <a:spcAft>
                <a:spcPct val="0"/>
              </a:spcAft>
              <a:defRPr sz="3600" b="1">
                <a:solidFill>
                  <a:schemeClr val="tx1"/>
                </a:solidFill>
                <a:latin typeface="Trebuchet MS" pitchFamily="34" charset="0"/>
              </a:defRPr>
            </a:lvl7pPr>
            <a:lvl8pPr marL="1371600" algn="ctr" rtl="0" eaLnBrk="1" fontAlgn="base" hangingPunct="1">
              <a:spcBef>
                <a:spcPct val="0"/>
              </a:spcBef>
              <a:spcAft>
                <a:spcPct val="0"/>
              </a:spcAft>
              <a:defRPr sz="3600" b="1">
                <a:solidFill>
                  <a:schemeClr val="tx1"/>
                </a:solidFill>
                <a:latin typeface="Trebuchet MS" pitchFamily="34" charset="0"/>
              </a:defRPr>
            </a:lvl8pPr>
            <a:lvl9pPr marL="1828800" algn="ctr" rtl="0" eaLnBrk="1" fontAlgn="base" hangingPunct="1">
              <a:spcBef>
                <a:spcPct val="0"/>
              </a:spcBef>
              <a:spcAft>
                <a:spcPct val="0"/>
              </a:spcAft>
              <a:defRPr sz="3600" b="1">
                <a:solidFill>
                  <a:schemeClr val="tx1"/>
                </a:solidFill>
                <a:latin typeface="Trebuchet MS" pitchFamily="34" charset="0"/>
              </a:defRPr>
            </a:lvl9pPr>
          </a:lstStyle>
          <a:p>
            <a:r>
              <a:rPr lang="en-US" dirty="0"/>
              <a:t>Margins in Design</a:t>
            </a:r>
          </a:p>
        </p:txBody>
      </p:sp>
    </p:spTree>
    <p:extLst>
      <p:ext uri="{BB962C8B-B14F-4D97-AF65-F5344CB8AC3E}">
        <p14:creationId xmlns:p14="http://schemas.microsoft.com/office/powerpoint/2010/main" val="2714052008"/>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2"/>
          <p:cNvSpPr>
            <a:spLocks noChangeArrowheads="1"/>
          </p:cNvSpPr>
          <p:nvPr/>
        </p:nvSpPr>
        <p:spPr bwMode="auto">
          <a:xfrm>
            <a:off x="7848600" y="4848225"/>
            <a:ext cx="228600" cy="609600"/>
          </a:xfrm>
          <a:prstGeom prst="rect">
            <a:avLst/>
          </a:prstGeom>
          <a:solidFill>
            <a:srgbClr val="0000FF"/>
          </a:solidFill>
          <a:ln w="9525">
            <a:noFill/>
            <a:miter lim="800000"/>
            <a:headEnd/>
            <a:tailEnd/>
          </a:ln>
        </p:spPr>
        <p:txBody>
          <a:bodyPr wrap="none" anchor="ctr">
            <a:prstTxWarp prst="textNoShape">
              <a:avLst/>
            </a:prstTxWarp>
          </a:bodyPr>
          <a:lstStyle/>
          <a:p>
            <a:endParaRPr lang="en-US" sz="2200"/>
          </a:p>
        </p:txBody>
      </p:sp>
      <p:sp>
        <p:nvSpPr>
          <p:cNvPr id="327683" name="Rectangle 3"/>
          <p:cNvSpPr>
            <a:spLocks noChangeArrowheads="1"/>
          </p:cNvSpPr>
          <p:nvPr/>
        </p:nvSpPr>
        <p:spPr bwMode="auto">
          <a:xfrm>
            <a:off x="7772400" y="4848225"/>
            <a:ext cx="76200" cy="609600"/>
          </a:xfrm>
          <a:prstGeom prst="rect">
            <a:avLst/>
          </a:prstGeom>
          <a:solidFill>
            <a:srgbClr val="339966"/>
          </a:solidFill>
          <a:ln w="9525">
            <a:noFill/>
            <a:miter lim="800000"/>
            <a:headEnd/>
            <a:tailEnd/>
          </a:ln>
        </p:spPr>
        <p:txBody>
          <a:bodyPr wrap="none" anchor="ctr">
            <a:prstTxWarp prst="textNoShape">
              <a:avLst/>
            </a:prstTxWarp>
          </a:bodyPr>
          <a:lstStyle/>
          <a:p>
            <a:endParaRPr lang="en-US" sz="2200"/>
          </a:p>
        </p:txBody>
      </p:sp>
      <p:sp>
        <p:nvSpPr>
          <p:cNvPr id="327684" name="Rectangle 4"/>
          <p:cNvSpPr>
            <a:spLocks noChangeArrowheads="1"/>
          </p:cNvSpPr>
          <p:nvPr/>
        </p:nvSpPr>
        <p:spPr bwMode="auto">
          <a:xfrm>
            <a:off x="8077200" y="4848225"/>
            <a:ext cx="76200" cy="609600"/>
          </a:xfrm>
          <a:prstGeom prst="rect">
            <a:avLst/>
          </a:prstGeom>
          <a:solidFill>
            <a:srgbClr val="9933FF"/>
          </a:solidFill>
          <a:ln w="9525">
            <a:noFill/>
            <a:miter lim="800000"/>
            <a:headEnd/>
            <a:tailEnd/>
          </a:ln>
        </p:spPr>
        <p:txBody>
          <a:bodyPr wrap="none" anchor="ctr">
            <a:prstTxWarp prst="textNoShape">
              <a:avLst/>
            </a:prstTxWarp>
          </a:bodyPr>
          <a:lstStyle/>
          <a:p>
            <a:endParaRPr lang="en-US" sz="2200"/>
          </a:p>
        </p:txBody>
      </p:sp>
      <p:sp>
        <p:nvSpPr>
          <p:cNvPr id="44043" name="Line 26"/>
          <p:cNvSpPr>
            <a:spLocks noChangeShapeType="1"/>
          </p:cNvSpPr>
          <p:nvPr/>
        </p:nvSpPr>
        <p:spPr bwMode="auto">
          <a:xfrm flipV="1">
            <a:off x="3124200" y="4848225"/>
            <a:ext cx="0" cy="60960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4" name="Line 27"/>
          <p:cNvSpPr>
            <a:spLocks noChangeShapeType="1"/>
          </p:cNvSpPr>
          <p:nvPr/>
        </p:nvSpPr>
        <p:spPr bwMode="auto">
          <a:xfrm>
            <a:off x="3124200" y="4848225"/>
            <a:ext cx="2438400" cy="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5" name="Line 28"/>
          <p:cNvSpPr>
            <a:spLocks noChangeShapeType="1"/>
          </p:cNvSpPr>
          <p:nvPr/>
        </p:nvSpPr>
        <p:spPr bwMode="auto">
          <a:xfrm>
            <a:off x="8229600" y="4848225"/>
            <a:ext cx="0" cy="60960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6" name="Line 29"/>
          <p:cNvSpPr>
            <a:spLocks noChangeShapeType="1"/>
          </p:cNvSpPr>
          <p:nvPr/>
        </p:nvSpPr>
        <p:spPr bwMode="auto">
          <a:xfrm>
            <a:off x="5562600" y="5457825"/>
            <a:ext cx="2667000" cy="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7" name="Line 30"/>
          <p:cNvSpPr>
            <a:spLocks noChangeShapeType="1"/>
          </p:cNvSpPr>
          <p:nvPr/>
        </p:nvSpPr>
        <p:spPr bwMode="auto">
          <a:xfrm flipV="1">
            <a:off x="5562600" y="4848225"/>
            <a:ext cx="0" cy="60960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8" name="Line 31"/>
          <p:cNvSpPr>
            <a:spLocks noChangeShapeType="1"/>
          </p:cNvSpPr>
          <p:nvPr/>
        </p:nvSpPr>
        <p:spPr bwMode="auto">
          <a:xfrm>
            <a:off x="8229600" y="4848225"/>
            <a:ext cx="1524000" cy="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327715" name="AutoShape 35"/>
          <p:cNvSpPr>
            <a:spLocks/>
          </p:cNvSpPr>
          <p:nvPr/>
        </p:nvSpPr>
        <p:spPr bwMode="auto">
          <a:xfrm>
            <a:off x="5486400" y="5943600"/>
            <a:ext cx="947738" cy="323850"/>
          </a:xfrm>
          <a:prstGeom prst="borderCallout1">
            <a:avLst>
              <a:gd name="adj1" fmla="val 37500"/>
              <a:gd name="adj2" fmla="val 111111"/>
              <a:gd name="adj3" fmla="val -173958"/>
              <a:gd name="adj4" fmla="val 238889"/>
            </a:avLst>
          </a:prstGeom>
          <a:gradFill rotWithShape="1">
            <a:gsLst>
              <a:gs pos="0">
                <a:srgbClr val="55AA55"/>
              </a:gs>
              <a:gs pos="100000">
                <a:srgbClr val="008000"/>
              </a:gs>
            </a:gsLst>
            <a:lin ang="5400000" scaled="1"/>
          </a:gradFill>
          <a:ln w="9525">
            <a:solidFill>
              <a:srgbClr val="008000"/>
            </a:solidFill>
            <a:miter lim="800000"/>
            <a:headEnd/>
            <a:tailEnd/>
          </a:ln>
        </p:spPr>
        <p:txBody>
          <a:bodyPr anchor="ctr" anchorCtr="1">
            <a:prstTxWarp prst="textNoShape">
              <a:avLst/>
            </a:prstTxWarp>
          </a:bodyPr>
          <a:lstStyle/>
          <a:p>
            <a:r>
              <a:rPr lang="en-GB" sz="2200" dirty="0">
                <a:solidFill>
                  <a:schemeClr val="bg1"/>
                </a:solidFill>
              </a:rPr>
              <a:t>temp</a:t>
            </a:r>
          </a:p>
        </p:txBody>
      </p:sp>
      <p:sp>
        <p:nvSpPr>
          <p:cNvPr id="44055" name="Line 38"/>
          <p:cNvSpPr>
            <a:spLocks noChangeShapeType="1"/>
          </p:cNvSpPr>
          <p:nvPr/>
        </p:nvSpPr>
        <p:spPr bwMode="auto">
          <a:xfrm>
            <a:off x="8134350" y="3429000"/>
            <a:ext cx="0" cy="0"/>
          </a:xfrm>
          <a:prstGeom prst="line">
            <a:avLst/>
          </a:prstGeom>
          <a:noFill/>
          <a:ln w="6350">
            <a:noFill/>
            <a:round/>
            <a:headEnd/>
            <a:tailEnd/>
          </a:ln>
        </p:spPr>
        <p:txBody>
          <a:bodyPr wrap="none" anchor="ctr">
            <a:prstTxWarp prst="textNoShape">
              <a:avLst/>
            </a:prstTxWarp>
          </a:bodyPr>
          <a:lstStyle/>
          <a:p>
            <a:endParaRPr lang="en-US" sz="2200"/>
          </a:p>
        </p:txBody>
      </p:sp>
      <p:sp>
        <p:nvSpPr>
          <p:cNvPr id="44056" name="Line 39"/>
          <p:cNvSpPr>
            <a:spLocks noChangeShapeType="1"/>
          </p:cNvSpPr>
          <p:nvPr/>
        </p:nvSpPr>
        <p:spPr bwMode="auto">
          <a:xfrm>
            <a:off x="8305800" y="3429000"/>
            <a:ext cx="228600" cy="0"/>
          </a:xfrm>
          <a:prstGeom prst="line">
            <a:avLst/>
          </a:prstGeom>
          <a:noFill/>
          <a:ln w="6350">
            <a:noFill/>
            <a:round/>
            <a:headEnd/>
            <a:tailEnd/>
          </a:ln>
        </p:spPr>
        <p:txBody>
          <a:bodyPr wrap="none" anchor="ctr">
            <a:prstTxWarp prst="textNoShape">
              <a:avLst/>
            </a:prstTxWarp>
          </a:bodyPr>
          <a:lstStyle/>
          <a:p>
            <a:endParaRPr lang="en-US" sz="2200"/>
          </a:p>
        </p:txBody>
      </p:sp>
      <p:sp>
        <p:nvSpPr>
          <p:cNvPr id="44057" name="Line 40"/>
          <p:cNvSpPr>
            <a:spLocks noChangeShapeType="1"/>
          </p:cNvSpPr>
          <p:nvPr/>
        </p:nvSpPr>
        <p:spPr bwMode="auto">
          <a:xfrm flipV="1">
            <a:off x="8534400" y="3429000"/>
            <a:ext cx="76200" cy="0"/>
          </a:xfrm>
          <a:prstGeom prst="line">
            <a:avLst/>
          </a:prstGeom>
          <a:noFill/>
          <a:ln w="6350">
            <a:noFill/>
            <a:round/>
            <a:headEnd/>
            <a:tailEnd/>
          </a:ln>
        </p:spPr>
        <p:txBody>
          <a:bodyPr wrap="none" anchor="ctr">
            <a:prstTxWarp prst="textNoShape">
              <a:avLst/>
            </a:prstTxWarp>
          </a:bodyPr>
          <a:lstStyle/>
          <a:p>
            <a:endParaRPr lang="en-US" sz="2200"/>
          </a:p>
        </p:txBody>
      </p:sp>
      <p:sp>
        <p:nvSpPr>
          <p:cNvPr id="44058" name="Line 41"/>
          <p:cNvSpPr>
            <a:spLocks noChangeShapeType="1"/>
          </p:cNvSpPr>
          <p:nvPr/>
        </p:nvSpPr>
        <p:spPr bwMode="auto">
          <a:xfrm flipV="1">
            <a:off x="2362200" y="4772025"/>
            <a:ext cx="0" cy="304800"/>
          </a:xfrm>
          <a:prstGeom prst="line">
            <a:avLst/>
          </a:prstGeom>
          <a:noFill/>
          <a:ln w="6350">
            <a:noFill/>
            <a:round/>
            <a:headEnd/>
            <a:tailEnd/>
          </a:ln>
        </p:spPr>
        <p:txBody>
          <a:bodyPr wrap="none" anchor="ctr">
            <a:prstTxWarp prst="textNoShape">
              <a:avLst/>
            </a:prstTxWarp>
          </a:bodyPr>
          <a:lstStyle/>
          <a:p>
            <a:endParaRPr lang="en-US" sz="2200"/>
          </a:p>
        </p:txBody>
      </p:sp>
      <p:grpSp>
        <p:nvGrpSpPr>
          <p:cNvPr id="6" name="Group 42"/>
          <p:cNvGrpSpPr>
            <a:grpSpLocks/>
          </p:cNvGrpSpPr>
          <p:nvPr/>
        </p:nvGrpSpPr>
        <p:grpSpPr bwMode="auto">
          <a:xfrm>
            <a:off x="3125788" y="914401"/>
            <a:ext cx="5180013" cy="3505201"/>
            <a:chOff x="483" y="1537"/>
            <a:chExt cx="3263" cy="2208"/>
          </a:xfrm>
        </p:grpSpPr>
        <p:sp>
          <p:nvSpPr>
            <p:cNvPr id="44090" name="AutoShape 43"/>
            <p:cNvSpPr>
              <a:spLocks noChangeArrowheads="1"/>
            </p:cNvSpPr>
            <p:nvPr/>
          </p:nvSpPr>
          <p:spPr bwMode="auto">
            <a:xfrm>
              <a:off x="483" y="1537"/>
              <a:ext cx="3263" cy="2064"/>
            </a:xfrm>
            <a:prstGeom prst="roundRect">
              <a:avLst>
                <a:gd name="adj" fmla="val 16667"/>
              </a:avLst>
            </a:prstGeom>
            <a:gradFill rotWithShape="1">
              <a:gsLst>
                <a:gs pos="0">
                  <a:srgbClr val="008000"/>
                </a:gs>
                <a:gs pos="100000">
                  <a:srgbClr val="003B00"/>
                </a:gs>
              </a:gsLst>
              <a:lin ang="5400000" scaled="1"/>
            </a:gradFill>
            <a:ln w="6350">
              <a:solidFill>
                <a:schemeClr val="hlink"/>
              </a:solidFill>
              <a:round/>
              <a:headEnd/>
              <a:tailEnd/>
            </a:ln>
          </p:spPr>
          <p:txBody>
            <a:bodyPr wrap="none" anchor="ctr">
              <a:prstTxWarp prst="textNoShape">
                <a:avLst/>
              </a:prstTxWarp>
            </a:bodyPr>
            <a:lstStyle/>
            <a:p>
              <a:endParaRPr lang="en-US" sz="2200"/>
            </a:p>
          </p:txBody>
        </p:sp>
        <p:sp>
          <p:nvSpPr>
            <p:cNvPr id="44091" name="Text Box 44"/>
            <p:cNvSpPr txBox="1">
              <a:spLocks noChangeArrowheads="1"/>
            </p:cNvSpPr>
            <p:nvPr/>
          </p:nvSpPr>
          <p:spPr bwMode="auto">
            <a:xfrm>
              <a:off x="768" y="1554"/>
              <a:ext cx="2566" cy="2191"/>
            </a:xfrm>
            <a:prstGeom prst="rect">
              <a:avLst/>
            </a:prstGeom>
            <a:noFill/>
            <a:ln w="6350">
              <a:noFill/>
              <a:miter lim="800000"/>
              <a:headEnd/>
              <a:tailEnd/>
            </a:ln>
          </p:spPr>
          <p:txBody>
            <a:bodyPr>
              <a:prstTxWarp prst="textNoShape">
                <a:avLst/>
              </a:prstTxWarp>
              <a:spAutoFit/>
            </a:bodyPr>
            <a:lstStyle/>
            <a:p>
              <a:r>
                <a:rPr lang="en-GB" sz="2200">
                  <a:solidFill>
                    <a:schemeClr val="bg1"/>
                  </a:solidFill>
                </a:rPr>
                <a:t>         TEMPERATURE</a:t>
              </a:r>
            </a:p>
            <a:p>
              <a:endParaRPr lang="en-GB" sz="2200">
                <a:solidFill>
                  <a:schemeClr val="bg1"/>
                </a:solidFill>
              </a:endParaRPr>
            </a:p>
            <a:p>
              <a:r>
                <a:rPr lang="en-GB" sz="2200">
                  <a:solidFill>
                    <a:schemeClr val="bg1"/>
                  </a:solidFill>
                </a:rPr>
                <a:t>   transistors</a:t>
              </a:r>
            </a:p>
            <a:p>
              <a:pPr lvl="1">
                <a:buFont typeface="Wingdings" pitchFamily="-107" charset="2"/>
                <a:buChar char="§"/>
              </a:pPr>
              <a:r>
                <a:rPr lang="en-GB" sz="2200">
                  <a:solidFill>
                    <a:schemeClr val="bg1"/>
                  </a:solidFill>
                </a:rPr>
                <a:t>  temperature inversion</a:t>
              </a:r>
            </a:p>
            <a:p>
              <a:pPr lvl="1">
                <a:buFont typeface="Wingdings" pitchFamily="-107" charset="2"/>
                <a:buChar char="§"/>
              </a:pPr>
              <a:r>
                <a:rPr lang="en-GB" sz="2200">
                  <a:solidFill>
                    <a:schemeClr val="bg1"/>
                  </a:solidFill>
                </a:rPr>
                <a:t> -40ºC</a:t>
              </a:r>
              <a:r>
                <a:rPr lang="en-GB" sz="2200"/>
                <a:t> </a:t>
              </a:r>
              <a:r>
                <a:rPr lang="en-GB" sz="2200">
                  <a:solidFill>
                    <a:schemeClr val="bg1"/>
                  </a:solidFill>
                </a:rPr>
                <a:t>worse case</a:t>
              </a:r>
            </a:p>
            <a:p>
              <a:endParaRPr lang="en-GB" sz="2200">
                <a:solidFill>
                  <a:schemeClr val="bg1"/>
                </a:solidFill>
              </a:endParaRPr>
            </a:p>
            <a:p>
              <a:r>
                <a:rPr lang="en-GB" sz="2200">
                  <a:solidFill>
                    <a:schemeClr val="bg1"/>
                  </a:solidFill>
                </a:rPr>
                <a:t>   interconnect</a:t>
              </a:r>
            </a:p>
            <a:p>
              <a:pPr lvl="1">
                <a:buFont typeface="Wingdings" pitchFamily="-107" charset="2"/>
                <a:buChar char="§"/>
              </a:pPr>
              <a:r>
                <a:rPr lang="en-GB" sz="2200">
                  <a:solidFill>
                    <a:schemeClr val="bg1"/>
                  </a:solidFill>
                </a:rPr>
                <a:t> linear dependency</a:t>
              </a:r>
            </a:p>
            <a:p>
              <a:pPr lvl="1">
                <a:buFont typeface="Wingdings" pitchFamily="-107" charset="2"/>
                <a:buChar char="§"/>
              </a:pPr>
              <a:r>
                <a:rPr lang="en-GB" sz="2200">
                  <a:solidFill>
                    <a:schemeClr val="bg1"/>
                  </a:solidFill>
                </a:rPr>
                <a:t> 125ºC worse case</a:t>
              </a:r>
              <a:r>
                <a:rPr lang="en-GB" sz="2200"/>
                <a:t> </a:t>
              </a:r>
              <a:endParaRPr lang="en-GB" sz="2200">
                <a:solidFill>
                  <a:schemeClr val="bg1"/>
                </a:solidFill>
              </a:endParaRPr>
            </a:p>
            <a:p>
              <a:endParaRPr lang="en-GB" sz="2200"/>
            </a:p>
          </p:txBody>
        </p:sp>
      </p:grpSp>
      <p:sp>
        <p:nvSpPr>
          <p:cNvPr id="44061" name="Text Box 58"/>
          <p:cNvSpPr txBox="1">
            <a:spLocks noChangeArrowheads="1"/>
          </p:cNvSpPr>
          <p:nvPr/>
        </p:nvSpPr>
        <p:spPr bwMode="auto">
          <a:xfrm>
            <a:off x="2270126" y="5951539"/>
            <a:ext cx="930275" cy="430887"/>
          </a:xfrm>
          <a:prstGeom prst="rect">
            <a:avLst/>
          </a:prstGeom>
          <a:noFill/>
          <a:ln w="6350">
            <a:noFill/>
            <a:miter lim="800000"/>
            <a:headEnd/>
            <a:tailEnd/>
          </a:ln>
        </p:spPr>
        <p:txBody>
          <a:bodyPr>
            <a:prstTxWarp prst="textNoShape">
              <a:avLst/>
            </a:prstTxWarp>
            <a:spAutoFit/>
          </a:bodyPr>
          <a:lstStyle/>
          <a:p>
            <a:endParaRPr lang="en-GB" sz="2200"/>
          </a:p>
        </p:txBody>
      </p:sp>
      <p:sp>
        <p:nvSpPr>
          <p:cNvPr id="44064" name="Text Box 70"/>
          <p:cNvSpPr txBox="1">
            <a:spLocks noChangeArrowheads="1"/>
          </p:cNvSpPr>
          <p:nvPr/>
        </p:nvSpPr>
        <p:spPr bwMode="auto">
          <a:xfrm>
            <a:off x="2133600" y="4876801"/>
            <a:ext cx="764490" cy="430887"/>
          </a:xfrm>
          <a:prstGeom prst="rect">
            <a:avLst/>
          </a:prstGeom>
          <a:noFill/>
          <a:ln w="9525">
            <a:noFill/>
            <a:miter lim="800000"/>
            <a:headEnd/>
            <a:tailEnd/>
          </a:ln>
        </p:spPr>
        <p:txBody>
          <a:bodyPr wrap="none">
            <a:prstTxWarp prst="textNoShape">
              <a:avLst/>
            </a:prstTxWarp>
            <a:spAutoFit/>
          </a:bodyPr>
          <a:lstStyle/>
          <a:p>
            <a:r>
              <a:rPr lang="en-GB" sz="2200" b="1" dirty="0"/>
              <a:t>CLK</a:t>
            </a:r>
          </a:p>
        </p:txBody>
      </p:sp>
      <p:sp>
        <p:nvSpPr>
          <p:cNvPr id="44065" name="Line 71"/>
          <p:cNvSpPr>
            <a:spLocks noChangeShapeType="1"/>
          </p:cNvSpPr>
          <p:nvPr/>
        </p:nvSpPr>
        <p:spPr bwMode="auto">
          <a:xfrm>
            <a:off x="2667000" y="5457825"/>
            <a:ext cx="457200" cy="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73" name="AutoShape 33"/>
          <p:cNvSpPr>
            <a:spLocks/>
          </p:cNvSpPr>
          <p:nvPr/>
        </p:nvSpPr>
        <p:spPr bwMode="auto">
          <a:xfrm flipH="1">
            <a:off x="8464550" y="6096000"/>
            <a:ext cx="908050" cy="304800"/>
          </a:xfrm>
          <a:prstGeom prst="borderCallout1">
            <a:avLst>
              <a:gd name="adj1" fmla="val 37500"/>
              <a:gd name="adj2" fmla="val 111111"/>
              <a:gd name="adj3" fmla="val -171875"/>
              <a:gd name="adj4" fmla="val 140278"/>
            </a:avLst>
          </a:prstGeom>
          <a:gradFill rotWithShape="1">
            <a:gsLst>
              <a:gs pos="0">
                <a:srgbClr val="9933FF"/>
              </a:gs>
              <a:gs pos="100000">
                <a:srgbClr val="471876"/>
              </a:gs>
            </a:gsLst>
            <a:lin ang="5400000" scaled="1"/>
          </a:gradFill>
          <a:ln w="9525">
            <a:solidFill>
              <a:srgbClr val="9933FF"/>
            </a:solidFill>
            <a:miter lim="800000"/>
            <a:headEnd/>
            <a:tailEnd/>
          </a:ln>
        </p:spPr>
        <p:txBody>
          <a:bodyPr anchor="ctr" anchorCtr="1">
            <a:prstTxWarp prst="textNoShape">
              <a:avLst/>
            </a:prstTxWarp>
          </a:bodyPr>
          <a:lstStyle/>
          <a:p>
            <a:r>
              <a:rPr lang="en-GB" sz="2200" dirty="0">
                <a:solidFill>
                  <a:schemeClr val="bg1"/>
                </a:solidFill>
              </a:rPr>
              <a:t>jitter</a:t>
            </a:r>
          </a:p>
        </p:txBody>
      </p:sp>
      <p:sp>
        <p:nvSpPr>
          <p:cNvPr id="74" name="AutoShape 34"/>
          <p:cNvSpPr>
            <a:spLocks/>
          </p:cNvSpPr>
          <p:nvPr/>
        </p:nvSpPr>
        <p:spPr bwMode="auto">
          <a:xfrm>
            <a:off x="6705601" y="6078538"/>
            <a:ext cx="1271587" cy="322262"/>
          </a:xfrm>
          <a:prstGeom prst="borderCallout1">
            <a:avLst>
              <a:gd name="adj1" fmla="val -9791"/>
              <a:gd name="adj2" fmla="val 63739"/>
              <a:gd name="adj3" fmla="val -197829"/>
              <a:gd name="adj4" fmla="val 92261"/>
            </a:avLst>
          </a:prstGeom>
          <a:gradFill rotWithShape="1">
            <a:gsLst>
              <a:gs pos="0">
                <a:srgbClr val="0000FF"/>
              </a:gs>
              <a:gs pos="100000">
                <a:srgbClr val="3939FF"/>
              </a:gs>
            </a:gsLst>
            <a:lin ang="5400000" scaled="1"/>
          </a:gradFill>
          <a:ln w="9525">
            <a:solidFill>
              <a:srgbClr val="0000FF"/>
            </a:solidFill>
            <a:miter lim="800000"/>
            <a:headEnd/>
            <a:tailEnd/>
          </a:ln>
        </p:spPr>
        <p:txBody>
          <a:bodyPr anchor="ctr" anchorCtr="1">
            <a:prstTxWarp prst="textNoShape">
              <a:avLst/>
            </a:prstTxWarp>
          </a:bodyPr>
          <a:lstStyle/>
          <a:p>
            <a:r>
              <a:rPr lang="en-GB" sz="2200" dirty="0">
                <a:solidFill>
                  <a:schemeClr val="bg1"/>
                </a:solidFill>
              </a:rPr>
              <a:t>coupling</a:t>
            </a:r>
          </a:p>
        </p:txBody>
      </p:sp>
      <p:sp>
        <p:nvSpPr>
          <p:cNvPr id="25" name="Title 1"/>
          <p:cNvSpPr txBox="1">
            <a:spLocks/>
          </p:cNvSpPr>
          <p:nvPr/>
        </p:nvSpPr>
        <p:spPr>
          <a:xfrm>
            <a:off x="1676400" y="152400"/>
            <a:ext cx="8839200" cy="609600"/>
          </a:xfrm>
          <a:prstGeom prst="rect">
            <a:avLst/>
          </a:prstGeom>
        </p:spPr>
        <p:txBody>
          <a:bodyPr/>
          <a:lstStyle>
            <a:lvl1pPr algn="l" rtl="0" eaLnBrk="1" fontAlgn="base" hangingPunct="1">
              <a:spcBef>
                <a:spcPct val="0"/>
              </a:spcBef>
              <a:spcAft>
                <a:spcPct val="0"/>
              </a:spcAft>
              <a:defRPr sz="3600" b="1" kern="1200">
                <a:solidFill>
                  <a:srgbClr val="002060"/>
                </a:solidFill>
                <a:latin typeface="Calibri" pitchFamily="34" charset="0"/>
                <a:ea typeface="+mj-ea"/>
                <a:cs typeface="Calibri" pitchFamily="34" charset="0"/>
              </a:defRPr>
            </a:lvl1pPr>
            <a:lvl2pPr algn="ctr" rtl="0" eaLnBrk="1" fontAlgn="base" hangingPunct="1">
              <a:spcBef>
                <a:spcPct val="0"/>
              </a:spcBef>
              <a:spcAft>
                <a:spcPct val="0"/>
              </a:spcAft>
              <a:defRPr sz="3600" b="1">
                <a:solidFill>
                  <a:schemeClr val="tx1"/>
                </a:solidFill>
                <a:latin typeface="Trebuchet MS" pitchFamily="34" charset="0"/>
              </a:defRPr>
            </a:lvl2pPr>
            <a:lvl3pPr algn="ctr" rtl="0" eaLnBrk="1" fontAlgn="base" hangingPunct="1">
              <a:spcBef>
                <a:spcPct val="0"/>
              </a:spcBef>
              <a:spcAft>
                <a:spcPct val="0"/>
              </a:spcAft>
              <a:defRPr sz="3600" b="1">
                <a:solidFill>
                  <a:schemeClr val="tx1"/>
                </a:solidFill>
                <a:latin typeface="Trebuchet MS" pitchFamily="34" charset="0"/>
              </a:defRPr>
            </a:lvl3pPr>
            <a:lvl4pPr algn="ctr" rtl="0" eaLnBrk="1" fontAlgn="base" hangingPunct="1">
              <a:spcBef>
                <a:spcPct val="0"/>
              </a:spcBef>
              <a:spcAft>
                <a:spcPct val="0"/>
              </a:spcAft>
              <a:defRPr sz="3600" b="1">
                <a:solidFill>
                  <a:schemeClr val="tx1"/>
                </a:solidFill>
                <a:latin typeface="Trebuchet MS" pitchFamily="34" charset="0"/>
              </a:defRPr>
            </a:lvl4pPr>
            <a:lvl5pPr algn="ctr" rtl="0" eaLnBrk="1" fontAlgn="base" hangingPunct="1">
              <a:spcBef>
                <a:spcPct val="0"/>
              </a:spcBef>
              <a:spcAft>
                <a:spcPct val="0"/>
              </a:spcAft>
              <a:defRPr sz="3600" b="1">
                <a:solidFill>
                  <a:schemeClr val="tx1"/>
                </a:solidFill>
                <a:latin typeface="Trebuchet MS" pitchFamily="34" charset="0"/>
              </a:defRPr>
            </a:lvl5pPr>
            <a:lvl6pPr marL="457200" algn="ctr" rtl="0" eaLnBrk="1" fontAlgn="base" hangingPunct="1">
              <a:spcBef>
                <a:spcPct val="0"/>
              </a:spcBef>
              <a:spcAft>
                <a:spcPct val="0"/>
              </a:spcAft>
              <a:defRPr sz="3600" b="1">
                <a:solidFill>
                  <a:schemeClr val="tx1"/>
                </a:solidFill>
                <a:latin typeface="Trebuchet MS" pitchFamily="34" charset="0"/>
              </a:defRPr>
            </a:lvl6pPr>
            <a:lvl7pPr marL="914400" algn="ctr" rtl="0" eaLnBrk="1" fontAlgn="base" hangingPunct="1">
              <a:spcBef>
                <a:spcPct val="0"/>
              </a:spcBef>
              <a:spcAft>
                <a:spcPct val="0"/>
              </a:spcAft>
              <a:defRPr sz="3600" b="1">
                <a:solidFill>
                  <a:schemeClr val="tx1"/>
                </a:solidFill>
                <a:latin typeface="Trebuchet MS" pitchFamily="34" charset="0"/>
              </a:defRPr>
            </a:lvl7pPr>
            <a:lvl8pPr marL="1371600" algn="ctr" rtl="0" eaLnBrk="1" fontAlgn="base" hangingPunct="1">
              <a:spcBef>
                <a:spcPct val="0"/>
              </a:spcBef>
              <a:spcAft>
                <a:spcPct val="0"/>
              </a:spcAft>
              <a:defRPr sz="3600" b="1">
                <a:solidFill>
                  <a:schemeClr val="tx1"/>
                </a:solidFill>
                <a:latin typeface="Trebuchet MS" pitchFamily="34" charset="0"/>
              </a:defRPr>
            </a:lvl8pPr>
            <a:lvl9pPr marL="1828800" algn="ctr" rtl="0" eaLnBrk="1" fontAlgn="base" hangingPunct="1">
              <a:spcBef>
                <a:spcPct val="0"/>
              </a:spcBef>
              <a:spcAft>
                <a:spcPct val="0"/>
              </a:spcAft>
              <a:defRPr sz="3600" b="1">
                <a:solidFill>
                  <a:schemeClr val="tx1"/>
                </a:solidFill>
                <a:latin typeface="Trebuchet MS" pitchFamily="34" charset="0"/>
              </a:defRPr>
            </a:lvl9pPr>
          </a:lstStyle>
          <a:p>
            <a:r>
              <a:rPr lang="en-US" dirty="0"/>
              <a:t>Margins in Design</a:t>
            </a:r>
          </a:p>
        </p:txBody>
      </p:sp>
    </p:spTree>
    <p:extLst>
      <p:ext uri="{BB962C8B-B14F-4D97-AF65-F5344CB8AC3E}">
        <p14:creationId xmlns:p14="http://schemas.microsoft.com/office/powerpoint/2010/main" val="94129676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2"/>
          <p:cNvSpPr>
            <a:spLocks noChangeArrowheads="1"/>
          </p:cNvSpPr>
          <p:nvPr/>
        </p:nvSpPr>
        <p:spPr bwMode="auto">
          <a:xfrm>
            <a:off x="7848600" y="4848225"/>
            <a:ext cx="228600" cy="609600"/>
          </a:xfrm>
          <a:prstGeom prst="rect">
            <a:avLst/>
          </a:prstGeom>
          <a:solidFill>
            <a:srgbClr val="0000FF"/>
          </a:solidFill>
          <a:ln w="9525">
            <a:noFill/>
            <a:miter lim="800000"/>
            <a:headEnd/>
            <a:tailEnd/>
          </a:ln>
        </p:spPr>
        <p:txBody>
          <a:bodyPr wrap="none" anchor="ctr">
            <a:prstTxWarp prst="textNoShape">
              <a:avLst/>
            </a:prstTxWarp>
          </a:bodyPr>
          <a:lstStyle/>
          <a:p>
            <a:endParaRPr lang="en-US" sz="2200"/>
          </a:p>
        </p:txBody>
      </p:sp>
      <p:sp>
        <p:nvSpPr>
          <p:cNvPr id="327683" name="Rectangle 3"/>
          <p:cNvSpPr>
            <a:spLocks noChangeArrowheads="1"/>
          </p:cNvSpPr>
          <p:nvPr/>
        </p:nvSpPr>
        <p:spPr bwMode="auto">
          <a:xfrm>
            <a:off x="7772400" y="4848225"/>
            <a:ext cx="76200" cy="609600"/>
          </a:xfrm>
          <a:prstGeom prst="rect">
            <a:avLst/>
          </a:prstGeom>
          <a:solidFill>
            <a:srgbClr val="339966"/>
          </a:solidFill>
          <a:ln w="9525">
            <a:noFill/>
            <a:miter lim="800000"/>
            <a:headEnd/>
            <a:tailEnd/>
          </a:ln>
        </p:spPr>
        <p:txBody>
          <a:bodyPr wrap="none" anchor="ctr">
            <a:prstTxWarp prst="textNoShape">
              <a:avLst/>
            </a:prstTxWarp>
          </a:bodyPr>
          <a:lstStyle/>
          <a:p>
            <a:endParaRPr lang="en-US" sz="2200"/>
          </a:p>
        </p:txBody>
      </p:sp>
      <p:sp>
        <p:nvSpPr>
          <p:cNvPr id="327684" name="Rectangle 4"/>
          <p:cNvSpPr>
            <a:spLocks noChangeArrowheads="1"/>
          </p:cNvSpPr>
          <p:nvPr/>
        </p:nvSpPr>
        <p:spPr bwMode="auto">
          <a:xfrm>
            <a:off x="8077200" y="4848225"/>
            <a:ext cx="76200" cy="609600"/>
          </a:xfrm>
          <a:prstGeom prst="rect">
            <a:avLst/>
          </a:prstGeom>
          <a:solidFill>
            <a:srgbClr val="9933FF"/>
          </a:solidFill>
          <a:ln w="9525">
            <a:noFill/>
            <a:miter lim="800000"/>
            <a:headEnd/>
            <a:tailEnd/>
          </a:ln>
        </p:spPr>
        <p:txBody>
          <a:bodyPr wrap="none" anchor="ctr">
            <a:prstTxWarp prst="textNoShape">
              <a:avLst/>
            </a:prstTxWarp>
          </a:bodyPr>
          <a:lstStyle/>
          <a:p>
            <a:endParaRPr lang="en-US" sz="2200"/>
          </a:p>
        </p:txBody>
      </p:sp>
      <p:sp>
        <p:nvSpPr>
          <p:cNvPr id="327685" name="Rectangle 5"/>
          <p:cNvSpPr>
            <a:spLocks noChangeArrowheads="1"/>
          </p:cNvSpPr>
          <p:nvPr/>
        </p:nvSpPr>
        <p:spPr bwMode="auto">
          <a:xfrm>
            <a:off x="7315200" y="4848225"/>
            <a:ext cx="457200" cy="609600"/>
          </a:xfrm>
          <a:prstGeom prst="rect">
            <a:avLst/>
          </a:prstGeom>
          <a:solidFill>
            <a:srgbClr val="FF3300"/>
          </a:solidFill>
          <a:ln w="9525">
            <a:noFill/>
            <a:miter lim="800000"/>
            <a:headEnd/>
            <a:tailEnd/>
          </a:ln>
        </p:spPr>
        <p:txBody>
          <a:bodyPr wrap="none" anchor="ctr">
            <a:prstTxWarp prst="textNoShape">
              <a:avLst/>
            </a:prstTxWarp>
          </a:bodyPr>
          <a:lstStyle/>
          <a:p>
            <a:endParaRPr lang="en-US" sz="2200"/>
          </a:p>
        </p:txBody>
      </p:sp>
      <p:grpSp>
        <p:nvGrpSpPr>
          <p:cNvPr id="2" name="Group 12"/>
          <p:cNvGrpSpPr>
            <a:grpSpLocks/>
          </p:cNvGrpSpPr>
          <p:nvPr/>
        </p:nvGrpSpPr>
        <p:grpSpPr bwMode="auto">
          <a:xfrm>
            <a:off x="3200400" y="1076325"/>
            <a:ext cx="4724400" cy="2706688"/>
            <a:chOff x="576" y="1590"/>
            <a:chExt cx="2976" cy="1705"/>
          </a:xfrm>
        </p:grpSpPr>
        <p:sp>
          <p:nvSpPr>
            <p:cNvPr id="44103" name="Text Box 15"/>
            <p:cNvSpPr txBox="1">
              <a:spLocks noChangeArrowheads="1"/>
            </p:cNvSpPr>
            <p:nvPr/>
          </p:nvSpPr>
          <p:spPr bwMode="auto">
            <a:xfrm>
              <a:off x="576" y="1590"/>
              <a:ext cx="2685" cy="1338"/>
            </a:xfrm>
            <a:prstGeom prst="rect">
              <a:avLst/>
            </a:prstGeom>
            <a:noFill/>
            <a:ln w="6350">
              <a:noFill/>
              <a:miter lim="800000"/>
              <a:headEnd/>
              <a:tailEnd/>
            </a:ln>
          </p:spPr>
          <p:txBody>
            <a:bodyPr>
              <a:prstTxWarp prst="textNoShape">
                <a:avLst/>
              </a:prstTxWarp>
              <a:spAutoFit/>
            </a:bodyPr>
            <a:lstStyle/>
            <a:p>
              <a:r>
                <a:rPr lang="en-GB" sz="2200" dirty="0">
                  <a:solidFill>
                    <a:schemeClr val="bg1"/>
                  </a:solidFill>
                </a:rPr>
                <a:t>                      PROCESS</a:t>
              </a:r>
            </a:p>
            <a:p>
              <a:pPr>
                <a:buFont typeface="Wingdings" pitchFamily="-107" charset="2"/>
                <a:buChar char="§"/>
              </a:pPr>
              <a:r>
                <a:rPr lang="en-GB" sz="2200" dirty="0">
                  <a:solidFill>
                    <a:schemeClr val="bg1"/>
                  </a:solidFill>
                </a:rPr>
                <a:t> global corners</a:t>
              </a:r>
            </a:p>
            <a:p>
              <a:pPr>
                <a:buFont typeface="Wingdings" pitchFamily="-107" charset="2"/>
                <a:buChar char="§"/>
              </a:pPr>
              <a:r>
                <a:rPr lang="en-GB" sz="2200" dirty="0">
                  <a:solidFill>
                    <a:schemeClr val="bg1"/>
                  </a:solidFill>
                </a:rPr>
                <a:t> local mismatch</a:t>
              </a:r>
            </a:p>
            <a:p>
              <a:pPr>
                <a:buFont typeface="Wingdings" pitchFamily="-107" charset="2"/>
                <a:buChar char="§"/>
              </a:pPr>
              <a:r>
                <a:rPr lang="en-GB" sz="2200" dirty="0">
                  <a:solidFill>
                    <a:schemeClr val="bg1"/>
                  </a:solidFill>
                </a:rPr>
                <a:t> device + wire</a:t>
              </a:r>
            </a:p>
            <a:p>
              <a:endParaRPr lang="en-GB" sz="2200" dirty="0">
                <a:solidFill>
                  <a:schemeClr val="bg1"/>
                </a:solidFill>
              </a:endParaRPr>
            </a:p>
            <a:p>
              <a:endParaRPr lang="en-GB" sz="2200" dirty="0"/>
            </a:p>
          </p:txBody>
        </p:sp>
        <p:grpSp>
          <p:nvGrpSpPr>
            <p:cNvPr id="4" name="Group 16"/>
            <p:cNvGrpSpPr>
              <a:grpSpLocks/>
            </p:cNvGrpSpPr>
            <p:nvPr/>
          </p:nvGrpSpPr>
          <p:grpSpPr bwMode="auto">
            <a:xfrm>
              <a:off x="1071" y="1872"/>
              <a:ext cx="2481" cy="1423"/>
              <a:chOff x="1071" y="1872"/>
              <a:chExt cx="2481" cy="1423"/>
            </a:xfrm>
          </p:grpSpPr>
          <p:sp>
            <p:nvSpPr>
              <p:cNvPr id="44094" name="Oval 17"/>
              <p:cNvSpPr>
                <a:spLocks noChangeArrowheads="1"/>
              </p:cNvSpPr>
              <p:nvPr/>
            </p:nvSpPr>
            <p:spPr bwMode="auto">
              <a:xfrm rot="-1905183">
                <a:off x="1536" y="2208"/>
                <a:ext cx="1584" cy="720"/>
              </a:xfrm>
              <a:prstGeom prst="ellipse">
                <a:avLst/>
              </a:prstGeom>
              <a:noFill/>
              <a:ln w="6350">
                <a:solidFill>
                  <a:schemeClr val="bg1"/>
                </a:solidFill>
                <a:round/>
                <a:headEnd/>
                <a:tailEnd/>
              </a:ln>
            </p:spPr>
            <p:txBody>
              <a:bodyPr wrap="none" anchor="ctr">
                <a:prstTxWarp prst="textNoShape">
                  <a:avLst/>
                </a:prstTxWarp>
              </a:bodyPr>
              <a:lstStyle/>
              <a:p>
                <a:endParaRPr lang="en-US" sz="2200"/>
              </a:p>
            </p:txBody>
          </p:sp>
          <p:grpSp>
            <p:nvGrpSpPr>
              <p:cNvPr id="5" name="Group 18"/>
              <p:cNvGrpSpPr>
                <a:grpSpLocks/>
              </p:cNvGrpSpPr>
              <p:nvPr/>
            </p:nvGrpSpPr>
            <p:grpSpPr bwMode="auto">
              <a:xfrm>
                <a:off x="1071" y="1872"/>
                <a:ext cx="2481" cy="1423"/>
                <a:chOff x="816" y="1872"/>
                <a:chExt cx="2481" cy="1423"/>
              </a:xfrm>
            </p:grpSpPr>
            <p:sp>
              <p:nvSpPr>
                <p:cNvPr id="44096" name="Text Box 19"/>
                <p:cNvSpPr txBox="1">
                  <a:spLocks noChangeArrowheads="1"/>
                </p:cNvSpPr>
                <p:nvPr/>
              </p:nvSpPr>
              <p:spPr bwMode="auto">
                <a:xfrm>
                  <a:off x="968" y="3024"/>
                  <a:ext cx="472" cy="271"/>
                </a:xfrm>
                <a:prstGeom prst="rect">
                  <a:avLst/>
                </a:prstGeom>
                <a:noFill/>
                <a:ln w="6350">
                  <a:noFill/>
                  <a:miter lim="800000"/>
                  <a:headEnd/>
                  <a:tailEnd/>
                </a:ln>
              </p:spPr>
              <p:txBody>
                <a:bodyPr wrap="none">
                  <a:prstTxWarp prst="textNoShape">
                    <a:avLst/>
                  </a:prstTxWarp>
                  <a:spAutoFit/>
                </a:bodyPr>
                <a:lstStyle/>
                <a:p>
                  <a:r>
                    <a:rPr lang="en-GB" sz="2200">
                      <a:solidFill>
                        <a:schemeClr val="bg1"/>
                      </a:solidFill>
                    </a:rPr>
                    <a:t>SSS</a:t>
                  </a:r>
                </a:p>
              </p:txBody>
            </p:sp>
            <p:sp>
              <p:nvSpPr>
                <p:cNvPr id="44097" name="Text Box 20"/>
                <p:cNvSpPr txBox="1">
                  <a:spLocks noChangeArrowheads="1"/>
                </p:cNvSpPr>
                <p:nvPr/>
              </p:nvSpPr>
              <p:spPr bwMode="auto">
                <a:xfrm>
                  <a:off x="2396" y="2160"/>
                  <a:ext cx="407" cy="271"/>
                </a:xfrm>
                <a:prstGeom prst="rect">
                  <a:avLst/>
                </a:prstGeom>
                <a:noFill/>
                <a:ln w="6350">
                  <a:noFill/>
                  <a:miter lim="800000"/>
                  <a:headEnd/>
                  <a:tailEnd/>
                </a:ln>
              </p:spPr>
              <p:txBody>
                <a:bodyPr wrap="none">
                  <a:prstTxWarp prst="textNoShape">
                    <a:avLst/>
                  </a:prstTxWarp>
                  <a:spAutoFit/>
                </a:bodyPr>
                <a:lstStyle/>
                <a:p>
                  <a:r>
                    <a:rPr lang="en-GB" sz="2200">
                      <a:solidFill>
                        <a:schemeClr val="bg1"/>
                      </a:solidFill>
                    </a:rPr>
                    <a:t>FF*</a:t>
                  </a:r>
                </a:p>
              </p:txBody>
            </p:sp>
            <p:sp>
              <p:nvSpPr>
                <p:cNvPr id="44098" name="Text Box 21"/>
                <p:cNvSpPr txBox="1">
                  <a:spLocks noChangeArrowheads="1"/>
                </p:cNvSpPr>
                <p:nvPr/>
              </p:nvSpPr>
              <p:spPr bwMode="auto">
                <a:xfrm>
                  <a:off x="1412" y="2832"/>
                  <a:ext cx="423" cy="271"/>
                </a:xfrm>
                <a:prstGeom prst="rect">
                  <a:avLst/>
                </a:prstGeom>
                <a:noFill/>
                <a:ln w="6350">
                  <a:noFill/>
                  <a:miter lim="800000"/>
                  <a:headEnd/>
                  <a:tailEnd/>
                </a:ln>
              </p:spPr>
              <p:txBody>
                <a:bodyPr wrap="none">
                  <a:prstTxWarp prst="textNoShape">
                    <a:avLst/>
                  </a:prstTxWarp>
                  <a:spAutoFit/>
                </a:bodyPr>
                <a:lstStyle/>
                <a:p>
                  <a:r>
                    <a:rPr lang="en-GB" sz="2200">
                      <a:solidFill>
                        <a:schemeClr val="bg1"/>
                      </a:solidFill>
                    </a:rPr>
                    <a:t>SS*</a:t>
                  </a:r>
                </a:p>
              </p:txBody>
            </p:sp>
            <p:sp>
              <p:nvSpPr>
                <p:cNvPr id="44099" name="Text Box 22"/>
                <p:cNvSpPr txBox="1">
                  <a:spLocks noChangeArrowheads="1"/>
                </p:cNvSpPr>
                <p:nvPr/>
              </p:nvSpPr>
              <p:spPr bwMode="auto">
                <a:xfrm>
                  <a:off x="1936" y="2496"/>
                  <a:ext cx="334" cy="271"/>
                </a:xfrm>
                <a:prstGeom prst="rect">
                  <a:avLst/>
                </a:prstGeom>
                <a:noFill/>
                <a:ln w="6350">
                  <a:noFill/>
                  <a:miter lim="800000"/>
                  <a:headEnd/>
                  <a:tailEnd/>
                </a:ln>
              </p:spPr>
              <p:txBody>
                <a:bodyPr wrap="none">
                  <a:prstTxWarp prst="textNoShape">
                    <a:avLst/>
                  </a:prstTxWarp>
                  <a:spAutoFit/>
                </a:bodyPr>
                <a:lstStyle/>
                <a:p>
                  <a:r>
                    <a:rPr lang="en-GB" sz="2200">
                      <a:solidFill>
                        <a:schemeClr val="bg1"/>
                      </a:solidFill>
                    </a:rPr>
                    <a:t>TT</a:t>
                  </a:r>
                </a:p>
              </p:txBody>
            </p:sp>
            <p:sp>
              <p:nvSpPr>
                <p:cNvPr id="44100" name="Text Box 23"/>
                <p:cNvSpPr txBox="1">
                  <a:spLocks noChangeArrowheads="1"/>
                </p:cNvSpPr>
                <p:nvPr/>
              </p:nvSpPr>
              <p:spPr bwMode="auto">
                <a:xfrm>
                  <a:off x="2756" y="1872"/>
                  <a:ext cx="442" cy="271"/>
                </a:xfrm>
                <a:prstGeom prst="rect">
                  <a:avLst/>
                </a:prstGeom>
                <a:noFill/>
                <a:ln w="6350">
                  <a:noFill/>
                  <a:miter lim="800000"/>
                  <a:headEnd/>
                  <a:tailEnd/>
                </a:ln>
              </p:spPr>
              <p:txBody>
                <a:bodyPr wrap="none">
                  <a:prstTxWarp prst="textNoShape">
                    <a:avLst/>
                  </a:prstTxWarp>
                  <a:spAutoFit/>
                </a:bodyPr>
                <a:lstStyle/>
                <a:p>
                  <a:r>
                    <a:rPr lang="en-GB" sz="2200">
                      <a:solidFill>
                        <a:schemeClr val="bg1"/>
                      </a:solidFill>
                    </a:rPr>
                    <a:t>FFF</a:t>
                  </a:r>
                </a:p>
              </p:txBody>
            </p:sp>
            <p:sp>
              <p:nvSpPr>
                <p:cNvPr id="44101" name="Oval 24"/>
                <p:cNvSpPr>
                  <a:spLocks noChangeArrowheads="1"/>
                </p:cNvSpPr>
                <p:nvPr/>
              </p:nvSpPr>
              <p:spPr bwMode="auto">
                <a:xfrm rot="-1905183">
                  <a:off x="816" y="2220"/>
                  <a:ext cx="2481" cy="720"/>
                </a:xfrm>
                <a:prstGeom prst="ellipse">
                  <a:avLst/>
                </a:prstGeom>
                <a:noFill/>
                <a:ln w="6350">
                  <a:solidFill>
                    <a:schemeClr val="bg1"/>
                  </a:solidFill>
                  <a:round/>
                  <a:headEnd/>
                  <a:tailEnd/>
                </a:ln>
              </p:spPr>
              <p:txBody>
                <a:bodyPr wrap="none" anchor="ctr">
                  <a:prstTxWarp prst="textNoShape">
                    <a:avLst/>
                  </a:prstTxWarp>
                </a:bodyPr>
                <a:lstStyle/>
                <a:p>
                  <a:endParaRPr lang="en-US" sz="2200"/>
                </a:p>
              </p:txBody>
            </p:sp>
          </p:grpSp>
        </p:grpSp>
      </p:grpSp>
      <p:sp>
        <p:nvSpPr>
          <p:cNvPr id="44043" name="Line 26"/>
          <p:cNvSpPr>
            <a:spLocks noChangeShapeType="1"/>
          </p:cNvSpPr>
          <p:nvPr/>
        </p:nvSpPr>
        <p:spPr bwMode="auto">
          <a:xfrm flipV="1">
            <a:off x="3124200" y="4848225"/>
            <a:ext cx="0" cy="60960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4" name="Line 27"/>
          <p:cNvSpPr>
            <a:spLocks noChangeShapeType="1"/>
          </p:cNvSpPr>
          <p:nvPr/>
        </p:nvSpPr>
        <p:spPr bwMode="auto">
          <a:xfrm>
            <a:off x="3124200" y="4848225"/>
            <a:ext cx="2438400" cy="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5" name="Line 28"/>
          <p:cNvSpPr>
            <a:spLocks noChangeShapeType="1"/>
          </p:cNvSpPr>
          <p:nvPr/>
        </p:nvSpPr>
        <p:spPr bwMode="auto">
          <a:xfrm>
            <a:off x="8229600" y="4848225"/>
            <a:ext cx="0" cy="60960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6" name="Line 29"/>
          <p:cNvSpPr>
            <a:spLocks noChangeShapeType="1"/>
          </p:cNvSpPr>
          <p:nvPr/>
        </p:nvSpPr>
        <p:spPr bwMode="auto">
          <a:xfrm>
            <a:off x="5562600" y="5457825"/>
            <a:ext cx="2667000" cy="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7" name="Line 30"/>
          <p:cNvSpPr>
            <a:spLocks noChangeShapeType="1"/>
          </p:cNvSpPr>
          <p:nvPr/>
        </p:nvSpPr>
        <p:spPr bwMode="auto">
          <a:xfrm flipV="1">
            <a:off x="5562600" y="4848225"/>
            <a:ext cx="0" cy="60960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8" name="Line 31"/>
          <p:cNvSpPr>
            <a:spLocks noChangeShapeType="1"/>
          </p:cNvSpPr>
          <p:nvPr/>
        </p:nvSpPr>
        <p:spPr bwMode="auto">
          <a:xfrm>
            <a:off x="8229600" y="4848225"/>
            <a:ext cx="1524000" cy="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55" name="Line 38"/>
          <p:cNvSpPr>
            <a:spLocks noChangeShapeType="1"/>
          </p:cNvSpPr>
          <p:nvPr/>
        </p:nvSpPr>
        <p:spPr bwMode="auto">
          <a:xfrm>
            <a:off x="8134350" y="3429000"/>
            <a:ext cx="0" cy="0"/>
          </a:xfrm>
          <a:prstGeom prst="line">
            <a:avLst/>
          </a:prstGeom>
          <a:noFill/>
          <a:ln w="6350">
            <a:noFill/>
            <a:round/>
            <a:headEnd/>
            <a:tailEnd/>
          </a:ln>
        </p:spPr>
        <p:txBody>
          <a:bodyPr wrap="none" anchor="ctr">
            <a:prstTxWarp prst="textNoShape">
              <a:avLst/>
            </a:prstTxWarp>
          </a:bodyPr>
          <a:lstStyle/>
          <a:p>
            <a:endParaRPr lang="en-US" sz="2200"/>
          </a:p>
        </p:txBody>
      </p:sp>
      <p:sp>
        <p:nvSpPr>
          <p:cNvPr id="44056" name="Line 39"/>
          <p:cNvSpPr>
            <a:spLocks noChangeShapeType="1"/>
          </p:cNvSpPr>
          <p:nvPr/>
        </p:nvSpPr>
        <p:spPr bwMode="auto">
          <a:xfrm>
            <a:off x="8305800" y="3429000"/>
            <a:ext cx="228600" cy="0"/>
          </a:xfrm>
          <a:prstGeom prst="line">
            <a:avLst/>
          </a:prstGeom>
          <a:noFill/>
          <a:ln w="6350">
            <a:noFill/>
            <a:round/>
            <a:headEnd/>
            <a:tailEnd/>
          </a:ln>
        </p:spPr>
        <p:txBody>
          <a:bodyPr wrap="none" anchor="ctr">
            <a:prstTxWarp prst="textNoShape">
              <a:avLst/>
            </a:prstTxWarp>
          </a:bodyPr>
          <a:lstStyle/>
          <a:p>
            <a:endParaRPr lang="en-US" sz="2200"/>
          </a:p>
        </p:txBody>
      </p:sp>
      <p:sp>
        <p:nvSpPr>
          <p:cNvPr id="44057" name="Line 40"/>
          <p:cNvSpPr>
            <a:spLocks noChangeShapeType="1"/>
          </p:cNvSpPr>
          <p:nvPr/>
        </p:nvSpPr>
        <p:spPr bwMode="auto">
          <a:xfrm flipV="1">
            <a:off x="8534400" y="3429000"/>
            <a:ext cx="76200" cy="0"/>
          </a:xfrm>
          <a:prstGeom prst="line">
            <a:avLst/>
          </a:prstGeom>
          <a:noFill/>
          <a:ln w="6350">
            <a:noFill/>
            <a:round/>
            <a:headEnd/>
            <a:tailEnd/>
          </a:ln>
        </p:spPr>
        <p:txBody>
          <a:bodyPr wrap="none" anchor="ctr">
            <a:prstTxWarp prst="textNoShape">
              <a:avLst/>
            </a:prstTxWarp>
          </a:bodyPr>
          <a:lstStyle/>
          <a:p>
            <a:endParaRPr lang="en-US" sz="2200"/>
          </a:p>
        </p:txBody>
      </p:sp>
      <p:sp>
        <p:nvSpPr>
          <p:cNvPr id="44058" name="Line 41"/>
          <p:cNvSpPr>
            <a:spLocks noChangeShapeType="1"/>
          </p:cNvSpPr>
          <p:nvPr/>
        </p:nvSpPr>
        <p:spPr bwMode="auto">
          <a:xfrm flipV="1">
            <a:off x="2362200" y="4772025"/>
            <a:ext cx="0" cy="304800"/>
          </a:xfrm>
          <a:prstGeom prst="line">
            <a:avLst/>
          </a:prstGeom>
          <a:noFill/>
          <a:ln w="6350">
            <a:noFill/>
            <a:round/>
            <a:headEnd/>
            <a:tailEnd/>
          </a:ln>
        </p:spPr>
        <p:txBody>
          <a:bodyPr wrap="none" anchor="ctr">
            <a:prstTxWarp prst="textNoShape">
              <a:avLst/>
            </a:prstTxWarp>
          </a:bodyPr>
          <a:lstStyle/>
          <a:p>
            <a:endParaRPr lang="en-US" sz="2200"/>
          </a:p>
        </p:txBody>
      </p:sp>
      <p:sp>
        <p:nvSpPr>
          <p:cNvPr id="44091" name="Text Box 44"/>
          <p:cNvSpPr txBox="1">
            <a:spLocks noChangeArrowheads="1"/>
          </p:cNvSpPr>
          <p:nvPr/>
        </p:nvSpPr>
        <p:spPr bwMode="auto">
          <a:xfrm>
            <a:off x="3578226" y="941388"/>
            <a:ext cx="4073525" cy="3478213"/>
          </a:xfrm>
          <a:prstGeom prst="rect">
            <a:avLst/>
          </a:prstGeom>
          <a:noFill/>
          <a:ln w="6350">
            <a:noFill/>
            <a:miter lim="800000"/>
            <a:headEnd/>
            <a:tailEnd/>
          </a:ln>
        </p:spPr>
        <p:txBody>
          <a:bodyPr>
            <a:prstTxWarp prst="textNoShape">
              <a:avLst/>
            </a:prstTxWarp>
            <a:spAutoFit/>
          </a:bodyPr>
          <a:lstStyle/>
          <a:p>
            <a:r>
              <a:rPr lang="en-GB" sz="2200">
                <a:solidFill>
                  <a:schemeClr val="bg1"/>
                </a:solidFill>
              </a:rPr>
              <a:t>         TEMPERATURE</a:t>
            </a:r>
          </a:p>
          <a:p>
            <a:endParaRPr lang="en-GB" sz="2200">
              <a:solidFill>
                <a:schemeClr val="bg1"/>
              </a:solidFill>
            </a:endParaRPr>
          </a:p>
          <a:p>
            <a:r>
              <a:rPr lang="en-GB" sz="2200">
                <a:solidFill>
                  <a:schemeClr val="bg1"/>
                </a:solidFill>
              </a:rPr>
              <a:t>   transistors</a:t>
            </a:r>
          </a:p>
          <a:p>
            <a:pPr lvl="1">
              <a:buFont typeface="Wingdings" pitchFamily="-107" charset="2"/>
              <a:buChar char="§"/>
            </a:pPr>
            <a:r>
              <a:rPr lang="en-GB" sz="2200">
                <a:solidFill>
                  <a:schemeClr val="bg1"/>
                </a:solidFill>
              </a:rPr>
              <a:t>  temperature inversion</a:t>
            </a:r>
          </a:p>
          <a:p>
            <a:pPr lvl="1">
              <a:buFont typeface="Wingdings" pitchFamily="-107" charset="2"/>
              <a:buChar char="§"/>
            </a:pPr>
            <a:r>
              <a:rPr lang="en-GB" sz="2200">
                <a:solidFill>
                  <a:schemeClr val="bg1"/>
                </a:solidFill>
              </a:rPr>
              <a:t> -40ºC</a:t>
            </a:r>
            <a:r>
              <a:rPr lang="en-GB" sz="2200"/>
              <a:t> </a:t>
            </a:r>
            <a:r>
              <a:rPr lang="en-GB" sz="2200">
                <a:solidFill>
                  <a:schemeClr val="bg1"/>
                </a:solidFill>
              </a:rPr>
              <a:t>worse case</a:t>
            </a:r>
          </a:p>
          <a:p>
            <a:endParaRPr lang="en-GB" sz="2200">
              <a:solidFill>
                <a:schemeClr val="bg1"/>
              </a:solidFill>
            </a:endParaRPr>
          </a:p>
          <a:p>
            <a:r>
              <a:rPr lang="en-GB" sz="2200">
                <a:solidFill>
                  <a:schemeClr val="bg1"/>
                </a:solidFill>
              </a:rPr>
              <a:t>   interconnect</a:t>
            </a:r>
          </a:p>
          <a:p>
            <a:pPr lvl="1">
              <a:buFont typeface="Wingdings" pitchFamily="-107" charset="2"/>
              <a:buChar char="§"/>
            </a:pPr>
            <a:r>
              <a:rPr lang="en-GB" sz="2200">
                <a:solidFill>
                  <a:schemeClr val="bg1"/>
                </a:solidFill>
              </a:rPr>
              <a:t> linear dependency</a:t>
            </a:r>
          </a:p>
          <a:p>
            <a:pPr lvl="1">
              <a:buFont typeface="Wingdings" pitchFamily="-107" charset="2"/>
              <a:buChar char="§"/>
            </a:pPr>
            <a:r>
              <a:rPr lang="en-GB" sz="2200">
                <a:solidFill>
                  <a:schemeClr val="bg1"/>
                </a:solidFill>
              </a:rPr>
              <a:t> 125ºC worse case</a:t>
            </a:r>
            <a:r>
              <a:rPr lang="en-GB" sz="2200"/>
              <a:t> </a:t>
            </a:r>
            <a:endParaRPr lang="en-GB" sz="2200">
              <a:solidFill>
                <a:schemeClr val="bg1"/>
              </a:solidFill>
            </a:endParaRPr>
          </a:p>
          <a:p>
            <a:endParaRPr lang="en-GB" sz="2200"/>
          </a:p>
        </p:txBody>
      </p:sp>
      <p:grpSp>
        <p:nvGrpSpPr>
          <p:cNvPr id="7" name="Group 45"/>
          <p:cNvGrpSpPr>
            <a:grpSpLocks/>
          </p:cNvGrpSpPr>
          <p:nvPr/>
        </p:nvGrpSpPr>
        <p:grpSpPr bwMode="auto">
          <a:xfrm>
            <a:off x="3684881" y="1316885"/>
            <a:ext cx="4201348" cy="2462307"/>
            <a:chOff x="3120" y="1008"/>
            <a:chExt cx="2233" cy="1394"/>
          </a:xfrm>
        </p:grpSpPr>
        <p:sp>
          <p:nvSpPr>
            <p:cNvPr id="44079" name="Text Box 47"/>
            <p:cNvSpPr txBox="1">
              <a:spLocks noChangeArrowheads="1"/>
            </p:cNvSpPr>
            <p:nvPr/>
          </p:nvSpPr>
          <p:spPr bwMode="auto">
            <a:xfrm>
              <a:off x="3120" y="1008"/>
              <a:ext cx="2233" cy="1394"/>
            </a:xfrm>
            <a:prstGeom prst="rect">
              <a:avLst/>
            </a:prstGeom>
            <a:noFill/>
            <a:ln w="6350">
              <a:noFill/>
              <a:miter lim="800000"/>
              <a:headEnd/>
              <a:tailEnd/>
            </a:ln>
          </p:spPr>
          <p:txBody>
            <a:bodyPr>
              <a:prstTxWarp prst="textNoShape">
                <a:avLst/>
              </a:prstTxWarp>
              <a:spAutoFit/>
            </a:bodyPr>
            <a:lstStyle/>
            <a:p>
              <a:r>
                <a:rPr lang="en-GB" sz="2200">
                  <a:solidFill>
                    <a:schemeClr val="bg1"/>
                  </a:solidFill>
                </a:rPr>
                <a:t>         CLOCK JITTER</a:t>
              </a:r>
            </a:p>
            <a:p>
              <a:endParaRPr lang="en-GB" sz="2200">
                <a:solidFill>
                  <a:schemeClr val="bg1"/>
                </a:solidFill>
              </a:endParaRPr>
            </a:p>
            <a:p>
              <a:endParaRPr lang="en-GB" sz="2200">
                <a:solidFill>
                  <a:schemeClr val="bg1"/>
                </a:solidFill>
              </a:endParaRPr>
            </a:p>
            <a:p>
              <a:endParaRPr lang="en-GB" sz="2200">
                <a:solidFill>
                  <a:schemeClr val="bg1"/>
                </a:solidFill>
              </a:endParaRPr>
            </a:p>
            <a:p>
              <a:endParaRPr lang="en-GB" sz="2200">
                <a:solidFill>
                  <a:schemeClr val="bg1"/>
                </a:solidFill>
              </a:endParaRPr>
            </a:p>
            <a:p>
              <a:pPr>
                <a:buFont typeface="Wingdings" pitchFamily="-107" charset="2"/>
                <a:buChar char="§"/>
              </a:pPr>
              <a:r>
                <a:rPr lang="en-GB" sz="2200">
                  <a:solidFill>
                    <a:schemeClr val="bg1"/>
                  </a:solidFill>
                </a:rPr>
                <a:t> cycle to cycle jitter</a:t>
              </a:r>
            </a:p>
            <a:p>
              <a:pPr>
                <a:buFont typeface="Wingdings" pitchFamily="-107" charset="2"/>
                <a:buChar char="§"/>
              </a:pPr>
              <a:r>
                <a:rPr lang="en-GB" sz="2200">
                  <a:solidFill>
                    <a:schemeClr val="bg1"/>
                  </a:solidFill>
                </a:rPr>
                <a:t> PLL + clock tree </a:t>
              </a:r>
            </a:p>
          </p:txBody>
        </p:sp>
        <p:grpSp>
          <p:nvGrpSpPr>
            <p:cNvPr id="8" name="Group 48"/>
            <p:cNvGrpSpPr>
              <a:grpSpLocks/>
            </p:cNvGrpSpPr>
            <p:nvPr/>
          </p:nvGrpSpPr>
          <p:grpSpPr bwMode="auto">
            <a:xfrm>
              <a:off x="3456" y="1536"/>
              <a:ext cx="1392" cy="240"/>
              <a:chOff x="288" y="3648"/>
              <a:chExt cx="1392" cy="240"/>
            </a:xfrm>
          </p:grpSpPr>
          <p:sp>
            <p:nvSpPr>
              <p:cNvPr id="44081" name="Line 49"/>
              <p:cNvSpPr>
                <a:spLocks noChangeShapeType="1"/>
              </p:cNvSpPr>
              <p:nvPr/>
            </p:nvSpPr>
            <p:spPr bwMode="auto">
              <a:xfrm>
                <a:off x="288" y="3888"/>
                <a:ext cx="240" cy="0"/>
              </a:xfrm>
              <a:prstGeom prst="line">
                <a:avLst/>
              </a:prstGeom>
              <a:noFill/>
              <a:ln w="28575">
                <a:solidFill>
                  <a:schemeClr val="bg1"/>
                </a:solidFill>
                <a:round/>
                <a:headEnd/>
                <a:tailEnd/>
              </a:ln>
            </p:spPr>
            <p:txBody>
              <a:bodyPr wrap="none" anchor="ctr">
                <a:prstTxWarp prst="textNoShape">
                  <a:avLst/>
                </a:prstTxWarp>
              </a:bodyPr>
              <a:lstStyle/>
              <a:p>
                <a:endParaRPr lang="en-US" sz="2200"/>
              </a:p>
            </p:txBody>
          </p:sp>
          <p:sp>
            <p:nvSpPr>
              <p:cNvPr id="44082" name="Line 50"/>
              <p:cNvSpPr>
                <a:spLocks noChangeShapeType="1"/>
              </p:cNvSpPr>
              <p:nvPr/>
            </p:nvSpPr>
            <p:spPr bwMode="auto">
              <a:xfrm flipV="1">
                <a:off x="528" y="3648"/>
                <a:ext cx="0" cy="240"/>
              </a:xfrm>
              <a:prstGeom prst="line">
                <a:avLst/>
              </a:prstGeom>
              <a:noFill/>
              <a:ln w="28575">
                <a:solidFill>
                  <a:schemeClr val="bg1"/>
                </a:solidFill>
                <a:round/>
                <a:headEnd/>
                <a:tailEnd/>
              </a:ln>
            </p:spPr>
            <p:txBody>
              <a:bodyPr wrap="none" anchor="ctr">
                <a:prstTxWarp prst="textNoShape">
                  <a:avLst/>
                </a:prstTxWarp>
              </a:bodyPr>
              <a:lstStyle/>
              <a:p>
                <a:endParaRPr lang="en-US" sz="2200"/>
              </a:p>
            </p:txBody>
          </p:sp>
          <p:sp>
            <p:nvSpPr>
              <p:cNvPr id="44083" name="Line 51"/>
              <p:cNvSpPr>
                <a:spLocks noChangeShapeType="1"/>
              </p:cNvSpPr>
              <p:nvPr/>
            </p:nvSpPr>
            <p:spPr bwMode="auto">
              <a:xfrm flipV="1">
                <a:off x="912" y="3648"/>
                <a:ext cx="0" cy="240"/>
              </a:xfrm>
              <a:prstGeom prst="line">
                <a:avLst/>
              </a:prstGeom>
              <a:noFill/>
              <a:ln w="28575">
                <a:solidFill>
                  <a:schemeClr val="bg1"/>
                </a:solidFill>
                <a:round/>
                <a:headEnd/>
                <a:tailEnd/>
              </a:ln>
            </p:spPr>
            <p:txBody>
              <a:bodyPr wrap="none" anchor="ctr">
                <a:prstTxWarp prst="textNoShape">
                  <a:avLst/>
                </a:prstTxWarp>
              </a:bodyPr>
              <a:lstStyle/>
              <a:p>
                <a:endParaRPr lang="en-US" sz="2200"/>
              </a:p>
            </p:txBody>
          </p:sp>
          <p:sp>
            <p:nvSpPr>
              <p:cNvPr id="44084" name="Line 52"/>
              <p:cNvSpPr>
                <a:spLocks noChangeShapeType="1"/>
              </p:cNvSpPr>
              <p:nvPr/>
            </p:nvSpPr>
            <p:spPr bwMode="auto">
              <a:xfrm flipV="1">
                <a:off x="1296" y="3648"/>
                <a:ext cx="0" cy="240"/>
              </a:xfrm>
              <a:prstGeom prst="line">
                <a:avLst/>
              </a:prstGeom>
              <a:noFill/>
              <a:ln w="28575">
                <a:solidFill>
                  <a:schemeClr val="bg1"/>
                </a:solidFill>
                <a:round/>
                <a:headEnd/>
                <a:tailEnd/>
              </a:ln>
            </p:spPr>
            <p:txBody>
              <a:bodyPr wrap="none" anchor="ctr">
                <a:prstTxWarp prst="textNoShape">
                  <a:avLst/>
                </a:prstTxWarp>
              </a:bodyPr>
              <a:lstStyle/>
              <a:p>
                <a:endParaRPr lang="en-US" sz="2200"/>
              </a:p>
            </p:txBody>
          </p:sp>
          <p:sp>
            <p:nvSpPr>
              <p:cNvPr id="44085" name="Line 53"/>
              <p:cNvSpPr>
                <a:spLocks noChangeShapeType="1"/>
              </p:cNvSpPr>
              <p:nvPr/>
            </p:nvSpPr>
            <p:spPr bwMode="auto">
              <a:xfrm>
                <a:off x="528" y="3648"/>
                <a:ext cx="384" cy="0"/>
              </a:xfrm>
              <a:prstGeom prst="line">
                <a:avLst/>
              </a:prstGeom>
              <a:noFill/>
              <a:ln w="28575">
                <a:solidFill>
                  <a:schemeClr val="bg1"/>
                </a:solidFill>
                <a:round/>
                <a:headEnd/>
                <a:tailEnd/>
              </a:ln>
            </p:spPr>
            <p:txBody>
              <a:bodyPr wrap="none" anchor="ctr">
                <a:prstTxWarp prst="textNoShape">
                  <a:avLst/>
                </a:prstTxWarp>
              </a:bodyPr>
              <a:lstStyle/>
              <a:p>
                <a:endParaRPr lang="en-US" sz="2200"/>
              </a:p>
            </p:txBody>
          </p:sp>
          <p:sp>
            <p:nvSpPr>
              <p:cNvPr id="44086" name="Line 54"/>
              <p:cNvSpPr>
                <a:spLocks noChangeShapeType="1"/>
              </p:cNvSpPr>
              <p:nvPr/>
            </p:nvSpPr>
            <p:spPr bwMode="auto">
              <a:xfrm>
                <a:off x="528" y="3648"/>
                <a:ext cx="384" cy="0"/>
              </a:xfrm>
              <a:prstGeom prst="line">
                <a:avLst/>
              </a:prstGeom>
              <a:noFill/>
              <a:ln w="28575">
                <a:solidFill>
                  <a:schemeClr val="bg1"/>
                </a:solidFill>
                <a:round/>
                <a:headEnd/>
                <a:tailEnd/>
              </a:ln>
            </p:spPr>
            <p:txBody>
              <a:bodyPr wrap="none" anchor="ctr">
                <a:prstTxWarp prst="textNoShape">
                  <a:avLst/>
                </a:prstTxWarp>
              </a:bodyPr>
              <a:lstStyle/>
              <a:p>
                <a:endParaRPr lang="en-US" sz="2200"/>
              </a:p>
            </p:txBody>
          </p:sp>
          <p:sp>
            <p:nvSpPr>
              <p:cNvPr id="44087" name="Line 55"/>
              <p:cNvSpPr>
                <a:spLocks noChangeShapeType="1"/>
              </p:cNvSpPr>
              <p:nvPr/>
            </p:nvSpPr>
            <p:spPr bwMode="auto">
              <a:xfrm>
                <a:off x="912" y="3888"/>
                <a:ext cx="384" cy="0"/>
              </a:xfrm>
              <a:prstGeom prst="line">
                <a:avLst/>
              </a:prstGeom>
              <a:noFill/>
              <a:ln w="28575">
                <a:solidFill>
                  <a:schemeClr val="bg1"/>
                </a:solidFill>
                <a:round/>
                <a:headEnd/>
                <a:tailEnd/>
              </a:ln>
            </p:spPr>
            <p:txBody>
              <a:bodyPr wrap="none" anchor="ctr">
                <a:prstTxWarp prst="textNoShape">
                  <a:avLst/>
                </a:prstTxWarp>
              </a:bodyPr>
              <a:lstStyle/>
              <a:p>
                <a:endParaRPr lang="en-US" sz="2200"/>
              </a:p>
            </p:txBody>
          </p:sp>
          <p:sp>
            <p:nvSpPr>
              <p:cNvPr id="44088" name="Line 56"/>
              <p:cNvSpPr>
                <a:spLocks noChangeShapeType="1"/>
              </p:cNvSpPr>
              <p:nvPr/>
            </p:nvSpPr>
            <p:spPr bwMode="auto">
              <a:xfrm>
                <a:off x="1296" y="3648"/>
                <a:ext cx="384" cy="0"/>
              </a:xfrm>
              <a:prstGeom prst="line">
                <a:avLst/>
              </a:prstGeom>
              <a:noFill/>
              <a:ln w="28575">
                <a:solidFill>
                  <a:schemeClr val="bg1"/>
                </a:solidFill>
                <a:round/>
                <a:headEnd/>
                <a:tailEnd/>
              </a:ln>
            </p:spPr>
            <p:txBody>
              <a:bodyPr wrap="none" anchor="ctr">
                <a:prstTxWarp prst="textNoShape">
                  <a:avLst/>
                </a:prstTxWarp>
              </a:bodyPr>
              <a:lstStyle/>
              <a:p>
                <a:endParaRPr lang="en-US" sz="2200"/>
              </a:p>
            </p:txBody>
          </p:sp>
          <p:sp>
            <p:nvSpPr>
              <p:cNvPr id="44089" name="Rectangle 57" descr="Wide downward diagonal"/>
              <p:cNvSpPr>
                <a:spLocks noChangeArrowheads="1"/>
              </p:cNvSpPr>
              <p:nvPr/>
            </p:nvSpPr>
            <p:spPr bwMode="auto">
              <a:xfrm>
                <a:off x="1248" y="3648"/>
                <a:ext cx="48" cy="240"/>
              </a:xfrm>
              <a:prstGeom prst="rect">
                <a:avLst/>
              </a:prstGeom>
              <a:pattFill prst="wdDnDiag">
                <a:fgClr>
                  <a:schemeClr val="bg1"/>
                </a:fgClr>
                <a:bgClr>
                  <a:srgbClr val="441671"/>
                </a:bgClr>
              </a:pattFill>
              <a:ln w="28575">
                <a:solidFill>
                  <a:schemeClr val="bg1"/>
                </a:solidFill>
                <a:miter lim="800000"/>
                <a:headEnd/>
                <a:tailEnd/>
              </a:ln>
            </p:spPr>
            <p:txBody>
              <a:bodyPr wrap="none" anchor="ctr">
                <a:prstTxWarp prst="textNoShape">
                  <a:avLst/>
                </a:prstTxWarp>
              </a:bodyPr>
              <a:lstStyle/>
              <a:p>
                <a:endParaRPr lang="en-US" sz="2200"/>
              </a:p>
            </p:txBody>
          </p:sp>
        </p:grpSp>
      </p:grpSp>
      <p:sp>
        <p:nvSpPr>
          <p:cNvPr id="44061" name="Text Box 58"/>
          <p:cNvSpPr txBox="1">
            <a:spLocks noChangeArrowheads="1"/>
          </p:cNvSpPr>
          <p:nvPr/>
        </p:nvSpPr>
        <p:spPr bwMode="auto">
          <a:xfrm>
            <a:off x="2270126" y="5951539"/>
            <a:ext cx="930275" cy="430887"/>
          </a:xfrm>
          <a:prstGeom prst="rect">
            <a:avLst/>
          </a:prstGeom>
          <a:noFill/>
          <a:ln w="6350">
            <a:noFill/>
            <a:miter lim="800000"/>
            <a:headEnd/>
            <a:tailEnd/>
          </a:ln>
        </p:spPr>
        <p:txBody>
          <a:bodyPr>
            <a:prstTxWarp prst="textNoShape">
              <a:avLst/>
            </a:prstTxWarp>
            <a:spAutoFit/>
          </a:bodyPr>
          <a:lstStyle/>
          <a:p>
            <a:endParaRPr lang="en-GB" sz="2200"/>
          </a:p>
        </p:txBody>
      </p:sp>
      <p:grpSp>
        <p:nvGrpSpPr>
          <p:cNvPr id="9" name="Group 59"/>
          <p:cNvGrpSpPr>
            <a:grpSpLocks/>
          </p:cNvGrpSpPr>
          <p:nvPr/>
        </p:nvGrpSpPr>
        <p:grpSpPr bwMode="auto">
          <a:xfrm>
            <a:off x="3127373" y="915988"/>
            <a:ext cx="5181602" cy="3290888"/>
            <a:chOff x="385" y="674"/>
            <a:chExt cx="3264" cy="2073"/>
          </a:xfrm>
        </p:grpSpPr>
        <p:grpSp>
          <p:nvGrpSpPr>
            <p:cNvPr id="10" name="Group 60"/>
            <p:cNvGrpSpPr>
              <a:grpSpLocks/>
            </p:cNvGrpSpPr>
            <p:nvPr/>
          </p:nvGrpSpPr>
          <p:grpSpPr bwMode="auto">
            <a:xfrm>
              <a:off x="385" y="674"/>
              <a:ext cx="3264" cy="2073"/>
              <a:chOff x="49" y="866"/>
              <a:chExt cx="3264" cy="2073"/>
            </a:xfrm>
          </p:grpSpPr>
          <p:grpSp>
            <p:nvGrpSpPr>
              <p:cNvPr id="11" name="Group 61"/>
              <p:cNvGrpSpPr>
                <a:grpSpLocks/>
              </p:cNvGrpSpPr>
              <p:nvPr/>
            </p:nvGrpSpPr>
            <p:grpSpPr bwMode="auto">
              <a:xfrm>
                <a:off x="49" y="866"/>
                <a:ext cx="3264" cy="2073"/>
                <a:chOff x="360" y="1841"/>
                <a:chExt cx="1655" cy="681"/>
              </a:xfrm>
            </p:grpSpPr>
            <p:sp>
              <p:nvSpPr>
                <p:cNvPr id="44076" name="AutoShape 62"/>
                <p:cNvSpPr>
                  <a:spLocks noChangeArrowheads="1"/>
                </p:cNvSpPr>
                <p:nvPr/>
              </p:nvSpPr>
              <p:spPr bwMode="auto">
                <a:xfrm>
                  <a:off x="360" y="1841"/>
                  <a:ext cx="1655" cy="678"/>
                </a:xfrm>
                <a:prstGeom prst="roundRect">
                  <a:avLst>
                    <a:gd name="adj" fmla="val 16667"/>
                  </a:avLst>
                </a:prstGeom>
                <a:gradFill rotWithShape="1">
                  <a:gsLst>
                    <a:gs pos="0">
                      <a:srgbClr val="FF3300"/>
                    </a:gs>
                    <a:gs pos="100000">
                      <a:srgbClr val="FF9175"/>
                    </a:gs>
                  </a:gsLst>
                  <a:lin ang="5400000" scaled="1"/>
                </a:gradFill>
                <a:ln w="6350">
                  <a:noFill/>
                  <a:round/>
                  <a:headEnd/>
                  <a:tailEnd/>
                </a:ln>
              </p:spPr>
              <p:txBody>
                <a:bodyPr wrap="none" anchor="ctr">
                  <a:prstTxWarp prst="textNoShape">
                    <a:avLst/>
                  </a:prstTxWarp>
                </a:bodyPr>
                <a:lstStyle/>
                <a:p>
                  <a:endParaRPr lang="en-US" sz="2200"/>
                </a:p>
              </p:txBody>
            </p:sp>
            <p:sp>
              <p:nvSpPr>
                <p:cNvPr id="44077" name="Text Box 63"/>
                <p:cNvSpPr txBox="1">
                  <a:spLocks noChangeArrowheads="1"/>
                </p:cNvSpPr>
                <p:nvPr/>
              </p:nvSpPr>
              <p:spPr bwMode="auto">
                <a:xfrm>
                  <a:off x="528" y="1872"/>
                  <a:ext cx="1401" cy="650"/>
                </a:xfrm>
                <a:prstGeom prst="rect">
                  <a:avLst/>
                </a:prstGeom>
                <a:noFill/>
                <a:ln w="6350">
                  <a:noFill/>
                  <a:miter lim="800000"/>
                  <a:headEnd/>
                  <a:tailEnd/>
                </a:ln>
              </p:spPr>
              <p:txBody>
                <a:bodyPr>
                  <a:prstTxWarp prst="textNoShape">
                    <a:avLst/>
                  </a:prstTxWarp>
                  <a:spAutoFit/>
                </a:bodyPr>
                <a:lstStyle/>
                <a:p>
                  <a:r>
                    <a:rPr lang="en-GB" sz="2200" dirty="0">
                      <a:solidFill>
                        <a:schemeClr val="bg1"/>
                      </a:solidFill>
                    </a:rPr>
                    <a:t>                 VOLTAGE</a:t>
                  </a:r>
                </a:p>
                <a:p>
                  <a:endParaRPr lang="en-GB" sz="2200" dirty="0">
                    <a:solidFill>
                      <a:schemeClr val="bg1"/>
                    </a:solidFill>
                  </a:endParaRPr>
                </a:p>
                <a:p>
                  <a:endParaRPr lang="en-GB" sz="2200" dirty="0">
                    <a:solidFill>
                      <a:schemeClr val="bg1"/>
                    </a:solidFill>
                  </a:endParaRPr>
                </a:p>
                <a:p>
                  <a:endParaRPr lang="en-GB" sz="2200" dirty="0">
                    <a:solidFill>
                      <a:schemeClr val="bg1"/>
                    </a:solidFill>
                  </a:endParaRPr>
                </a:p>
                <a:p>
                  <a:pPr>
                    <a:buFont typeface="Wingdings" pitchFamily="-107" charset="2"/>
                    <a:buChar char="§"/>
                  </a:pPr>
                  <a:r>
                    <a:rPr lang="en-GB" sz="2200" dirty="0">
                      <a:solidFill>
                        <a:schemeClr val="bg1"/>
                      </a:solidFill>
                    </a:rPr>
                    <a:t>VRM offset </a:t>
                  </a:r>
                </a:p>
                <a:p>
                  <a:pPr>
                    <a:buFont typeface="Wingdings" pitchFamily="-107" charset="2"/>
                    <a:buChar char="§"/>
                  </a:pPr>
                  <a:r>
                    <a:rPr lang="en-GB" sz="2200" dirty="0">
                      <a:solidFill>
                        <a:schemeClr val="bg1"/>
                      </a:solidFill>
                    </a:rPr>
                    <a:t>regulator noise and response </a:t>
                  </a:r>
                </a:p>
                <a:p>
                  <a:pPr>
                    <a:buFont typeface="Wingdings" pitchFamily="-107" charset="2"/>
                    <a:buChar char="§"/>
                  </a:pPr>
                  <a:r>
                    <a:rPr lang="en-GB" sz="2200" dirty="0">
                      <a:solidFill>
                        <a:schemeClr val="bg1"/>
                      </a:solidFill>
                    </a:rPr>
                    <a:t> IR drop </a:t>
                  </a:r>
                </a:p>
                <a:p>
                  <a:pPr>
                    <a:buFont typeface="Wingdings" pitchFamily="-107" charset="2"/>
                    <a:buChar char="§"/>
                  </a:pPr>
                  <a:r>
                    <a:rPr lang="en-GB" sz="2200" dirty="0">
                      <a:solidFill>
                        <a:schemeClr val="bg1"/>
                      </a:solidFill>
                    </a:rPr>
                    <a:t> </a:t>
                  </a:r>
                  <a:r>
                    <a:rPr lang="en-GB" sz="2200" dirty="0" err="1">
                      <a:solidFill>
                        <a:schemeClr val="bg1"/>
                      </a:solidFill>
                    </a:rPr>
                    <a:t>Ldi/dt</a:t>
                  </a:r>
                  <a:r>
                    <a:rPr lang="en-GB" sz="2200" dirty="0">
                      <a:solidFill>
                        <a:schemeClr val="bg1"/>
                      </a:solidFill>
                    </a:rPr>
                    <a:t> drop</a:t>
                  </a:r>
                </a:p>
                <a:p>
                  <a:endParaRPr lang="en-GB" sz="2200" dirty="0"/>
                </a:p>
              </p:txBody>
            </p:sp>
          </p:grpSp>
          <p:sp>
            <p:nvSpPr>
              <p:cNvPr id="44075" name="Freeform 64"/>
              <p:cNvSpPr>
                <a:spLocks/>
              </p:cNvSpPr>
              <p:nvPr/>
            </p:nvSpPr>
            <p:spPr bwMode="auto">
              <a:xfrm>
                <a:off x="864" y="1448"/>
                <a:ext cx="1824" cy="296"/>
              </a:xfrm>
              <a:custGeom>
                <a:avLst/>
                <a:gdLst>
                  <a:gd name="T0" fmla="*/ 0 w 1824"/>
                  <a:gd name="T1" fmla="*/ 40 h 296"/>
                  <a:gd name="T2" fmla="*/ 144 w 1824"/>
                  <a:gd name="T3" fmla="*/ 136 h 296"/>
                  <a:gd name="T4" fmla="*/ 192 w 1824"/>
                  <a:gd name="T5" fmla="*/ 280 h 296"/>
                  <a:gd name="T6" fmla="*/ 240 w 1824"/>
                  <a:gd name="T7" fmla="*/ 40 h 296"/>
                  <a:gd name="T8" fmla="*/ 384 w 1824"/>
                  <a:gd name="T9" fmla="*/ 40 h 296"/>
                  <a:gd name="T10" fmla="*/ 768 w 1824"/>
                  <a:gd name="T11" fmla="*/ 88 h 296"/>
                  <a:gd name="T12" fmla="*/ 1152 w 1824"/>
                  <a:gd name="T13" fmla="*/ 40 h 296"/>
                  <a:gd name="T14" fmla="*/ 1344 w 1824"/>
                  <a:gd name="T15" fmla="*/ 136 h 296"/>
                  <a:gd name="T16" fmla="*/ 1488 w 1824"/>
                  <a:gd name="T17" fmla="*/ 40 h 296"/>
                  <a:gd name="T18" fmla="*/ 1824 w 1824"/>
                  <a:gd name="T19" fmla="*/ 40 h 2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24"/>
                  <a:gd name="T31" fmla="*/ 0 h 296"/>
                  <a:gd name="T32" fmla="*/ 1824 w 1824"/>
                  <a:gd name="T33" fmla="*/ 296 h 29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24" h="296">
                    <a:moveTo>
                      <a:pt x="0" y="40"/>
                    </a:moveTo>
                    <a:cubicBezTo>
                      <a:pt x="56" y="68"/>
                      <a:pt x="112" y="96"/>
                      <a:pt x="144" y="136"/>
                    </a:cubicBezTo>
                    <a:cubicBezTo>
                      <a:pt x="176" y="176"/>
                      <a:pt x="176" y="296"/>
                      <a:pt x="192" y="280"/>
                    </a:cubicBezTo>
                    <a:cubicBezTo>
                      <a:pt x="208" y="264"/>
                      <a:pt x="208" y="80"/>
                      <a:pt x="240" y="40"/>
                    </a:cubicBezTo>
                    <a:cubicBezTo>
                      <a:pt x="272" y="0"/>
                      <a:pt x="296" y="32"/>
                      <a:pt x="384" y="40"/>
                    </a:cubicBezTo>
                    <a:cubicBezTo>
                      <a:pt x="472" y="48"/>
                      <a:pt x="640" y="88"/>
                      <a:pt x="768" y="88"/>
                    </a:cubicBezTo>
                    <a:cubicBezTo>
                      <a:pt x="896" y="88"/>
                      <a:pt x="1056" y="32"/>
                      <a:pt x="1152" y="40"/>
                    </a:cubicBezTo>
                    <a:cubicBezTo>
                      <a:pt x="1248" y="48"/>
                      <a:pt x="1288" y="136"/>
                      <a:pt x="1344" y="136"/>
                    </a:cubicBezTo>
                    <a:cubicBezTo>
                      <a:pt x="1400" y="136"/>
                      <a:pt x="1408" y="56"/>
                      <a:pt x="1488" y="40"/>
                    </a:cubicBezTo>
                    <a:cubicBezTo>
                      <a:pt x="1568" y="24"/>
                      <a:pt x="1768" y="40"/>
                      <a:pt x="1824" y="40"/>
                    </a:cubicBezTo>
                  </a:path>
                </a:pathLst>
              </a:custGeom>
              <a:noFill/>
              <a:ln w="19050">
                <a:solidFill>
                  <a:schemeClr val="bg1"/>
                </a:solidFill>
                <a:round/>
                <a:headEnd/>
                <a:tailEnd/>
              </a:ln>
            </p:spPr>
            <p:txBody>
              <a:bodyPr wrap="none" anchor="ctr">
                <a:prstTxWarp prst="textNoShape">
                  <a:avLst/>
                </a:prstTxWarp>
              </a:bodyPr>
              <a:lstStyle/>
              <a:p>
                <a:endParaRPr lang="en-US" sz="2200"/>
              </a:p>
            </p:txBody>
          </p:sp>
        </p:grpSp>
        <p:sp>
          <p:nvSpPr>
            <p:cNvPr id="44073" name="Text Box 65"/>
            <p:cNvSpPr txBox="1">
              <a:spLocks noChangeArrowheads="1"/>
            </p:cNvSpPr>
            <p:nvPr/>
          </p:nvSpPr>
          <p:spPr bwMode="auto">
            <a:xfrm>
              <a:off x="671" y="1248"/>
              <a:ext cx="500" cy="271"/>
            </a:xfrm>
            <a:prstGeom prst="rect">
              <a:avLst/>
            </a:prstGeom>
            <a:noFill/>
            <a:ln w="6350">
              <a:noFill/>
              <a:miter lim="800000"/>
              <a:headEnd/>
              <a:tailEnd/>
            </a:ln>
          </p:spPr>
          <p:txBody>
            <a:bodyPr wrap="none">
              <a:prstTxWarp prst="textNoShape">
                <a:avLst/>
              </a:prstTxWarp>
              <a:spAutoFit/>
            </a:bodyPr>
            <a:lstStyle/>
            <a:p>
              <a:r>
                <a:rPr lang="en-GB" sz="2200" dirty="0">
                  <a:solidFill>
                    <a:schemeClr val="bg1"/>
                  </a:solidFill>
                </a:rPr>
                <a:t>VDD</a:t>
              </a:r>
            </a:p>
          </p:txBody>
        </p:sp>
      </p:grpSp>
      <p:sp>
        <p:nvSpPr>
          <p:cNvPr id="44064" name="Text Box 70"/>
          <p:cNvSpPr txBox="1">
            <a:spLocks noChangeArrowheads="1"/>
          </p:cNvSpPr>
          <p:nvPr/>
        </p:nvSpPr>
        <p:spPr bwMode="auto">
          <a:xfrm>
            <a:off x="2133600" y="4876801"/>
            <a:ext cx="764490" cy="430887"/>
          </a:xfrm>
          <a:prstGeom prst="rect">
            <a:avLst/>
          </a:prstGeom>
          <a:noFill/>
          <a:ln w="9525">
            <a:noFill/>
            <a:miter lim="800000"/>
            <a:headEnd/>
            <a:tailEnd/>
          </a:ln>
        </p:spPr>
        <p:txBody>
          <a:bodyPr wrap="none">
            <a:prstTxWarp prst="textNoShape">
              <a:avLst/>
            </a:prstTxWarp>
            <a:spAutoFit/>
          </a:bodyPr>
          <a:lstStyle/>
          <a:p>
            <a:r>
              <a:rPr lang="en-GB" sz="2200" b="1" dirty="0"/>
              <a:t>CLK</a:t>
            </a:r>
          </a:p>
        </p:txBody>
      </p:sp>
      <p:sp>
        <p:nvSpPr>
          <p:cNvPr id="44065" name="Line 71"/>
          <p:cNvSpPr>
            <a:spLocks noChangeShapeType="1"/>
          </p:cNvSpPr>
          <p:nvPr/>
        </p:nvSpPr>
        <p:spPr bwMode="auto">
          <a:xfrm>
            <a:off x="2667000" y="5457825"/>
            <a:ext cx="457200" cy="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75" name="AutoShape 35"/>
          <p:cNvSpPr>
            <a:spLocks/>
          </p:cNvSpPr>
          <p:nvPr/>
        </p:nvSpPr>
        <p:spPr bwMode="auto">
          <a:xfrm>
            <a:off x="5486400" y="5943600"/>
            <a:ext cx="947738" cy="323850"/>
          </a:xfrm>
          <a:prstGeom prst="borderCallout1">
            <a:avLst>
              <a:gd name="adj1" fmla="val 37500"/>
              <a:gd name="adj2" fmla="val 111111"/>
              <a:gd name="adj3" fmla="val -173958"/>
              <a:gd name="adj4" fmla="val 238889"/>
            </a:avLst>
          </a:prstGeom>
          <a:gradFill rotWithShape="1">
            <a:gsLst>
              <a:gs pos="0">
                <a:srgbClr val="55AA55"/>
              </a:gs>
              <a:gs pos="100000">
                <a:srgbClr val="008000"/>
              </a:gs>
            </a:gsLst>
            <a:lin ang="5400000" scaled="1"/>
          </a:gradFill>
          <a:ln w="9525">
            <a:solidFill>
              <a:srgbClr val="008000"/>
            </a:solidFill>
            <a:miter lim="800000"/>
            <a:headEnd/>
            <a:tailEnd/>
          </a:ln>
        </p:spPr>
        <p:txBody>
          <a:bodyPr anchor="ctr" anchorCtr="1">
            <a:prstTxWarp prst="textNoShape">
              <a:avLst/>
            </a:prstTxWarp>
          </a:bodyPr>
          <a:lstStyle/>
          <a:p>
            <a:r>
              <a:rPr lang="en-GB" sz="2200" dirty="0">
                <a:solidFill>
                  <a:schemeClr val="bg1"/>
                </a:solidFill>
              </a:rPr>
              <a:t>temp</a:t>
            </a:r>
          </a:p>
        </p:txBody>
      </p:sp>
      <p:sp>
        <p:nvSpPr>
          <p:cNvPr id="76" name="AutoShape 33"/>
          <p:cNvSpPr>
            <a:spLocks/>
          </p:cNvSpPr>
          <p:nvPr/>
        </p:nvSpPr>
        <p:spPr bwMode="auto">
          <a:xfrm flipH="1">
            <a:off x="8464550" y="6096000"/>
            <a:ext cx="908050" cy="304800"/>
          </a:xfrm>
          <a:prstGeom prst="borderCallout1">
            <a:avLst>
              <a:gd name="adj1" fmla="val 37500"/>
              <a:gd name="adj2" fmla="val 111111"/>
              <a:gd name="adj3" fmla="val -171875"/>
              <a:gd name="adj4" fmla="val 140278"/>
            </a:avLst>
          </a:prstGeom>
          <a:gradFill rotWithShape="1">
            <a:gsLst>
              <a:gs pos="0">
                <a:srgbClr val="9933FF"/>
              </a:gs>
              <a:gs pos="100000">
                <a:srgbClr val="471876"/>
              </a:gs>
            </a:gsLst>
            <a:lin ang="5400000" scaled="1"/>
          </a:gradFill>
          <a:ln w="9525">
            <a:solidFill>
              <a:srgbClr val="9933FF"/>
            </a:solidFill>
            <a:miter lim="800000"/>
            <a:headEnd/>
            <a:tailEnd/>
          </a:ln>
        </p:spPr>
        <p:txBody>
          <a:bodyPr anchor="ctr" anchorCtr="1">
            <a:prstTxWarp prst="textNoShape">
              <a:avLst/>
            </a:prstTxWarp>
          </a:bodyPr>
          <a:lstStyle/>
          <a:p>
            <a:r>
              <a:rPr lang="en-GB" sz="2200" dirty="0">
                <a:solidFill>
                  <a:schemeClr val="bg1"/>
                </a:solidFill>
              </a:rPr>
              <a:t>jitter</a:t>
            </a:r>
          </a:p>
        </p:txBody>
      </p:sp>
      <p:sp>
        <p:nvSpPr>
          <p:cNvPr id="77" name="AutoShape 34"/>
          <p:cNvSpPr>
            <a:spLocks/>
          </p:cNvSpPr>
          <p:nvPr/>
        </p:nvSpPr>
        <p:spPr bwMode="auto">
          <a:xfrm>
            <a:off x="6705601" y="6078538"/>
            <a:ext cx="1271587" cy="322262"/>
          </a:xfrm>
          <a:prstGeom prst="borderCallout1">
            <a:avLst>
              <a:gd name="adj1" fmla="val -9791"/>
              <a:gd name="adj2" fmla="val 63739"/>
              <a:gd name="adj3" fmla="val -197829"/>
              <a:gd name="adj4" fmla="val 92261"/>
            </a:avLst>
          </a:prstGeom>
          <a:gradFill rotWithShape="1">
            <a:gsLst>
              <a:gs pos="0">
                <a:srgbClr val="0000FF"/>
              </a:gs>
              <a:gs pos="100000">
                <a:srgbClr val="3939FF"/>
              </a:gs>
            </a:gsLst>
            <a:lin ang="5400000" scaled="1"/>
          </a:gradFill>
          <a:ln w="9525">
            <a:solidFill>
              <a:srgbClr val="0000FF"/>
            </a:solidFill>
            <a:miter lim="800000"/>
            <a:headEnd/>
            <a:tailEnd/>
          </a:ln>
        </p:spPr>
        <p:txBody>
          <a:bodyPr anchor="ctr" anchorCtr="1">
            <a:prstTxWarp prst="textNoShape">
              <a:avLst/>
            </a:prstTxWarp>
          </a:bodyPr>
          <a:lstStyle/>
          <a:p>
            <a:r>
              <a:rPr lang="en-GB" sz="2200" dirty="0">
                <a:solidFill>
                  <a:schemeClr val="bg1"/>
                </a:solidFill>
              </a:rPr>
              <a:t>coupling</a:t>
            </a:r>
          </a:p>
        </p:txBody>
      </p:sp>
      <p:sp>
        <p:nvSpPr>
          <p:cNvPr id="81" name="AutoShape 36"/>
          <p:cNvSpPr>
            <a:spLocks/>
          </p:cNvSpPr>
          <p:nvPr/>
        </p:nvSpPr>
        <p:spPr bwMode="auto">
          <a:xfrm>
            <a:off x="4182828" y="5704802"/>
            <a:ext cx="1171575" cy="373737"/>
          </a:xfrm>
          <a:prstGeom prst="borderCallout1">
            <a:avLst>
              <a:gd name="adj1" fmla="val 37500"/>
              <a:gd name="adj2" fmla="val 111111"/>
              <a:gd name="adj3" fmla="val -175523"/>
              <a:gd name="adj4" fmla="val 284706"/>
            </a:avLst>
          </a:prstGeom>
          <a:gradFill rotWithShape="1">
            <a:gsLst>
              <a:gs pos="0">
                <a:srgbClr val="FF7755"/>
              </a:gs>
              <a:gs pos="100000">
                <a:srgbClr val="FF3300"/>
              </a:gs>
            </a:gsLst>
            <a:lin ang="5400000" scaled="1"/>
          </a:gradFill>
          <a:ln w="9525">
            <a:solidFill>
              <a:srgbClr val="FF3300"/>
            </a:solidFill>
            <a:miter lim="800000"/>
            <a:headEnd/>
            <a:tailEnd/>
          </a:ln>
        </p:spPr>
        <p:txBody>
          <a:bodyPr anchor="ctr" anchorCtr="1">
            <a:prstTxWarp prst="textNoShape">
              <a:avLst/>
            </a:prstTxWarp>
          </a:bodyPr>
          <a:lstStyle/>
          <a:p>
            <a:r>
              <a:rPr lang="en-GB" sz="2200" dirty="0">
                <a:solidFill>
                  <a:schemeClr val="bg1"/>
                </a:solidFill>
              </a:rPr>
              <a:t>voltage</a:t>
            </a:r>
          </a:p>
        </p:txBody>
      </p:sp>
      <p:sp>
        <p:nvSpPr>
          <p:cNvPr id="55" name="Title 1"/>
          <p:cNvSpPr txBox="1">
            <a:spLocks/>
          </p:cNvSpPr>
          <p:nvPr/>
        </p:nvSpPr>
        <p:spPr>
          <a:xfrm>
            <a:off x="1676400" y="152400"/>
            <a:ext cx="8839200" cy="609600"/>
          </a:xfrm>
          <a:prstGeom prst="rect">
            <a:avLst/>
          </a:prstGeom>
        </p:spPr>
        <p:txBody>
          <a:bodyPr/>
          <a:lstStyle>
            <a:lvl1pPr algn="l" rtl="0" eaLnBrk="1" fontAlgn="base" hangingPunct="1">
              <a:spcBef>
                <a:spcPct val="0"/>
              </a:spcBef>
              <a:spcAft>
                <a:spcPct val="0"/>
              </a:spcAft>
              <a:defRPr sz="3600" b="1" kern="1200">
                <a:solidFill>
                  <a:srgbClr val="002060"/>
                </a:solidFill>
                <a:latin typeface="Calibri" pitchFamily="34" charset="0"/>
                <a:ea typeface="+mj-ea"/>
                <a:cs typeface="Calibri" pitchFamily="34" charset="0"/>
              </a:defRPr>
            </a:lvl1pPr>
            <a:lvl2pPr algn="ctr" rtl="0" eaLnBrk="1" fontAlgn="base" hangingPunct="1">
              <a:spcBef>
                <a:spcPct val="0"/>
              </a:spcBef>
              <a:spcAft>
                <a:spcPct val="0"/>
              </a:spcAft>
              <a:defRPr sz="3600" b="1">
                <a:solidFill>
                  <a:schemeClr val="tx1"/>
                </a:solidFill>
                <a:latin typeface="Trebuchet MS" pitchFamily="34" charset="0"/>
              </a:defRPr>
            </a:lvl2pPr>
            <a:lvl3pPr algn="ctr" rtl="0" eaLnBrk="1" fontAlgn="base" hangingPunct="1">
              <a:spcBef>
                <a:spcPct val="0"/>
              </a:spcBef>
              <a:spcAft>
                <a:spcPct val="0"/>
              </a:spcAft>
              <a:defRPr sz="3600" b="1">
                <a:solidFill>
                  <a:schemeClr val="tx1"/>
                </a:solidFill>
                <a:latin typeface="Trebuchet MS" pitchFamily="34" charset="0"/>
              </a:defRPr>
            </a:lvl3pPr>
            <a:lvl4pPr algn="ctr" rtl="0" eaLnBrk="1" fontAlgn="base" hangingPunct="1">
              <a:spcBef>
                <a:spcPct val="0"/>
              </a:spcBef>
              <a:spcAft>
                <a:spcPct val="0"/>
              </a:spcAft>
              <a:defRPr sz="3600" b="1">
                <a:solidFill>
                  <a:schemeClr val="tx1"/>
                </a:solidFill>
                <a:latin typeface="Trebuchet MS" pitchFamily="34" charset="0"/>
              </a:defRPr>
            </a:lvl4pPr>
            <a:lvl5pPr algn="ctr" rtl="0" eaLnBrk="1" fontAlgn="base" hangingPunct="1">
              <a:spcBef>
                <a:spcPct val="0"/>
              </a:spcBef>
              <a:spcAft>
                <a:spcPct val="0"/>
              </a:spcAft>
              <a:defRPr sz="3600" b="1">
                <a:solidFill>
                  <a:schemeClr val="tx1"/>
                </a:solidFill>
                <a:latin typeface="Trebuchet MS" pitchFamily="34" charset="0"/>
              </a:defRPr>
            </a:lvl5pPr>
            <a:lvl6pPr marL="457200" algn="ctr" rtl="0" eaLnBrk="1" fontAlgn="base" hangingPunct="1">
              <a:spcBef>
                <a:spcPct val="0"/>
              </a:spcBef>
              <a:spcAft>
                <a:spcPct val="0"/>
              </a:spcAft>
              <a:defRPr sz="3600" b="1">
                <a:solidFill>
                  <a:schemeClr val="tx1"/>
                </a:solidFill>
                <a:latin typeface="Trebuchet MS" pitchFamily="34" charset="0"/>
              </a:defRPr>
            </a:lvl6pPr>
            <a:lvl7pPr marL="914400" algn="ctr" rtl="0" eaLnBrk="1" fontAlgn="base" hangingPunct="1">
              <a:spcBef>
                <a:spcPct val="0"/>
              </a:spcBef>
              <a:spcAft>
                <a:spcPct val="0"/>
              </a:spcAft>
              <a:defRPr sz="3600" b="1">
                <a:solidFill>
                  <a:schemeClr val="tx1"/>
                </a:solidFill>
                <a:latin typeface="Trebuchet MS" pitchFamily="34" charset="0"/>
              </a:defRPr>
            </a:lvl7pPr>
            <a:lvl8pPr marL="1371600" algn="ctr" rtl="0" eaLnBrk="1" fontAlgn="base" hangingPunct="1">
              <a:spcBef>
                <a:spcPct val="0"/>
              </a:spcBef>
              <a:spcAft>
                <a:spcPct val="0"/>
              </a:spcAft>
              <a:defRPr sz="3600" b="1">
                <a:solidFill>
                  <a:schemeClr val="tx1"/>
                </a:solidFill>
                <a:latin typeface="Trebuchet MS" pitchFamily="34" charset="0"/>
              </a:defRPr>
            </a:lvl8pPr>
            <a:lvl9pPr marL="1828800" algn="ctr" rtl="0" eaLnBrk="1" fontAlgn="base" hangingPunct="1">
              <a:spcBef>
                <a:spcPct val="0"/>
              </a:spcBef>
              <a:spcAft>
                <a:spcPct val="0"/>
              </a:spcAft>
              <a:defRPr sz="3600" b="1">
                <a:solidFill>
                  <a:schemeClr val="tx1"/>
                </a:solidFill>
                <a:latin typeface="Trebuchet MS" pitchFamily="34" charset="0"/>
              </a:defRPr>
            </a:lvl9pPr>
          </a:lstStyle>
          <a:p>
            <a:r>
              <a:rPr lang="en-US" dirty="0"/>
              <a:t>Margins in Design</a:t>
            </a:r>
          </a:p>
        </p:txBody>
      </p:sp>
    </p:spTree>
    <p:extLst>
      <p:ext uri="{BB962C8B-B14F-4D97-AF65-F5344CB8AC3E}">
        <p14:creationId xmlns:p14="http://schemas.microsoft.com/office/powerpoint/2010/main" val="372816863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2"/>
          <p:cNvSpPr>
            <a:spLocks noChangeArrowheads="1"/>
          </p:cNvSpPr>
          <p:nvPr/>
        </p:nvSpPr>
        <p:spPr bwMode="auto">
          <a:xfrm>
            <a:off x="7848600" y="4848225"/>
            <a:ext cx="228600" cy="609600"/>
          </a:xfrm>
          <a:prstGeom prst="rect">
            <a:avLst/>
          </a:prstGeom>
          <a:solidFill>
            <a:srgbClr val="0000FF"/>
          </a:solidFill>
          <a:ln w="9525">
            <a:noFill/>
            <a:miter lim="800000"/>
            <a:headEnd/>
            <a:tailEnd/>
          </a:ln>
        </p:spPr>
        <p:txBody>
          <a:bodyPr wrap="none" anchor="ctr">
            <a:prstTxWarp prst="textNoShape">
              <a:avLst/>
            </a:prstTxWarp>
          </a:bodyPr>
          <a:lstStyle/>
          <a:p>
            <a:endParaRPr lang="en-US" sz="2200"/>
          </a:p>
        </p:txBody>
      </p:sp>
      <p:sp>
        <p:nvSpPr>
          <p:cNvPr id="327683" name="Rectangle 3"/>
          <p:cNvSpPr>
            <a:spLocks noChangeArrowheads="1"/>
          </p:cNvSpPr>
          <p:nvPr/>
        </p:nvSpPr>
        <p:spPr bwMode="auto">
          <a:xfrm>
            <a:off x="7772400" y="4848225"/>
            <a:ext cx="76200" cy="609600"/>
          </a:xfrm>
          <a:prstGeom prst="rect">
            <a:avLst/>
          </a:prstGeom>
          <a:solidFill>
            <a:srgbClr val="339966"/>
          </a:solidFill>
          <a:ln w="9525">
            <a:noFill/>
            <a:miter lim="800000"/>
            <a:headEnd/>
            <a:tailEnd/>
          </a:ln>
        </p:spPr>
        <p:txBody>
          <a:bodyPr wrap="none" anchor="ctr">
            <a:prstTxWarp prst="textNoShape">
              <a:avLst/>
            </a:prstTxWarp>
          </a:bodyPr>
          <a:lstStyle/>
          <a:p>
            <a:endParaRPr lang="en-US" sz="2200"/>
          </a:p>
        </p:txBody>
      </p:sp>
      <p:sp>
        <p:nvSpPr>
          <p:cNvPr id="327684" name="Rectangle 4"/>
          <p:cNvSpPr>
            <a:spLocks noChangeArrowheads="1"/>
          </p:cNvSpPr>
          <p:nvPr/>
        </p:nvSpPr>
        <p:spPr bwMode="auto">
          <a:xfrm>
            <a:off x="8077200" y="4848225"/>
            <a:ext cx="76200" cy="609600"/>
          </a:xfrm>
          <a:prstGeom prst="rect">
            <a:avLst/>
          </a:prstGeom>
          <a:solidFill>
            <a:srgbClr val="9933FF"/>
          </a:solidFill>
          <a:ln w="9525">
            <a:noFill/>
            <a:miter lim="800000"/>
            <a:headEnd/>
            <a:tailEnd/>
          </a:ln>
        </p:spPr>
        <p:txBody>
          <a:bodyPr wrap="none" anchor="ctr">
            <a:prstTxWarp prst="textNoShape">
              <a:avLst/>
            </a:prstTxWarp>
          </a:bodyPr>
          <a:lstStyle/>
          <a:p>
            <a:endParaRPr lang="en-US" sz="2200"/>
          </a:p>
        </p:txBody>
      </p:sp>
      <p:sp>
        <p:nvSpPr>
          <p:cNvPr id="327685" name="Rectangle 5"/>
          <p:cNvSpPr>
            <a:spLocks noChangeArrowheads="1"/>
          </p:cNvSpPr>
          <p:nvPr/>
        </p:nvSpPr>
        <p:spPr bwMode="auto">
          <a:xfrm>
            <a:off x="7315200" y="4848225"/>
            <a:ext cx="457200" cy="609600"/>
          </a:xfrm>
          <a:prstGeom prst="rect">
            <a:avLst/>
          </a:prstGeom>
          <a:solidFill>
            <a:srgbClr val="FF3300"/>
          </a:solidFill>
          <a:ln w="9525">
            <a:noFill/>
            <a:miter lim="800000"/>
            <a:headEnd/>
            <a:tailEnd/>
          </a:ln>
        </p:spPr>
        <p:txBody>
          <a:bodyPr wrap="none" anchor="ctr">
            <a:prstTxWarp prst="textNoShape">
              <a:avLst/>
            </a:prstTxWarp>
          </a:bodyPr>
          <a:lstStyle/>
          <a:p>
            <a:endParaRPr lang="en-US" sz="2200"/>
          </a:p>
        </p:txBody>
      </p:sp>
      <p:sp>
        <p:nvSpPr>
          <p:cNvPr id="327686" name="Rectangle 6"/>
          <p:cNvSpPr>
            <a:spLocks noChangeArrowheads="1"/>
          </p:cNvSpPr>
          <p:nvPr/>
        </p:nvSpPr>
        <p:spPr bwMode="auto">
          <a:xfrm>
            <a:off x="6858000" y="4848225"/>
            <a:ext cx="457200" cy="609600"/>
          </a:xfrm>
          <a:prstGeom prst="rect">
            <a:avLst/>
          </a:prstGeom>
          <a:solidFill>
            <a:srgbClr val="0099CC"/>
          </a:solidFill>
          <a:ln w="9525">
            <a:noFill/>
            <a:miter lim="800000"/>
            <a:headEnd/>
            <a:tailEnd/>
          </a:ln>
        </p:spPr>
        <p:txBody>
          <a:bodyPr wrap="none" anchor="ctr">
            <a:prstTxWarp prst="textNoShape">
              <a:avLst/>
            </a:prstTxWarp>
          </a:bodyPr>
          <a:lstStyle/>
          <a:p>
            <a:endParaRPr lang="en-US" sz="2200"/>
          </a:p>
        </p:txBody>
      </p:sp>
      <p:grpSp>
        <p:nvGrpSpPr>
          <p:cNvPr id="2" name="Group 12"/>
          <p:cNvGrpSpPr>
            <a:grpSpLocks/>
          </p:cNvGrpSpPr>
          <p:nvPr/>
        </p:nvGrpSpPr>
        <p:grpSpPr bwMode="auto">
          <a:xfrm>
            <a:off x="3125788" y="912813"/>
            <a:ext cx="5181600" cy="3276600"/>
            <a:chOff x="529" y="1487"/>
            <a:chExt cx="3264" cy="2064"/>
          </a:xfrm>
        </p:grpSpPr>
        <p:grpSp>
          <p:nvGrpSpPr>
            <p:cNvPr id="3" name="Group 13"/>
            <p:cNvGrpSpPr>
              <a:grpSpLocks/>
            </p:cNvGrpSpPr>
            <p:nvPr/>
          </p:nvGrpSpPr>
          <p:grpSpPr bwMode="auto">
            <a:xfrm>
              <a:off x="529" y="1487"/>
              <a:ext cx="3264" cy="2064"/>
              <a:chOff x="435" y="1839"/>
              <a:chExt cx="1703" cy="662"/>
            </a:xfrm>
          </p:grpSpPr>
          <p:sp>
            <p:nvSpPr>
              <p:cNvPr id="44102" name="AutoShape 14"/>
              <p:cNvSpPr>
                <a:spLocks noChangeArrowheads="1"/>
              </p:cNvSpPr>
              <p:nvPr/>
            </p:nvSpPr>
            <p:spPr bwMode="auto">
              <a:xfrm>
                <a:off x="435" y="1839"/>
                <a:ext cx="1703" cy="662"/>
              </a:xfrm>
              <a:prstGeom prst="roundRect">
                <a:avLst>
                  <a:gd name="adj" fmla="val 16667"/>
                </a:avLst>
              </a:prstGeom>
              <a:gradFill rotWithShape="1">
                <a:gsLst>
                  <a:gs pos="0">
                    <a:srgbClr val="0099CC"/>
                  </a:gs>
                  <a:gs pos="100000">
                    <a:srgbClr val="6DC5E2"/>
                  </a:gs>
                </a:gsLst>
                <a:lin ang="5400000" scaled="1"/>
              </a:gradFill>
              <a:ln w="6350">
                <a:noFill/>
                <a:round/>
                <a:headEnd/>
                <a:tailEnd/>
              </a:ln>
            </p:spPr>
            <p:txBody>
              <a:bodyPr wrap="none" anchor="ctr">
                <a:prstTxWarp prst="textNoShape">
                  <a:avLst/>
                </a:prstTxWarp>
              </a:bodyPr>
              <a:lstStyle/>
              <a:p>
                <a:endParaRPr lang="en-GB" sz="2200"/>
              </a:p>
            </p:txBody>
          </p:sp>
          <p:sp>
            <p:nvSpPr>
              <p:cNvPr id="44103" name="Text Box 15"/>
              <p:cNvSpPr txBox="1">
                <a:spLocks noChangeArrowheads="1"/>
              </p:cNvSpPr>
              <p:nvPr/>
            </p:nvSpPr>
            <p:spPr bwMode="auto">
              <a:xfrm>
                <a:off x="459" y="1872"/>
                <a:ext cx="1401" cy="429"/>
              </a:xfrm>
              <a:prstGeom prst="rect">
                <a:avLst/>
              </a:prstGeom>
              <a:noFill/>
              <a:ln w="6350">
                <a:noFill/>
                <a:miter lim="800000"/>
                <a:headEnd/>
                <a:tailEnd/>
              </a:ln>
            </p:spPr>
            <p:txBody>
              <a:bodyPr>
                <a:prstTxWarp prst="textNoShape">
                  <a:avLst/>
                </a:prstTxWarp>
                <a:spAutoFit/>
              </a:bodyPr>
              <a:lstStyle/>
              <a:p>
                <a:r>
                  <a:rPr lang="en-GB" sz="2200" dirty="0">
                    <a:solidFill>
                      <a:schemeClr val="bg1"/>
                    </a:solidFill>
                  </a:rPr>
                  <a:t>                      PROCESS</a:t>
                </a:r>
              </a:p>
              <a:p>
                <a:pPr>
                  <a:buFont typeface="Wingdings" pitchFamily="-107" charset="2"/>
                  <a:buChar char="§"/>
                </a:pPr>
                <a:r>
                  <a:rPr lang="en-GB" sz="2200" dirty="0">
                    <a:solidFill>
                      <a:schemeClr val="bg1"/>
                    </a:solidFill>
                  </a:rPr>
                  <a:t> global corners</a:t>
                </a:r>
              </a:p>
              <a:p>
                <a:pPr>
                  <a:buFont typeface="Wingdings" pitchFamily="-107" charset="2"/>
                  <a:buChar char="§"/>
                </a:pPr>
                <a:r>
                  <a:rPr lang="en-GB" sz="2200" dirty="0">
                    <a:solidFill>
                      <a:schemeClr val="bg1"/>
                    </a:solidFill>
                  </a:rPr>
                  <a:t> local mismatch</a:t>
                </a:r>
              </a:p>
              <a:p>
                <a:pPr>
                  <a:buFont typeface="Wingdings" pitchFamily="-107" charset="2"/>
                  <a:buChar char="§"/>
                </a:pPr>
                <a:r>
                  <a:rPr lang="en-GB" sz="2200" dirty="0">
                    <a:solidFill>
                      <a:schemeClr val="bg1"/>
                    </a:solidFill>
                  </a:rPr>
                  <a:t> device + wire</a:t>
                </a:r>
              </a:p>
              <a:p>
                <a:endParaRPr lang="en-GB" sz="2200" dirty="0">
                  <a:solidFill>
                    <a:schemeClr val="bg1"/>
                  </a:solidFill>
                </a:endParaRPr>
              </a:p>
              <a:p>
                <a:endParaRPr lang="en-GB" sz="2200" dirty="0"/>
              </a:p>
            </p:txBody>
          </p:sp>
        </p:grpSp>
        <p:grpSp>
          <p:nvGrpSpPr>
            <p:cNvPr id="4" name="Group 16"/>
            <p:cNvGrpSpPr>
              <a:grpSpLocks/>
            </p:cNvGrpSpPr>
            <p:nvPr/>
          </p:nvGrpSpPr>
          <p:grpSpPr bwMode="auto">
            <a:xfrm>
              <a:off x="1071" y="1872"/>
              <a:ext cx="2481" cy="1423"/>
              <a:chOff x="1071" y="1872"/>
              <a:chExt cx="2481" cy="1423"/>
            </a:xfrm>
          </p:grpSpPr>
          <p:sp>
            <p:nvSpPr>
              <p:cNvPr id="44094" name="Oval 17"/>
              <p:cNvSpPr>
                <a:spLocks noChangeArrowheads="1"/>
              </p:cNvSpPr>
              <p:nvPr/>
            </p:nvSpPr>
            <p:spPr bwMode="auto">
              <a:xfrm rot="-1905183">
                <a:off x="1536" y="2208"/>
                <a:ext cx="1584" cy="720"/>
              </a:xfrm>
              <a:prstGeom prst="ellipse">
                <a:avLst/>
              </a:prstGeom>
              <a:noFill/>
              <a:ln w="6350">
                <a:solidFill>
                  <a:schemeClr val="bg1"/>
                </a:solidFill>
                <a:round/>
                <a:headEnd/>
                <a:tailEnd/>
              </a:ln>
            </p:spPr>
            <p:txBody>
              <a:bodyPr wrap="none" anchor="ctr">
                <a:prstTxWarp prst="textNoShape">
                  <a:avLst/>
                </a:prstTxWarp>
              </a:bodyPr>
              <a:lstStyle/>
              <a:p>
                <a:endParaRPr lang="en-US" sz="2200"/>
              </a:p>
            </p:txBody>
          </p:sp>
          <p:grpSp>
            <p:nvGrpSpPr>
              <p:cNvPr id="5" name="Group 18"/>
              <p:cNvGrpSpPr>
                <a:grpSpLocks/>
              </p:cNvGrpSpPr>
              <p:nvPr/>
            </p:nvGrpSpPr>
            <p:grpSpPr bwMode="auto">
              <a:xfrm>
                <a:off x="1071" y="1872"/>
                <a:ext cx="2481" cy="1423"/>
                <a:chOff x="816" y="1872"/>
                <a:chExt cx="2481" cy="1423"/>
              </a:xfrm>
            </p:grpSpPr>
            <p:sp>
              <p:nvSpPr>
                <p:cNvPr id="44096" name="Text Box 19"/>
                <p:cNvSpPr txBox="1">
                  <a:spLocks noChangeArrowheads="1"/>
                </p:cNvSpPr>
                <p:nvPr/>
              </p:nvSpPr>
              <p:spPr bwMode="auto">
                <a:xfrm>
                  <a:off x="968" y="3024"/>
                  <a:ext cx="472" cy="271"/>
                </a:xfrm>
                <a:prstGeom prst="rect">
                  <a:avLst/>
                </a:prstGeom>
                <a:noFill/>
                <a:ln w="6350">
                  <a:noFill/>
                  <a:miter lim="800000"/>
                  <a:headEnd/>
                  <a:tailEnd/>
                </a:ln>
              </p:spPr>
              <p:txBody>
                <a:bodyPr wrap="none">
                  <a:prstTxWarp prst="textNoShape">
                    <a:avLst/>
                  </a:prstTxWarp>
                  <a:spAutoFit/>
                </a:bodyPr>
                <a:lstStyle/>
                <a:p>
                  <a:r>
                    <a:rPr lang="en-GB" sz="2200">
                      <a:solidFill>
                        <a:schemeClr val="bg1"/>
                      </a:solidFill>
                    </a:rPr>
                    <a:t>SSS</a:t>
                  </a:r>
                </a:p>
              </p:txBody>
            </p:sp>
            <p:sp>
              <p:nvSpPr>
                <p:cNvPr id="44097" name="Text Box 20"/>
                <p:cNvSpPr txBox="1">
                  <a:spLocks noChangeArrowheads="1"/>
                </p:cNvSpPr>
                <p:nvPr/>
              </p:nvSpPr>
              <p:spPr bwMode="auto">
                <a:xfrm>
                  <a:off x="2396" y="2160"/>
                  <a:ext cx="407" cy="271"/>
                </a:xfrm>
                <a:prstGeom prst="rect">
                  <a:avLst/>
                </a:prstGeom>
                <a:noFill/>
                <a:ln w="6350">
                  <a:noFill/>
                  <a:miter lim="800000"/>
                  <a:headEnd/>
                  <a:tailEnd/>
                </a:ln>
              </p:spPr>
              <p:txBody>
                <a:bodyPr wrap="none">
                  <a:prstTxWarp prst="textNoShape">
                    <a:avLst/>
                  </a:prstTxWarp>
                  <a:spAutoFit/>
                </a:bodyPr>
                <a:lstStyle/>
                <a:p>
                  <a:r>
                    <a:rPr lang="en-GB" sz="2200">
                      <a:solidFill>
                        <a:schemeClr val="bg1"/>
                      </a:solidFill>
                    </a:rPr>
                    <a:t>FF*</a:t>
                  </a:r>
                </a:p>
              </p:txBody>
            </p:sp>
            <p:sp>
              <p:nvSpPr>
                <p:cNvPr id="44098" name="Text Box 21"/>
                <p:cNvSpPr txBox="1">
                  <a:spLocks noChangeArrowheads="1"/>
                </p:cNvSpPr>
                <p:nvPr/>
              </p:nvSpPr>
              <p:spPr bwMode="auto">
                <a:xfrm>
                  <a:off x="1412" y="2832"/>
                  <a:ext cx="423" cy="271"/>
                </a:xfrm>
                <a:prstGeom prst="rect">
                  <a:avLst/>
                </a:prstGeom>
                <a:noFill/>
                <a:ln w="6350">
                  <a:noFill/>
                  <a:miter lim="800000"/>
                  <a:headEnd/>
                  <a:tailEnd/>
                </a:ln>
              </p:spPr>
              <p:txBody>
                <a:bodyPr wrap="none">
                  <a:prstTxWarp prst="textNoShape">
                    <a:avLst/>
                  </a:prstTxWarp>
                  <a:spAutoFit/>
                </a:bodyPr>
                <a:lstStyle/>
                <a:p>
                  <a:r>
                    <a:rPr lang="en-GB" sz="2200">
                      <a:solidFill>
                        <a:schemeClr val="bg1"/>
                      </a:solidFill>
                    </a:rPr>
                    <a:t>SS*</a:t>
                  </a:r>
                </a:p>
              </p:txBody>
            </p:sp>
            <p:sp>
              <p:nvSpPr>
                <p:cNvPr id="44099" name="Text Box 22"/>
                <p:cNvSpPr txBox="1">
                  <a:spLocks noChangeArrowheads="1"/>
                </p:cNvSpPr>
                <p:nvPr/>
              </p:nvSpPr>
              <p:spPr bwMode="auto">
                <a:xfrm>
                  <a:off x="1936" y="2496"/>
                  <a:ext cx="334" cy="271"/>
                </a:xfrm>
                <a:prstGeom prst="rect">
                  <a:avLst/>
                </a:prstGeom>
                <a:noFill/>
                <a:ln w="6350">
                  <a:noFill/>
                  <a:miter lim="800000"/>
                  <a:headEnd/>
                  <a:tailEnd/>
                </a:ln>
              </p:spPr>
              <p:txBody>
                <a:bodyPr wrap="none">
                  <a:prstTxWarp prst="textNoShape">
                    <a:avLst/>
                  </a:prstTxWarp>
                  <a:spAutoFit/>
                </a:bodyPr>
                <a:lstStyle/>
                <a:p>
                  <a:r>
                    <a:rPr lang="en-GB" sz="2200">
                      <a:solidFill>
                        <a:schemeClr val="bg1"/>
                      </a:solidFill>
                    </a:rPr>
                    <a:t>TT</a:t>
                  </a:r>
                </a:p>
              </p:txBody>
            </p:sp>
            <p:sp>
              <p:nvSpPr>
                <p:cNvPr id="44100" name="Text Box 23"/>
                <p:cNvSpPr txBox="1">
                  <a:spLocks noChangeArrowheads="1"/>
                </p:cNvSpPr>
                <p:nvPr/>
              </p:nvSpPr>
              <p:spPr bwMode="auto">
                <a:xfrm>
                  <a:off x="2756" y="1872"/>
                  <a:ext cx="442" cy="271"/>
                </a:xfrm>
                <a:prstGeom prst="rect">
                  <a:avLst/>
                </a:prstGeom>
                <a:noFill/>
                <a:ln w="6350">
                  <a:noFill/>
                  <a:miter lim="800000"/>
                  <a:headEnd/>
                  <a:tailEnd/>
                </a:ln>
              </p:spPr>
              <p:txBody>
                <a:bodyPr wrap="none">
                  <a:prstTxWarp prst="textNoShape">
                    <a:avLst/>
                  </a:prstTxWarp>
                  <a:spAutoFit/>
                </a:bodyPr>
                <a:lstStyle/>
                <a:p>
                  <a:r>
                    <a:rPr lang="en-GB" sz="2200">
                      <a:solidFill>
                        <a:schemeClr val="bg1"/>
                      </a:solidFill>
                    </a:rPr>
                    <a:t>FFF</a:t>
                  </a:r>
                </a:p>
              </p:txBody>
            </p:sp>
            <p:sp>
              <p:nvSpPr>
                <p:cNvPr id="44101" name="Oval 24"/>
                <p:cNvSpPr>
                  <a:spLocks noChangeArrowheads="1"/>
                </p:cNvSpPr>
                <p:nvPr/>
              </p:nvSpPr>
              <p:spPr bwMode="auto">
                <a:xfrm rot="-1905183">
                  <a:off x="816" y="2220"/>
                  <a:ext cx="2481" cy="720"/>
                </a:xfrm>
                <a:prstGeom prst="ellipse">
                  <a:avLst/>
                </a:prstGeom>
                <a:noFill/>
                <a:ln w="6350">
                  <a:solidFill>
                    <a:schemeClr val="bg1"/>
                  </a:solidFill>
                  <a:round/>
                  <a:headEnd/>
                  <a:tailEnd/>
                </a:ln>
              </p:spPr>
              <p:txBody>
                <a:bodyPr wrap="none" anchor="ctr">
                  <a:prstTxWarp prst="textNoShape">
                    <a:avLst/>
                  </a:prstTxWarp>
                </a:bodyPr>
                <a:lstStyle/>
                <a:p>
                  <a:endParaRPr lang="en-US" sz="2200"/>
                </a:p>
              </p:txBody>
            </p:sp>
          </p:grpSp>
        </p:grpSp>
      </p:grpSp>
      <p:sp>
        <p:nvSpPr>
          <p:cNvPr id="44043" name="Line 26"/>
          <p:cNvSpPr>
            <a:spLocks noChangeShapeType="1"/>
          </p:cNvSpPr>
          <p:nvPr/>
        </p:nvSpPr>
        <p:spPr bwMode="auto">
          <a:xfrm flipV="1">
            <a:off x="3124200" y="4848225"/>
            <a:ext cx="0" cy="60960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4" name="Line 27"/>
          <p:cNvSpPr>
            <a:spLocks noChangeShapeType="1"/>
          </p:cNvSpPr>
          <p:nvPr/>
        </p:nvSpPr>
        <p:spPr bwMode="auto">
          <a:xfrm>
            <a:off x="3124200" y="4848225"/>
            <a:ext cx="2438400" cy="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5" name="Line 28"/>
          <p:cNvSpPr>
            <a:spLocks noChangeShapeType="1"/>
          </p:cNvSpPr>
          <p:nvPr/>
        </p:nvSpPr>
        <p:spPr bwMode="auto">
          <a:xfrm>
            <a:off x="8229600" y="4848225"/>
            <a:ext cx="0" cy="60960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6" name="Line 29"/>
          <p:cNvSpPr>
            <a:spLocks noChangeShapeType="1"/>
          </p:cNvSpPr>
          <p:nvPr/>
        </p:nvSpPr>
        <p:spPr bwMode="auto">
          <a:xfrm>
            <a:off x="5562600" y="5457825"/>
            <a:ext cx="2667000" cy="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7" name="Line 30"/>
          <p:cNvSpPr>
            <a:spLocks noChangeShapeType="1"/>
          </p:cNvSpPr>
          <p:nvPr/>
        </p:nvSpPr>
        <p:spPr bwMode="auto">
          <a:xfrm flipV="1">
            <a:off x="5562600" y="4848225"/>
            <a:ext cx="0" cy="60960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8" name="Line 31"/>
          <p:cNvSpPr>
            <a:spLocks noChangeShapeType="1"/>
          </p:cNvSpPr>
          <p:nvPr/>
        </p:nvSpPr>
        <p:spPr bwMode="auto">
          <a:xfrm>
            <a:off x="8229600" y="4848225"/>
            <a:ext cx="1524000" cy="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327717" name="AutoShape 37"/>
          <p:cNvSpPr>
            <a:spLocks/>
          </p:cNvSpPr>
          <p:nvPr/>
        </p:nvSpPr>
        <p:spPr bwMode="auto">
          <a:xfrm>
            <a:off x="3733800" y="5175250"/>
            <a:ext cx="1221908" cy="387351"/>
          </a:xfrm>
          <a:prstGeom prst="borderCallout1">
            <a:avLst>
              <a:gd name="adj1" fmla="val 37500"/>
              <a:gd name="adj2" fmla="val 111111"/>
              <a:gd name="adj3" fmla="val -40625"/>
              <a:gd name="adj4" fmla="val 270374"/>
            </a:avLst>
          </a:prstGeom>
          <a:gradFill rotWithShape="1">
            <a:gsLst>
              <a:gs pos="0">
                <a:srgbClr val="55BBDD"/>
              </a:gs>
              <a:gs pos="100000">
                <a:srgbClr val="0099CC"/>
              </a:gs>
            </a:gsLst>
            <a:lin ang="5400000" scaled="1"/>
          </a:gradFill>
          <a:ln w="9525">
            <a:solidFill>
              <a:srgbClr val="0099CC"/>
            </a:solidFill>
            <a:miter lim="800000"/>
            <a:headEnd/>
            <a:tailEnd/>
          </a:ln>
        </p:spPr>
        <p:txBody>
          <a:bodyPr anchor="ctr" anchorCtr="1">
            <a:prstTxWarp prst="textNoShape">
              <a:avLst/>
            </a:prstTxWarp>
          </a:bodyPr>
          <a:lstStyle/>
          <a:p>
            <a:r>
              <a:rPr lang="en-GB" sz="2200" dirty="0">
                <a:solidFill>
                  <a:schemeClr val="bg1"/>
                </a:solidFill>
              </a:rPr>
              <a:t>process</a:t>
            </a:r>
          </a:p>
        </p:txBody>
      </p:sp>
      <p:sp>
        <p:nvSpPr>
          <p:cNvPr id="44055" name="Line 38"/>
          <p:cNvSpPr>
            <a:spLocks noChangeShapeType="1"/>
          </p:cNvSpPr>
          <p:nvPr/>
        </p:nvSpPr>
        <p:spPr bwMode="auto">
          <a:xfrm>
            <a:off x="8134350" y="3429000"/>
            <a:ext cx="0" cy="0"/>
          </a:xfrm>
          <a:prstGeom prst="line">
            <a:avLst/>
          </a:prstGeom>
          <a:noFill/>
          <a:ln w="6350">
            <a:noFill/>
            <a:round/>
            <a:headEnd/>
            <a:tailEnd/>
          </a:ln>
        </p:spPr>
        <p:txBody>
          <a:bodyPr wrap="none" anchor="ctr">
            <a:prstTxWarp prst="textNoShape">
              <a:avLst/>
            </a:prstTxWarp>
          </a:bodyPr>
          <a:lstStyle/>
          <a:p>
            <a:endParaRPr lang="en-US" sz="2200"/>
          </a:p>
        </p:txBody>
      </p:sp>
      <p:sp>
        <p:nvSpPr>
          <p:cNvPr id="44056" name="Line 39"/>
          <p:cNvSpPr>
            <a:spLocks noChangeShapeType="1"/>
          </p:cNvSpPr>
          <p:nvPr/>
        </p:nvSpPr>
        <p:spPr bwMode="auto">
          <a:xfrm>
            <a:off x="8305800" y="3429000"/>
            <a:ext cx="228600" cy="0"/>
          </a:xfrm>
          <a:prstGeom prst="line">
            <a:avLst/>
          </a:prstGeom>
          <a:noFill/>
          <a:ln w="6350">
            <a:noFill/>
            <a:round/>
            <a:headEnd/>
            <a:tailEnd/>
          </a:ln>
        </p:spPr>
        <p:txBody>
          <a:bodyPr wrap="none" anchor="ctr">
            <a:prstTxWarp prst="textNoShape">
              <a:avLst/>
            </a:prstTxWarp>
          </a:bodyPr>
          <a:lstStyle/>
          <a:p>
            <a:endParaRPr lang="en-US" sz="2200"/>
          </a:p>
        </p:txBody>
      </p:sp>
      <p:sp>
        <p:nvSpPr>
          <p:cNvPr id="44057" name="Line 40"/>
          <p:cNvSpPr>
            <a:spLocks noChangeShapeType="1"/>
          </p:cNvSpPr>
          <p:nvPr/>
        </p:nvSpPr>
        <p:spPr bwMode="auto">
          <a:xfrm flipV="1">
            <a:off x="8534400" y="3429000"/>
            <a:ext cx="76200" cy="0"/>
          </a:xfrm>
          <a:prstGeom prst="line">
            <a:avLst/>
          </a:prstGeom>
          <a:noFill/>
          <a:ln w="6350">
            <a:noFill/>
            <a:round/>
            <a:headEnd/>
            <a:tailEnd/>
          </a:ln>
        </p:spPr>
        <p:txBody>
          <a:bodyPr wrap="none" anchor="ctr">
            <a:prstTxWarp prst="textNoShape">
              <a:avLst/>
            </a:prstTxWarp>
          </a:bodyPr>
          <a:lstStyle/>
          <a:p>
            <a:endParaRPr lang="en-US" sz="2200"/>
          </a:p>
        </p:txBody>
      </p:sp>
      <p:sp>
        <p:nvSpPr>
          <p:cNvPr id="44058" name="Line 41"/>
          <p:cNvSpPr>
            <a:spLocks noChangeShapeType="1"/>
          </p:cNvSpPr>
          <p:nvPr/>
        </p:nvSpPr>
        <p:spPr bwMode="auto">
          <a:xfrm flipV="1">
            <a:off x="2362200" y="4772025"/>
            <a:ext cx="0" cy="304800"/>
          </a:xfrm>
          <a:prstGeom prst="line">
            <a:avLst/>
          </a:prstGeom>
          <a:noFill/>
          <a:ln w="6350">
            <a:noFill/>
            <a:round/>
            <a:headEnd/>
            <a:tailEnd/>
          </a:ln>
        </p:spPr>
        <p:txBody>
          <a:bodyPr wrap="none" anchor="ctr">
            <a:prstTxWarp prst="textNoShape">
              <a:avLst/>
            </a:prstTxWarp>
          </a:bodyPr>
          <a:lstStyle/>
          <a:p>
            <a:endParaRPr lang="en-US" sz="2200"/>
          </a:p>
        </p:txBody>
      </p:sp>
      <p:sp>
        <p:nvSpPr>
          <p:cNvPr id="44061" name="Text Box 58"/>
          <p:cNvSpPr txBox="1">
            <a:spLocks noChangeArrowheads="1"/>
          </p:cNvSpPr>
          <p:nvPr/>
        </p:nvSpPr>
        <p:spPr bwMode="auto">
          <a:xfrm>
            <a:off x="2270126" y="5951539"/>
            <a:ext cx="930275" cy="430887"/>
          </a:xfrm>
          <a:prstGeom prst="rect">
            <a:avLst/>
          </a:prstGeom>
          <a:noFill/>
          <a:ln w="6350">
            <a:noFill/>
            <a:miter lim="800000"/>
            <a:headEnd/>
            <a:tailEnd/>
          </a:ln>
        </p:spPr>
        <p:txBody>
          <a:bodyPr>
            <a:prstTxWarp prst="textNoShape">
              <a:avLst/>
            </a:prstTxWarp>
            <a:spAutoFit/>
          </a:bodyPr>
          <a:lstStyle/>
          <a:p>
            <a:endParaRPr lang="en-GB" sz="2200"/>
          </a:p>
        </p:txBody>
      </p:sp>
      <p:sp>
        <p:nvSpPr>
          <p:cNvPr id="44064" name="Text Box 70"/>
          <p:cNvSpPr txBox="1">
            <a:spLocks noChangeArrowheads="1"/>
          </p:cNvSpPr>
          <p:nvPr/>
        </p:nvSpPr>
        <p:spPr bwMode="auto">
          <a:xfrm>
            <a:off x="2133600" y="4876801"/>
            <a:ext cx="764490" cy="430887"/>
          </a:xfrm>
          <a:prstGeom prst="rect">
            <a:avLst/>
          </a:prstGeom>
          <a:noFill/>
          <a:ln w="9525">
            <a:noFill/>
            <a:miter lim="800000"/>
            <a:headEnd/>
            <a:tailEnd/>
          </a:ln>
        </p:spPr>
        <p:txBody>
          <a:bodyPr wrap="none">
            <a:prstTxWarp prst="textNoShape">
              <a:avLst/>
            </a:prstTxWarp>
            <a:spAutoFit/>
          </a:bodyPr>
          <a:lstStyle/>
          <a:p>
            <a:r>
              <a:rPr lang="en-GB" sz="2200" b="1" dirty="0"/>
              <a:t>CLK</a:t>
            </a:r>
          </a:p>
        </p:txBody>
      </p:sp>
      <p:sp>
        <p:nvSpPr>
          <p:cNvPr id="44065" name="Line 71"/>
          <p:cNvSpPr>
            <a:spLocks noChangeShapeType="1"/>
          </p:cNvSpPr>
          <p:nvPr/>
        </p:nvSpPr>
        <p:spPr bwMode="auto">
          <a:xfrm>
            <a:off x="2667000" y="5457825"/>
            <a:ext cx="457200" cy="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72" name="AutoShape 35"/>
          <p:cNvSpPr>
            <a:spLocks/>
          </p:cNvSpPr>
          <p:nvPr/>
        </p:nvSpPr>
        <p:spPr bwMode="auto">
          <a:xfrm>
            <a:off x="5486400" y="5943600"/>
            <a:ext cx="947738" cy="323850"/>
          </a:xfrm>
          <a:prstGeom prst="borderCallout1">
            <a:avLst>
              <a:gd name="adj1" fmla="val 37500"/>
              <a:gd name="adj2" fmla="val 111111"/>
              <a:gd name="adj3" fmla="val -173958"/>
              <a:gd name="adj4" fmla="val 238889"/>
            </a:avLst>
          </a:prstGeom>
          <a:gradFill rotWithShape="1">
            <a:gsLst>
              <a:gs pos="0">
                <a:srgbClr val="55AA55"/>
              </a:gs>
              <a:gs pos="100000">
                <a:srgbClr val="008000"/>
              </a:gs>
            </a:gsLst>
            <a:lin ang="5400000" scaled="1"/>
          </a:gradFill>
          <a:ln w="9525">
            <a:solidFill>
              <a:srgbClr val="008000"/>
            </a:solidFill>
            <a:miter lim="800000"/>
            <a:headEnd/>
            <a:tailEnd/>
          </a:ln>
        </p:spPr>
        <p:txBody>
          <a:bodyPr anchor="ctr" anchorCtr="1">
            <a:prstTxWarp prst="textNoShape">
              <a:avLst/>
            </a:prstTxWarp>
          </a:bodyPr>
          <a:lstStyle/>
          <a:p>
            <a:r>
              <a:rPr lang="en-GB" sz="2200" dirty="0">
                <a:solidFill>
                  <a:schemeClr val="bg1"/>
                </a:solidFill>
              </a:rPr>
              <a:t>temp</a:t>
            </a:r>
          </a:p>
        </p:txBody>
      </p:sp>
      <p:sp>
        <p:nvSpPr>
          <p:cNvPr id="73" name="AutoShape 33"/>
          <p:cNvSpPr>
            <a:spLocks/>
          </p:cNvSpPr>
          <p:nvPr/>
        </p:nvSpPr>
        <p:spPr bwMode="auto">
          <a:xfrm flipH="1">
            <a:off x="8464550" y="6096000"/>
            <a:ext cx="908050" cy="304800"/>
          </a:xfrm>
          <a:prstGeom prst="borderCallout1">
            <a:avLst>
              <a:gd name="adj1" fmla="val 37500"/>
              <a:gd name="adj2" fmla="val 111111"/>
              <a:gd name="adj3" fmla="val -171875"/>
              <a:gd name="adj4" fmla="val 140278"/>
            </a:avLst>
          </a:prstGeom>
          <a:gradFill rotWithShape="1">
            <a:gsLst>
              <a:gs pos="0">
                <a:srgbClr val="9933FF"/>
              </a:gs>
              <a:gs pos="100000">
                <a:srgbClr val="471876"/>
              </a:gs>
            </a:gsLst>
            <a:lin ang="5400000" scaled="1"/>
          </a:gradFill>
          <a:ln w="9525">
            <a:solidFill>
              <a:srgbClr val="9933FF"/>
            </a:solidFill>
            <a:miter lim="800000"/>
            <a:headEnd/>
            <a:tailEnd/>
          </a:ln>
        </p:spPr>
        <p:txBody>
          <a:bodyPr anchor="ctr" anchorCtr="1">
            <a:prstTxWarp prst="textNoShape">
              <a:avLst/>
            </a:prstTxWarp>
          </a:bodyPr>
          <a:lstStyle/>
          <a:p>
            <a:r>
              <a:rPr lang="en-GB" sz="2200" dirty="0">
                <a:solidFill>
                  <a:schemeClr val="bg1"/>
                </a:solidFill>
              </a:rPr>
              <a:t>jitter</a:t>
            </a:r>
          </a:p>
        </p:txBody>
      </p:sp>
      <p:sp>
        <p:nvSpPr>
          <p:cNvPr id="74" name="AutoShape 34"/>
          <p:cNvSpPr>
            <a:spLocks/>
          </p:cNvSpPr>
          <p:nvPr/>
        </p:nvSpPr>
        <p:spPr bwMode="auto">
          <a:xfrm>
            <a:off x="6705601" y="6078538"/>
            <a:ext cx="1271587" cy="322262"/>
          </a:xfrm>
          <a:prstGeom prst="borderCallout1">
            <a:avLst>
              <a:gd name="adj1" fmla="val -9791"/>
              <a:gd name="adj2" fmla="val 63739"/>
              <a:gd name="adj3" fmla="val -197829"/>
              <a:gd name="adj4" fmla="val 92261"/>
            </a:avLst>
          </a:prstGeom>
          <a:gradFill rotWithShape="1">
            <a:gsLst>
              <a:gs pos="0">
                <a:srgbClr val="0000FF"/>
              </a:gs>
              <a:gs pos="100000">
                <a:srgbClr val="3939FF"/>
              </a:gs>
            </a:gsLst>
            <a:lin ang="5400000" scaled="1"/>
          </a:gradFill>
          <a:ln w="9525">
            <a:solidFill>
              <a:srgbClr val="0000FF"/>
            </a:solidFill>
            <a:miter lim="800000"/>
            <a:headEnd/>
            <a:tailEnd/>
          </a:ln>
        </p:spPr>
        <p:txBody>
          <a:bodyPr anchor="ctr" anchorCtr="1">
            <a:prstTxWarp prst="textNoShape">
              <a:avLst/>
            </a:prstTxWarp>
          </a:bodyPr>
          <a:lstStyle/>
          <a:p>
            <a:r>
              <a:rPr lang="en-GB" sz="2200" dirty="0">
                <a:solidFill>
                  <a:schemeClr val="bg1"/>
                </a:solidFill>
              </a:rPr>
              <a:t>coupling</a:t>
            </a:r>
          </a:p>
        </p:txBody>
      </p:sp>
      <p:sp>
        <p:nvSpPr>
          <p:cNvPr id="75" name="AutoShape 36"/>
          <p:cNvSpPr>
            <a:spLocks/>
          </p:cNvSpPr>
          <p:nvPr/>
        </p:nvSpPr>
        <p:spPr bwMode="auto">
          <a:xfrm>
            <a:off x="4182828" y="5704802"/>
            <a:ext cx="1171575" cy="373737"/>
          </a:xfrm>
          <a:prstGeom prst="borderCallout1">
            <a:avLst>
              <a:gd name="adj1" fmla="val 37500"/>
              <a:gd name="adj2" fmla="val 111111"/>
              <a:gd name="adj3" fmla="val -175523"/>
              <a:gd name="adj4" fmla="val 284706"/>
            </a:avLst>
          </a:prstGeom>
          <a:gradFill rotWithShape="1">
            <a:gsLst>
              <a:gs pos="0">
                <a:srgbClr val="FF7755"/>
              </a:gs>
              <a:gs pos="100000">
                <a:srgbClr val="FF3300"/>
              </a:gs>
            </a:gsLst>
            <a:lin ang="5400000" scaled="1"/>
          </a:gradFill>
          <a:ln w="9525">
            <a:solidFill>
              <a:srgbClr val="FF3300"/>
            </a:solidFill>
            <a:miter lim="800000"/>
            <a:headEnd/>
            <a:tailEnd/>
          </a:ln>
        </p:spPr>
        <p:txBody>
          <a:bodyPr anchor="ctr" anchorCtr="1">
            <a:prstTxWarp prst="textNoShape">
              <a:avLst/>
            </a:prstTxWarp>
          </a:bodyPr>
          <a:lstStyle/>
          <a:p>
            <a:r>
              <a:rPr lang="en-GB" sz="2200" dirty="0">
                <a:solidFill>
                  <a:schemeClr val="bg1"/>
                </a:solidFill>
              </a:rPr>
              <a:t>voltage</a:t>
            </a:r>
          </a:p>
        </p:txBody>
      </p:sp>
      <p:sp>
        <p:nvSpPr>
          <p:cNvPr id="39" name="Title 1"/>
          <p:cNvSpPr txBox="1">
            <a:spLocks/>
          </p:cNvSpPr>
          <p:nvPr/>
        </p:nvSpPr>
        <p:spPr>
          <a:xfrm>
            <a:off x="1676400" y="152400"/>
            <a:ext cx="8839200" cy="609600"/>
          </a:xfrm>
          <a:prstGeom prst="rect">
            <a:avLst/>
          </a:prstGeom>
        </p:spPr>
        <p:txBody>
          <a:bodyPr/>
          <a:lstStyle>
            <a:lvl1pPr algn="l" rtl="0" eaLnBrk="1" fontAlgn="base" hangingPunct="1">
              <a:spcBef>
                <a:spcPct val="0"/>
              </a:spcBef>
              <a:spcAft>
                <a:spcPct val="0"/>
              </a:spcAft>
              <a:defRPr sz="3600" b="1" kern="1200">
                <a:solidFill>
                  <a:srgbClr val="002060"/>
                </a:solidFill>
                <a:latin typeface="Calibri" pitchFamily="34" charset="0"/>
                <a:ea typeface="+mj-ea"/>
                <a:cs typeface="Calibri" pitchFamily="34" charset="0"/>
              </a:defRPr>
            </a:lvl1pPr>
            <a:lvl2pPr algn="ctr" rtl="0" eaLnBrk="1" fontAlgn="base" hangingPunct="1">
              <a:spcBef>
                <a:spcPct val="0"/>
              </a:spcBef>
              <a:spcAft>
                <a:spcPct val="0"/>
              </a:spcAft>
              <a:defRPr sz="3600" b="1">
                <a:solidFill>
                  <a:schemeClr val="tx1"/>
                </a:solidFill>
                <a:latin typeface="Trebuchet MS" pitchFamily="34" charset="0"/>
              </a:defRPr>
            </a:lvl2pPr>
            <a:lvl3pPr algn="ctr" rtl="0" eaLnBrk="1" fontAlgn="base" hangingPunct="1">
              <a:spcBef>
                <a:spcPct val="0"/>
              </a:spcBef>
              <a:spcAft>
                <a:spcPct val="0"/>
              </a:spcAft>
              <a:defRPr sz="3600" b="1">
                <a:solidFill>
                  <a:schemeClr val="tx1"/>
                </a:solidFill>
                <a:latin typeface="Trebuchet MS" pitchFamily="34" charset="0"/>
              </a:defRPr>
            </a:lvl3pPr>
            <a:lvl4pPr algn="ctr" rtl="0" eaLnBrk="1" fontAlgn="base" hangingPunct="1">
              <a:spcBef>
                <a:spcPct val="0"/>
              </a:spcBef>
              <a:spcAft>
                <a:spcPct val="0"/>
              </a:spcAft>
              <a:defRPr sz="3600" b="1">
                <a:solidFill>
                  <a:schemeClr val="tx1"/>
                </a:solidFill>
                <a:latin typeface="Trebuchet MS" pitchFamily="34" charset="0"/>
              </a:defRPr>
            </a:lvl4pPr>
            <a:lvl5pPr algn="ctr" rtl="0" eaLnBrk="1" fontAlgn="base" hangingPunct="1">
              <a:spcBef>
                <a:spcPct val="0"/>
              </a:spcBef>
              <a:spcAft>
                <a:spcPct val="0"/>
              </a:spcAft>
              <a:defRPr sz="3600" b="1">
                <a:solidFill>
                  <a:schemeClr val="tx1"/>
                </a:solidFill>
                <a:latin typeface="Trebuchet MS" pitchFamily="34" charset="0"/>
              </a:defRPr>
            </a:lvl5pPr>
            <a:lvl6pPr marL="457200" algn="ctr" rtl="0" eaLnBrk="1" fontAlgn="base" hangingPunct="1">
              <a:spcBef>
                <a:spcPct val="0"/>
              </a:spcBef>
              <a:spcAft>
                <a:spcPct val="0"/>
              </a:spcAft>
              <a:defRPr sz="3600" b="1">
                <a:solidFill>
                  <a:schemeClr val="tx1"/>
                </a:solidFill>
                <a:latin typeface="Trebuchet MS" pitchFamily="34" charset="0"/>
              </a:defRPr>
            </a:lvl6pPr>
            <a:lvl7pPr marL="914400" algn="ctr" rtl="0" eaLnBrk="1" fontAlgn="base" hangingPunct="1">
              <a:spcBef>
                <a:spcPct val="0"/>
              </a:spcBef>
              <a:spcAft>
                <a:spcPct val="0"/>
              </a:spcAft>
              <a:defRPr sz="3600" b="1">
                <a:solidFill>
                  <a:schemeClr val="tx1"/>
                </a:solidFill>
                <a:latin typeface="Trebuchet MS" pitchFamily="34" charset="0"/>
              </a:defRPr>
            </a:lvl7pPr>
            <a:lvl8pPr marL="1371600" algn="ctr" rtl="0" eaLnBrk="1" fontAlgn="base" hangingPunct="1">
              <a:spcBef>
                <a:spcPct val="0"/>
              </a:spcBef>
              <a:spcAft>
                <a:spcPct val="0"/>
              </a:spcAft>
              <a:defRPr sz="3600" b="1">
                <a:solidFill>
                  <a:schemeClr val="tx1"/>
                </a:solidFill>
                <a:latin typeface="Trebuchet MS" pitchFamily="34" charset="0"/>
              </a:defRPr>
            </a:lvl8pPr>
            <a:lvl9pPr marL="1828800" algn="ctr" rtl="0" eaLnBrk="1" fontAlgn="base" hangingPunct="1">
              <a:spcBef>
                <a:spcPct val="0"/>
              </a:spcBef>
              <a:spcAft>
                <a:spcPct val="0"/>
              </a:spcAft>
              <a:defRPr sz="3600" b="1">
                <a:solidFill>
                  <a:schemeClr val="tx1"/>
                </a:solidFill>
                <a:latin typeface="Trebuchet MS" pitchFamily="34" charset="0"/>
              </a:defRPr>
            </a:lvl9pPr>
          </a:lstStyle>
          <a:p>
            <a:r>
              <a:rPr lang="en-US" dirty="0"/>
              <a:t>Margins in Design</a:t>
            </a:r>
          </a:p>
        </p:txBody>
      </p:sp>
    </p:spTree>
    <p:extLst>
      <p:ext uri="{BB962C8B-B14F-4D97-AF65-F5344CB8AC3E}">
        <p14:creationId xmlns:p14="http://schemas.microsoft.com/office/powerpoint/2010/main" val="65392829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2"/>
          <p:cNvSpPr>
            <a:spLocks noChangeArrowheads="1"/>
          </p:cNvSpPr>
          <p:nvPr/>
        </p:nvSpPr>
        <p:spPr bwMode="auto">
          <a:xfrm>
            <a:off x="7848600" y="4848225"/>
            <a:ext cx="228600" cy="609600"/>
          </a:xfrm>
          <a:prstGeom prst="rect">
            <a:avLst/>
          </a:prstGeom>
          <a:solidFill>
            <a:srgbClr val="0000FF"/>
          </a:solidFill>
          <a:ln w="9525">
            <a:noFill/>
            <a:miter lim="800000"/>
            <a:headEnd/>
            <a:tailEnd/>
          </a:ln>
        </p:spPr>
        <p:txBody>
          <a:bodyPr wrap="none" anchor="ctr">
            <a:prstTxWarp prst="textNoShape">
              <a:avLst/>
            </a:prstTxWarp>
          </a:bodyPr>
          <a:lstStyle/>
          <a:p>
            <a:endParaRPr lang="en-US" sz="2200"/>
          </a:p>
        </p:txBody>
      </p:sp>
      <p:sp>
        <p:nvSpPr>
          <p:cNvPr id="327683" name="Rectangle 3"/>
          <p:cNvSpPr>
            <a:spLocks noChangeArrowheads="1"/>
          </p:cNvSpPr>
          <p:nvPr/>
        </p:nvSpPr>
        <p:spPr bwMode="auto">
          <a:xfrm>
            <a:off x="7772400" y="4848225"/>
            <a:ext cx="76200" cy="609600"/>
          </a:xfrm>
          <a:prstGeom prst="rect">
            <a:avLst/>
          </a:prstGeom>
          <a:solidFill>
            <a:srgbClr val="339966"/>
          </a:solidFill>
          <a:ln w="9525">
            <a:noFill/>
            <a:miter lim="800000"/>
            <a:headEnd/>
            <a:tailEnd/>
          </a:ln>
        </p:spPr>
        <p:txBody>
          <a:bodyPr wrap="none" anchor="ctr">
            <a:prstTxWarp prst="textNoShape">
              <a:avLst/>
            </a:prstTxWarp>
          </a:bodyPr>
          <a:lstStyle/>
          <a:p>
            <a:endParaRPr lang="en-US" sz="2200"/>
          </a:p>
        </p:txBody>
      </p:sp>
      <p:sp>
        <p:nvSpPr>
          <p:cNvPr id="327684" name="Rectangle 4"/>
          <p:cNvSpPr>
            <a:spLocks noChangeArrowheads="1"/>
          </p:cNvSpPr>
          <p:nvPr/>
        </p:nvSpPr>
        <p:spPr bwMode="auto">
          <a:xfrm>
            <a:off x="8077200" y="4848225"/>
            <a:ext cx="76200" cy="609600"/>
          </a:xfrm>
          <a:prstGeom prst="rect">
            <a:avLst/>
          </a:prstGeom>
          <a:solidFill>
            <a:srgbClr val="9933FF"/>
          </a:solidFill>
          <a:ln w="9525">
            <a:noFill/>
            <a:miter lim="800000"/>
            <a:headEnd/>
            <a:tailEnd/>
          </a:ln>
        </p:spPr>
        <p:txBody>
          <a:bodyPr wrap="none" anchor="ctr">
            <a:prstTxWarp prst="textNoShape">
              <a:avLst/>
            </a:prstTxWarp>
          </a:bodyPr>
          <a:lstStyle/>
          <a:p>
            <a:endParaRPr lang="en-US" sz="2200"/>
          </a:p>
        </p:txBody>
      </p:sp>
      <p:sp>
        <p:nvSpPr>
          <p:cNvPr id="327685" name="Rectangle 5"/>
          <p:cNvSpPr>
            <a:spLocks noChangeArrowheads="1"/>
          </p:cNvSpPr>
          <p:nvPr/>
        </p:nvSpPr>
        <p:spPr bwMode="auto">
          <a:xfrm>
            <a:off x="7315200" y="4848225"/>
            <a:ext cx="457200" cy="609600"/>
          </a:xfrm>
          <a:prstGeom prst="rect">
            <a:avLst/>
          </a:prstGeom>
          <a:solidFill>
            <a:srgbClr val="FF3300"/>
          </a:solidFill>
          <a:ln w="9525">
            <a:noFill/>
            <a:miter lim="800000"/>
            <a:headEnd/>
            <a:tailEnd/>
          </a:ln>
        </p:spPr>
        <p:txBody>
          <a:bodyPr wrap="none" anchor="ctr">
            <a:prstTxWarp prst="textNoShape">
              <a:avLst/>
            </a:prstTxWarp>
          </a:bodyPr>
          <a:lstStyle/>
          <a:p>
            <a:endParaRPr lang="en-US" sz="2200"/>
          </a:p>
        </p:txBody>
      </p:sp>
      <p:sp>
        <p:nvSpPr>
          <p:cNvPr id="327686" name="Rectangle 6"/>
          <p:cNvSpPr>
            <a:spLocks noChangeArrowheads="1"/>
          </p:cNvSpPr>
          <p:nvPr/>
        </p:nvSpPr>
        <p:spPr bwMode="auto">
          <a:xfrm>
            <a:off x="6858000" y="4848225"/>
            <a:ext cx="457200" cy="609600"/>
          </a:xfrm>
          <a:prstGeom prst="rect">
            <a:avLst/>
          </a:prstGeom>
          <a:solidFill>
            <a:srgbClr val="0099CC"/>
          </a:solidFill>
          <a:ln w="9525">
            <a:noFill/>
            <a:miter lim="800000"/>
            <a:headEnd/>
            <a:tailEnd/>
          </a:ln>
        </p:spPr>
        <p:txBody>
          <a:bodyPr wrap="none" anchor="ctr">
            <a:prstTxWarp prst="textNoShape">
              <a:avLst/>
            </a:prstTxWarp>
          </a:bodyPr>
          <a:lstStyle/>
          <a:p>
            <a:endParaRPr lang="en-US" sz="2200"/>
          </a:p>
        </p:txBody>
      </p:sp>
      <p:sp>
        <p:nvSpPr>
          <p:cNvPr id="327687" name="Rectangle 7"/>
          <p:cNvSpPr>
            <a:spLocks noChangeArrowheads="1"/>
          </p:cNvSpPr>
          <p:nvPr/>
        </p:nvSpPr>
        <p:spPr bwMode="auto">
          <a:xfrm>
            <a:off x="8134920" y="4848225"/>
            <a:ext cx="76200" cy="609600"/>
          </a:xfrm>
          <a:prstGeom prst="rect">
            <a:avLst/>
          </a:prstGeom>
          <a:solidFill>
            <a:srgbClr val="969696"/>
          </a:solidFill>
          <a:ln w="9525">
            <a:noFill/>
            <a:miter lim="800000"/>
            <a:headEnd/>
            <a:tailEnd/>
          </a:ln>
        </p:spPr>
        <p:txBody>
          <a:bodyPr wrap="none" anchor="ctr">
            <a:prstTxWarp prst="textNoShape">
              <a:avLst/>
            </a:prstTxWarp>
          </a:bodyPr>
          <a:lstStyle/>
          <a:p>
            <a:endParaRPr lang="en-US" sz="2200"/>
          </a:p>
        </p:txBody>
      </p:sp>
      <p:sp>
        <p:nvSpPr>
          <p:cNvPr id="44043" name="Line 26"/>
          <p:cNvSpPr>
            <a:spLocks noChangeShapeType="1"/>
          </p:cNvSpPr>
          <p:nvPr/>
        </p:nvSpPr>
        <p:spPr bwMode="auto">
          <a:xfrm flipV="1">
            <a:off x="3124200" y="4848225"/>
            <a:ext cx="0" cy="60960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4" name="Line 27"/>
          <p:cNvSpPr>
            <a:spLocks noChangeShapeType="1"/>
          </p:cNvSpPr>
          <p:nvPr/>
        </p:nvSpPr>
        <p:spPr bwMode="auto">
          <a:xfrm>
            <a:off x="3124200" y="4848225"/>
            <a:ext cx="2438400" cy="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5" name="Line 28"/>
          <p:cNvSpPr>
            <a:spLocks noChangeShapeType="1"/>
          </p:cNvSpPr>
          <p:nvPr/>
        </p:nvSpPr>
        <p:spPr bwMode="auto">
          <a:xfrm>
            <a:off x="8229600" y="4848225"/>
            <a:ext cx="0" cy="60960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6" name="Line 29"/>
          <p:cNvSpPr>
            <a:spLocks noChangeShapeType="1"/>
          </p:cNvSpPr>
          <p:nvPr/>
        </p:nvSpPr>
        <p:spPr bwMode="auto">
          <a:xfrm>
            <a:off x="5562600" y="5457825"/>
            <a:ext cx="2667000" cy="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7" name="Line 30"/>
          <p:cNvSpPr>
            <a:spLocks noChangeShapeType="1"/>
          </p:cNvSpPr>
          <p:nvPr/>
        </p:nvSpPr>
        <p:spPr bwMode="auto">
          <a:xfrm flipV="1">
            <a:off x="5562600" y="4848225"/>
            <a:ext cx="0" cy="60960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44048" name="Line 31"/>
          <p:cNvSpPr>
            <a:spLocks noChangeShapeType="1"/>
          </p:cNvSpPr>
          <p:nvPr/>
        </p:nvSpPr>
        <p:spPr bwMode="auto">
          <a:xfrm>
            <a:off x="8229600" y="4848225"/>
            <a:ext cx="1524000" cy="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327712" name="AutoShape 32"/>
          <p:cNvSpPr>
            <a:spLocks/>
          </p:cNvSpPr>
          <p:nvPr/>
        </p:nvSpPr>
        <p:spPr bwMode="auto">
          <a:xfrm>
            <a:off x="8801572" y="5581651"/>
            <a:ext cx="1028229" cy="409575"/>
          </a:xfrm>
          <a:prstGeom prst="borderCallout1">
            <a:avLst>
              <a:gd name="adj1" fmla="val 37500"/>
              <a:gd name="adj2" fmla="val -11111"/>
              <a:gd name="adj3" fmla="val -56615"/>
              <a:gd name="adj4" fmla="val -68771"/>
            </a:avLst>
          </a:prstGeom>
          <a:gradFill rotWithShape="1">
            <a:gsLst>
              <a:gs pos="0">
                <a:srgbClr val="C0C0C0"/>
              </a:gs>
              <a:gs pos="100000">
                <a:srgbClr val="595959"/>
              </a:gs>
            </a:gsLst>
            <a:lin ang="5400000" scaled="1"/>
          </a:gradFill>
          <a:ln w="9525">
            <a:solidFill>
              <a:srgbClr val="808080"/>
            </a:solidFill>
            <a:miter lim="800000"/>
            <a:headEnd/>
            <a:tailEnd/>
          </a:ln>
        </p:spPr>
        <p:txBody>
          <a:bodyPr anchor="ctr" anchorCtr="1">
            <a:prstTxWarp prst="textNoShape">
              <a:avLst/>
            </a:prstTxWarp>
          </a:bodyPr>
          <a:lstStyle/>
          <a:p>
            <a:r>
              <a:rPr lang="en-GB" sz="2200" dirty="0">
                <a:solidFill>
                  <a:schemeClr val="bg1"/>
                </a:solidFill>
              </a:rPr>
              <a:t>safety</a:t>
            </a:r>
          </a:p>
        </p:txBody>
      </p:sp>
      <p:sp>
        <p:nvSpPr>
          <p:cNvPr id="44055" name="Line 38"/>
          <p:cNvSpPr>
            <a:spLocks noChangeShapeType="1"/>
          </p:cNvSpPr>
          <p:nvPr/>
        </p:nvSpPr>
        <p:spPr bwMode="auto">
          <a:xfrm>
            <a:off x="8134350" y="3429000"/>
            <a:ext cx="0" cy="0"/>
          </a:xfrm>
          <a:prstGeom prst="line">
            <a:avLst/>
          </a:prstGeom>
          <a:noFill/>
          <a:ln w="6350">
            <a:noFill/>
            <a:round/>
            <a:headEnd/>
            <a:tailEnd/>
          </a:ln>
        </p:spPr>
        <p:txBody>
          <a:bodyPr wrap="none" anchor="ctr">
            <a:prstTxWarp prst="textNoShape">
              <a:avLst/>
            </a:prstTxWarp>
          </a:bodyPr>
          <a:lstStyle/>
          <a:p>
            <a:endParaRPr lang="en-US" sz="2200"/>
          </a:p>
        </p:txBody>
      </p:sp>
      <p:sp>
        <p:nvSpPr>
          <p:cNvPr id="44056" name="Line 39"/>
          <p:cNvSpPr>
            <a:spLocks noChangeShapeType="1"/>
          </p:cNvSpPr>
          <p:nvPr/>
        </p:nvSpPr>
        <p:spPr bwMode="auto">
          <a:xfrm>
            <a:off x="8305800" y="3429000"/>
            <a:ext cx="228600" cy="0"/>
          </a:xfrm>
          <a:prstGeom prst="line">
            <a:avLst/>
          </a:prstGeom>
          <a:noFill/>
          <a:ln w="6350">
            <a:noFill/>
            <a:round/>
            <a:headEnd/>
            <a:tailEnd/>
          </a:ln>
        </p:spPr>
        <p:txBody>
          <a:bodyPr wrap="none" anchor="ctr">
            <a:prstTxWarp prst="textNoShape">
              <a:avLst/>
            </a:prstTxWarp>
          </a:bodyPr>
          <a:lstStyle/>
          <a:p>
            <a:endParaRPr lang="en-US" sz="2200"/>
          </a:p>
        </p:txBody>
      </p:sp>
      <p:sp>
        <p:nvSpPr>
          <p:cNvPr id="44057" name="Line 40"/>
          <p:cNvSpPr>
            <a:spLocks noChangeShapeType="1"/>
          </p:cNvSpPr>
          <p:nvPr/>
        </p:nvSpPr>
        <p:spPr bwMode="auto">
          <a:xfrm flipV="1">
            <a:off x="8534400" y="3429000"/>
            <a:ext cx="76200" cy="0"/>
          </a:xfrm>
          <a:prstGeom prst="line">
            <a:avLst/>
          </a:prstGeom>
          <a:noFill/>
          <a:ln w="6350">
            <a:noFill/>
            <a:round/>
            <a:headEnd/>
            <a:tailEnd/>
          </a:ln>
        </p:spPr>
        <p:txBody>
          <a:bodyPr wrap="none" anchor="ctr">
            <a:prstTxWarp prst="textNoShape">
              <a:avLst/>
            </a:prstTxWarp>
          </a:bodyPr>
          <a:lstStyle/>
          <a:p>
            <a:endParaRPr lang="en-US" sz="2200"/>
          </a:p>
        </p:txBody>
      </p:sp>
      <p:sp>
        <p:nvSpPr>
          <p:cNvPr id="44058" name="Line 41"/>
          <p:cNvSpPr>
            <a:spLocks noChangeShapeType="1"/>
          </p:cNvSpPr>
          <p:nvPr/>
        </p:nvSpPr>
        <p:spPr bwMode="auto">
          <a:xfrm flipV="1">
            <a:off x="2362200" y="4772025"/>
            <a:ext cx="0" cy="304800"/>
          </a:xfrm>
          <a:prstGeom prst="line">
            <a:avLst/>
          </a:prstGeom>
          <a:noFill/>
          <a:ln w="6350">
            <a:noFill/>
            <a:round/>
            <a:headEnd/>
            <a:tailEnd/>
          </a:ln>
        </p:spPr>
        <p:txBody>
          <a:bodyPr wrap="none" anchor="ctr">
            <a:prstTxWarp prst="textNoShape">
              <a:avLst/>
            </a:prstTxWarp>
          </a:bodyPr>
          <a:lstStyle/>
          <a:p>
            <a:endParaRPr lang="en-US" sz="2200"/>
          </a:p>
        </p:txBody>
      </p:sp>
      <p:sp>
        <p:nvSpPr>
          <p:cNvPr id="44061" name="Text Box 58"/>
          <p:cNvSpPr txBox="1">
            <a:spLocks noChangeArrowheads="1"/>
          </p:cNvSpPr>
          <p:nvPr/>
        </p:nvSpPr>
        <p:spPr bwMode="auto">
          <a:xfrm>
            <a:off x="2270126" y="5951539"/>
            <a:ext cx="930275" cy="430887"/>
          </a:xfrm>
          <a:prstGeom prst="rect">
            <a:avLst/>
          </a:prstGeom>
          <a:noFill/>
          <a:ln w="6350">
            <a:noFill/>
            <a:miter lim="800000"/>
            <a:headEnd/>
            <a:tailEnd/>
          </a:ln>
        </p:spPr>
        <p:txBody>
          <a:bodyPr>
            <a:prstTxWarp prst="textNoShape">
              <a:avLst/>
            </a:prstTxWarp>
            <a:spAutoFit/>
          </a:bodyPr>
          <a:lstStyle/>
          <a:p>
            <a:endParaRPr lang="en-GB" sz="2200"/>
          </a:p>
        </p:txBody>
      </p:sp>
      <p:grpSp>
        <p:nvGrpSpPr>
          <p:cNvPr id="12" name="Group 66"/>
          <p:cNvGrpSpPr>
            <a:grpSpLocks/>
          </p:cNvGrpSpPr>
          <p:nvPr/>
        </p:nvGrpSpPr>
        <p:grpSpPr bwMode="auto">
          <a:xfrm>
            <a:off x="3126145" y="914031"/>
            <a:ext cx="5179949" cy="3275944"/>
            <a:chOff x="2420" y="853"/>
            <a:chExt cx="3135" cy="1920"/>
          </a:xfrm>
        </p:grpSpPr>
        <p:sp>
          <p:nvSpPr>
            <p:cNvPr id="44069" name="AutoShape 67"/>
            <p:cNvSpPr>
              <a:spLocks noChangeArrowheads="1"/>
            </p:cNvSpPr>
            <p:nvPr/>
          </p:nvSpPr>
          <p:spPr bwMode="auto">
            <a:xfrm>
              <a:off x="2420" y="853"/>
              <a:ext cx="3135" cy="1920"/>
            </a:xfrm>
            <a:prstGeom prst="roundRect">
              <a:avLst>
                <a:gd name="adj" fmla="val 16667"/>
              </a:avLst>
            </a:prstGeom>
            <a:gradFill rotWithShape="1">
              <a:gsLst>
                <a:gs pos="0">
                  <a:srgbClr val="C0C0C0"/>
                </a:gs>
                <a:gs pos="100000">
                  <a:srgbClr val="595959"/>
                </a:gs>
              </a:gsLst>
              <a:lin ang="5400000" scaled="1"/>
            </a:gradFill>
            <a:ln w="6350">
              <a:noFill/>
              <a:round/>
              <a:headEnd/>
              <a:tailEnd/>
            </a:ln>
          </p:spPr>
          <p:txBody>
            <a:bodyPr wrap="none" anchor="ctr">
              <a:prstTxWarp prst="textNoShape">
                <a:avLst/>
              </a:prstTxWarp>
            </a:bodyPr>
            <a:lstStyle/>
            <a:p>
              <a:endParaRPr lang="en-US" sz="2200"/>
            </a:p>
          </p:txBody>
        </p:sp>
        <p:sp>
          <p:nvSpPr>
            <p:cNvPr id="44070" name="Text Box 68"/>
            <p:cNvSpPr txBox="1">
              <a:spLocks noChangeArrowheads="1"/>
            </p:cNvSpPr>
            <p:nvPr/>
          </p:nvSpPr>
          <p:spPr bwMode="auto">
            <a:xfrm>
              <a:off x="2976" y="853"/>
              <a:ext cx="2160" cy="1642"/>
            </a:xfrm>
            <a:prstGeom prst="rect">
              <a:avLst/>
            </a:prstGeom>
            <a:noFill/>
            <a:ln w="6350">
              <a:noFill/>
              <a:miter lim="800000"/>
              <a:headEnd/>
              <a:tailEnd/>
            </a:ln>
          </p:spPr>
          <p:txBody>
            <a:bodyPr>
              <a:prstTxWarp prst="textNoShape">
                <a:avLst/>
              </a:prstTxWarp>
              <a:spAutoFit/>
            </a:bodyPr>
            <a:lstStyle/>
            <a:p>
              <a:r>
                <a:rPr lang="en-GB" sz="2200" dirty="0">
                  <a:solidFill>
                    <a:schemeClr val="bg1"/>
                  </a:solidFill>
                </a:rPr>
                <a:t>         SAFETY MARGIN</a:t>
              </a:r>
            </a:p>
            <a:p>
              <a:endParaRPr lang="en-GB" sz="2200" dirty="0">
                <a:solidFill>
                  <a:schemeClr val="bg1"/>
                </a:solidFill>
              </a:endParaRPr>
            </a:p>
            <a:p>
              <a:endParaRPr lang="en-GB" sz="2200" dirty="0">
                <a:solidFill>
                  <a:schemeClr val="bg1"/>
                </a:solidFill>
              </a:endParaRPr>
            </a:p>
            <a:p>
              <a:endParaRPr lang="en-GB" sz="2200" dirty="0">
                <a:solidFill>
                  <a:schemeClr val="bg1"/>
                </a:solidFill>
              </a:endParaRPr>
            </a:p>
            <a:p>
              <a:endParaRPr lang="en-GB" sz="2200" dirty="0">
                <a:solidFill>
                  <a:schemeClr val="bg1"/>
                </a:solidFill>
              </a:endParaRPr>
            </a:p>
            <a:p>
              <a:pPr>
                <a:buFont typeface="Wingdings" pitchFamily="-107" charset="2"/>
                <a:buChar char="§"/>
              </a:pPr>
              <a:r>
                <a:rPr lang="en-GB" sz="2200" dirty="0">
                  <a:solidFill>
                    <a:schemeClr val="bg1"/>
                  </a:solidFill>
                </a:rPr>
                <a:t> human nature</a:t>
              </a:r>
            </a:p>
            <a:p>
              <a:pPr>
                <a:buFont typeface="Wingdings" pitchFamily="-107" charset="2"/>
                <a:buChar char="§"/>
              </a:pPr>
              <a:r>
                <a:rPr lang="en-GB" sz="2200" dirty="0">
                  <a:solidFill>
                    <a:schemeClr val="bg1"/>
                  </a:solidFill>
                </a:rPr>
                <a:t> 2</a:t>
              </a:r>
              <a:r>
                <a:rPr lang="en-GB" sz="2200" baseline="30000" dirty="0">
                  <a:solidFill>
                    <a:schemeClr val="bg1"/>
                  </a:solidFill>
                </a:rPr>
                <a:t>nd</a:t>
              </a:r>
              <a:r>
                <a:rPr lang="en-GB" sz="2200" dirty="0">
                  <a:solidFill>
                    <a:schemeClr val="bg1"/>
                  </a:solidFill>
                </a:rPr>
                <a:t>/3</a:t>
              </a:r>
              <a:r>
                <a:rPr lang="en-GB" sz="2200" baseline="30000" dirty="0">
                  <a:solidFill>
                    <a:schemeClr val="bg1"/>
                  </a:solidFill>
                </a:rPr>
                <a:t>rd</a:t>
              </a:r>
              <a:r>
                <a:rPr lang="en-GB" sz="2200" dirty="0">
                  <a:solidFill>
                    <a:schemeClr val="bg1"/>
                  </a:solidFill>
                </a:rPr>
                <a:t> order effects</a:t>
              </a:r>
            </a:p>
            <a:p>
              <a:pPr>
                <a:buFont typeface="Wingdings" pitchFamily="-107" charset="2"/>
                <a:buChar char="§"/>
              </a:pPr>
              <a:r>
                <a:rPr lang="en-GB" sz="2200" dirty="0">
                  <a:solidFill>
                    <a:schemeClr val="bg1"/>
                  </a:solidFill>
                </a:rPr>
                <a:t> “unknown unknowns”</a:t>
              </a:r>
              <a:endParaRPr lang="en-GB" sz="2200" dirty="0"/>
            </a:p>
          </p:txBody>
        </p:sp>
        <p:sp>
          <p:nvSpPr>
            <p:cNvPr id="44071" name="WordArt 69"/>
            <p:cNvSpPr>
              <a:spLocks noChangeArrowheads="1" noChangeShapeType="1" noTextEdit="1"/>
            </p:cNvSpPr>
            <p:nvPr/>
          </p:nvSpPr>
          <p:spPr bwMode="auto">
            <a:xfrm rot="5400000">
              <a:off x="3904" y="1376"/>
              <a:ext cx="282" cy="313"/>
            </a:xfrm>
            <a:prstGeom prst="rect">
              <a:avLst/>
            </a:prstGeom>
          </p:spPr>
          <p:txBody>
            <a:bodyPr vert="wordArtVert" wrap="none" fromWordArt="1">
              <a:prstTxWarp prst="textPlain">
                <a:avLst>
                  <a:gd name="adj" fmla="val 50000"/>
                </a:avLst>
              </a:prstTxWarp>
            </a:bodyPr>
            <a:lstStyle/>
            <a:p>
              <a:pPr fontAlgn="auto"/>
              <a:r>
                <a:rPr lang="en-US" sz="2200" kern="10">
                  <a:ln w="9525">
                    <a:solidFill>
                      <a:schemeClr val="bg1"/>
                    </a:solidFill>
                    <a:round/>
                    <a:headEnd/>
                    <a:tailEnd/>
                  </a:ln>
                  <a:solidFill>
                    <a:schemeClr val="bg1"/>
                  </a:solidFill>
                  <a:latin typeface="Arial Black"/>
                  <a:ea typeface="Arial Black"/>
                  <a:cs typeface="Arial Black"/>
                </a:rPr>
                <a:t>?</a:t>
              </a:r>
            </a:p>
          </p:txBody>
        </p:sp>
      </p:grpSp>
      <p:sp>
        <p:nvSpPr>
          <p:cNvPr id="44064" name="Text Box 70"/>
          <p:cNvSpPr txBox="1">
            <a:spLocks noChangeArrowheads="1"/>
          </p:cNvSpPr>
          <p:nvPr/>
        </p:nvSpPr>
        <p:spPr bwMode="auto">
          <a:xfrm>
            <a:off x="2133600" y="4876801"/>
            <a:ext cx="764490" cy="430887"/>
          </a:xfrm>
          <a:prstGeom prst="rect">
            <a:avLst/>
          </a:prstGeom>
          <a:noFill/>
          <a:ln w="9525">
            <a:noFill/>
            <a:miter lim="800000"/>
            <a:headEnd/>
            <a:tailEnd/>
          </a:ln>
        </p:spPr>
        <p:txBody>
          <a:bodyPr wrap="none">
            <a:prstTxWarp prst="textNoShape">
              <a:avLst/>
            </a:prstTxWarp>
            <a:spAutoFit/>
          </a:bodyPr>
          <a:lstStyle/>
          <a:p>
            <a:r>
              <a:rPr lang="en-GB" sz="2200" b="1" dirty="0"/>
              <a:t>CLK</a:t>
            </a:r>
          </a:p>
        </p:txBody>
      </p:sp>
      <p:sp>
        <p:nvSpPr>
          <p:cNvPr id="44065" name="Line 71"/>
          <p:cNvSpPr>
            <a:spLocks noChangeShapeType="1"/>
          </p:cNvSpPr>
          <p:nvPr/>
        </p:nvSpPr>
        <p:spPr bwMode="auto">
          <a:xfrm>
            <a:off x="2667000" y="5457825"/>
            <a:ext cx="457200" cy="0"/>
          </a:xfrm>
          <a:prstGeom prst="line">
            <a:avLst/>
          </a:prstGeom>
          <a:noFill/>
          <a:ln w="38100">
            <a:solidFill>
              <a:schemeClr val="tx1"/>
            </a:solidFill>
            <a:round/>
            <a:headEnd/>
            <a:tailEnd/>
          </a:ln>
        </p:spPr>
        <p:txBody>
          <a:bodyPr>
            <a:prstTxWarp prst="textNoShape">
              <a:avLst/>
            </a:prstTxWarp>
          </a:bodyPr>
          <a:lstStyle/>
          <a:p>
            <a:endParaRPr lang="en-US" sz="2200"/>
          </a:p>
        </p:txBody>
      </p:sp>
      <p:sp>
        <p:nvSpPr>
          <p:cNvPr id="72" name="AutoShape 37"/>
          <p:cNvSpPr>
            <a:spLocks/>
          </p:cNvSpPr>
          <p:nvPr/>
        </p:nvSpPr>
        <p:spPr bwMode="auto">
          <a:xfrm>
            <a:off x="3733800" y="5175250"/>
            <a:ext cx="1221908" cy="387351"/>
          </a:xfrm>
          <a:prstGeom prst="borderCallout1">
            <a:avLst>
              <a:gd name="adj1" fmla="val 37500"/>
              <a:gd name="adj2" fmla="val 111111"/>
              <a:gd name="adj3" fmla="val -40625"/>
              <a:gd name="adj4" fmla="val 270374"/>
            </a:avLst>
          </a:prstGeom>
          <a:gradFill rotWithShape="1">
            <a:gsLst>
              <a:gs pos="0">
                <a:srgbClr val="55BBDD"/>
              </a:gs>
              <a:gs pos="100000">
                <a:srgbClr val="0099CC"/>
              </a:gs>
            </a:gsLst>
            <a:lin ang="5400000" scaled="1"/>
          </a:gradFill>
          <a:ln w="9525">
            <a:solidFill>
              <a:srgbClr val="0099CC"/>
            </a:solidFill>
            <a:miter lim="800000"/>
            <a:headEnd/>
            <a:tailEnd/>
          </a:ln>
        </p:spPr>
        <p:txBody>
          <a:bodyPr anchor="ctr" anchorCtr="1">
            <a:prstTxWarp prst="textNoShape">
              <a:avLst/>
            </a:prstTxWarp>
          </a:bodyPr>
          <a:lstStyle/>
          <a:p>
            <a:r>
              <a:rPr lang="en-GB" sz="2200" dirty="0">
                <a:solidFill>
                  <a:schemeClr val="bg1"/>
                </a:solidFill>
              </a:rPr>
              <a:t>process</a:t>
            </a:r>
          </a:p>
        </p:txBody>
      </p:sp>
      <p:sp>
        <p:nvSpPr>
          <p:cNvPr id="73" name="AutoShape 35"/>
          <p:cNvSpPr>
            <a:spLocks/>
          </p:cNvSpPr>
          <p:nvPr/>
        </p:nvSpPr>
        <p:spPr bwMode="auto">
          <a:xfrm>
            <a:off x="5486400" y="5943600"/>
            <a:ext cx="947738" cy="323850"/>
          </a:xfrm>
          <a:prstGeom prst="borderCallout1">
            <a:avLst>
              <a:gd name="adj1" fmla="val 37500"/>
              <a:gd name="adj2" fmla="val 111111"/>
              <a:gd name="adj3" fmla="val -173958"/>
              <a:gd name="adj4" fmla="val 238889"/>
            </a:avLst>
          </a:prstGeom>
          <a:gradFill rotWithShape="1">
            <a:gsLst>
              <a:gs pos="0">
                <a:srgbClr val="55AA55"/>
              </a:gs>
              <a:gs pos="100000">
                <a:srgbClr val="008000"/>
              </a:gs>
            </a:gsLst>
            <a:lin ang="5400000" scaled="1"/>
          </a:gradFill>
          <a:ln w="9525">
            <a:solidFill>
              <a:srgbClr val="008000"/>
            </a:solidFill>
            <a:miter lim="800000"/>
            <a:headEnd/>
            <a:tailEnd/>
          </a:ln>
        </p:spPr>
        <p:txBody>
          <a:bodyPr anchor="ctr" anchorCtr="1">
            <a:prstTxWarp prst="textNoShape">
              <a:avLst/>
            </a:prstTxWarp>
          </a:bodyPr>
          <a:lstStyle/>
          <a:p>
            <a:r>
              <a:rPr lang="en-GB" sz="2200" dirty="0">
                <a:solidFill>
                  <a:schemeClr val="bg1"/>
                </a:solidFill>
              </a:rPr>
              <a:t>temp</a:t>
            </a:r>
          </a:p>
        </p:txBody>
      </p:sp>
      <p:sp>
        <p:nvSpPr>
          <p:cNvPr id="74" name="AutoShape 33"/>
          <p:cNvSpPr>
            <a:spLocks/>
          </p:cNvSpPr>
          <p:nvPr/>
        </p:nvSpPr>
        <p:spPr bwMode="auto">
          <a:xfrm flipH="1">
            <a:off x="8464550" y="6096000"/>
            <a:ext cx="908050" cy="304800"/>
          </a:xfrm>
          <a:prstGeom prst="borderCallout1">
            <a:avLst>
              <a:gd name="adj1" fmla="val 37500"/>
              <a:gd name="adj2" fmla="val 111111"/>
              <a:gd name="adj3" fmla="val -171875"/>
              <a:gd name="adj4" fmla="val 140278"/>
            </a:avLst>
          </a:prstGeom>
          <a:gradFill rotWithShape="1">
            <a:gsLst>
              <a:gs pos="0">
                <a:srgbClr val="9933FF"/>
              </a:gs>
              <a:gs pos="100000">
                <a:srgbClr val="471876"/>
              </a:gs>
            </a:gsLst>
            <a:lin ang="5400000" scaled="1"/>
          </a:gradFill>
          <a:ln w="9525">
            <a:solidFill>
              <a:srgbClr val="9933FF"/>
            </a:solidFill>
            <a:miter lim="800000"/>
            <a:headEnd/>
            <a:tailEnd/>
          </a:ln>
        </p:spPr>
        <p:txBody>
          <a:bodyPr anchor="ctr" anchorCtr="1">
            <a:prstTxWarp prst="textNoShape">
              <a:avLst/>
            </a:prstTxWarp>
          </a:bodyPr>
          <a:lstStyle/>
          <a:p>
            <a:r>
              <a:rPr lang="en-GB" sz="2200" dirty="0">
                <a:solidFill>
                  <a:schemeClr val="bg1"/>
                </a:solidFill>
              </a:rPr>
              <a:t>jitter</a:t>
            </a:r>
          </a:p>
        </p:txBody>
      </p:sp>
      <p:sp>
        <p:nvSpPr>
          <p:cNvPr id="75" name="AutoShape 34"/>
          <p:cNvSpPr>
            <a:spLocks/>
          </p:cNvSpPr>
          <p:nvPr/>
        </p:nvSpPr>
        <p:spPr bwMode="auto">
          <a:xfrm>
            <a:off x="6705601" y="6078538"/>
            <a:ext cx="1271587" cy="322262"/>
          </a:xfrm>
          <a:prstGeom prst="borderCallout1">
            <a:avLst>
              <a:gd name="adj1" fmla="val -9791"/>
              <a:gd name="adj2" fmla="val 63739"/>
              <a:gd name="adj3" fmla="val -197829"/>
              <a:gd name="adj4" fmla="val 92261"/>
            </a:avLst>
          </a:prstGeom>
          <a:gradFill rotWithShape="1">
            <a:gsLst>
              <a:gs pos="0">
                <a:srgbClr val="0000FF"/>
              </a:gs>
              <a:gs pos="100000">
                <a:srgbClr val="3939FF"/>
              </a:gs>
            </a:gsLst>
            <a:lin ang="5400000" scaled="1"/>
          </a:gradFill>
          <a:ln w="9525">
            <a:solidFill>
              <a:srgbClr val="0000FF"/>
            </a:solidFill>
            <a:miter lim="800000"/>
            <a:headEnd/>
            <a:tailEnd/>
          </a:ln>
        </p:spPr>
        <p:txBody>
          <a:bodyPr anchor="ctr" anchorCtr="1">
            <a:prstTxWarp prst="textNoShape">
              <a:avLst/>
            </a:prstTxWarp>
          </a:bodyPr>
          <a:lstStyle/>
          <a:p>
            <a:r>
              <a:rPr lang="en-GB" sz="2200" dirty="0">
                <a:solidFill>
                  <a:schemeClr val="bg1"/>
                </a:solidFill>
              </a:rPr>
              <a:t>coupling</a:t>
            </a:r>
          </a:p>
        </p:txBody>
      </p:sp>
      <p:sp>
        <p:nvSpPr>
          <p:cNvPr id="76" name="AutoShape 36"/>
          <p:cNvSpPr>
            <a:spLocks/>
          </p:cNvSpPr>
          <p:nvPr/>
        </p:nvSpPr>
        <p:spPr bwMode="auto">
          <a:xfrm>
            <a:off x="4182828" y="5704802"/>
            <a:ext cx="1171575" cy="373737"/>
          </a:xfrm>
          <a:prstGeom prst="borderCallout1">
            <a:avLst>
              <a:gd name="adj1" fmla="val 37500"/>
              <a:gd name="adj2" fmla="val 111111"/>
              <a:gd name="adj3" fmla="val -175523"/>
              <a:gd name="adj4" fmla="val 284706"/>
            </a:avLst>
          </a:prstGeom>
          <a:gradFill rotWithShape="1">
            <a:gsLst>
              <a:gs pos="0">
                <a:srgbClr val="FF7755"/>
              </a:gs>
              <a:gs pos="100000">
                <a:srgbClr val="FF3300"/>
              </a:gs>
            </a:gsLst>
            <a:lin ang="5400000" scaled="1"/>
          </a:gradFill>
          <a:ln w="9525">
            <a:solidFill>
              <a:srgbClr val="FF3300"/>
            </a:solidFill>
            <a:miter lim="800000"/>
            <a:headEnd/>
            <a:tailEnd/>
          </a:ln>
        </p:spPr>
        <p:txBody>
          <a:bodyPr anchor="ctr" anchorCtr="1">
            <a:prstTxWarp prst="textNoShape">
              <a:avLst/>
            </a:prstTxWarp>
          </a:bodyPr>
          <a:lstStyle/>
          <a:p>
            <a:r>
              <a:rPr lang="en-GB" sz="2200" dirty="0">
                <a:solidFill>
                  <a:schemeClr val="bg1"/>
                </a:solidFill>
              </a:rPr>
              <a:t>voltage</a:t>
            </a:r>
          </a:p>
        </p:txBody>
      </p:sp>
      <p:sp>
        <p:nvSpPr>
          <p:cNvPr id="32" name="Title 1"/>
          <p:cNvSpPr txBox="1">
            <a:spLocks/>
          </p:cNvSpPr>
          <p:nvPr/>
        </p:nvSpPr>
        <p:spPr>
          <a:xfrm>
            <a:off x="1676400" y="152400"/>
            <a:ext cx="8839200" cy="609600"/>
          </a:xfrm>
          <a:prstGeom prst="rect">
            <a:avLst/>
          </a:prstGeom>
        </p:spPr>
        <p:txBody>
          <a:bodyPr/>
          <a:lstStyle>
            <a:lvl1pPr algn="l" rtl="0" eaLnBrk="1" fontAlgn="base" hangingPunct="1">
              <a:spcBef>
                <a:spcPct val="0"/>
              </a:spcBef>
              <a:spcAft>
                <a:spcPct val="0"/>
              </a:spcAft>
              <a:defRPr sz="3600" b="1" kern="1200">
                <a:solidFill>
                  <a:srgbClr val="002060"/>
                </a:solidFill>
                <a:latin typeface="Calibri" pitchFamily="34" charset="0"/>
                <a:ea typeface="+mj-ea"/>
                <a:cs typeface="Calibri" pitchFamily="34" charset="0"/>
              </a:defRPr>
            </a:lvl1pPr>
            <a:lvl2pPr algn="ctr" rtl="0" eaLnBrk="1" fontAlgn="base" hangingPunct="1">
              <a:spcBef>
                <a:spcPct val="0"/>
              </a:spcBef>
              <a:spcAft>
                <a:spcPct val="0"/>
              </a:spcAft>
              <a:defRPr sz="3600" b="1">
                <a:solidFill>
                  <a:schemeClr val="tx1"/>
                </a:solidFill>
                <a:latin typeface="Trebuchet MS" pitchFamily="34" charset="0"/>
              </a:defRPr>
            </a:lvl2pPr>
            <a:lvl3pPr algn="ctr" rtl="0" eaLnBrk="1" fontAlgn="base" hangingPunct="1">
              <a:spcBef>
                <a:spcPct val="0"/>
              </a:spcBef>
              <a:spcAft>
                <a:spcPct val="0"/>
              </a:spcAft>
              <a:defRPr sz="3600" b="1">
                <a:solidFill>
                  <a:schemeClr val="tx1"/>
                </a:solidFill>
                <a:latin typeface="Trebuchet MS" pitchFamily="34" charset="0"/>
              </a:defRPr>
            </a:lvl3pPr>
            <a:lvl4pPr algn="ctr" rtl="0" eaLnBrk="1" fontAlgn="base" hangingPunct="1">
              <a:spcBef>
                <a:spcPct val="0"/>
              </a:spcBef>
              <a:spcAft>
                <a:spcPct val="0"/>
              </a:spcAft>
              <a:defRPr sz="3600" b="1">
                <a:solidFill>
                  <a:schemeClr val="tx1"/>
                </a:solidFill>
                <a:latin typeface="Trebuchet MS" pitchFamily="34" charset="0"/>
              </a:defRPr>
            </a:lvl4pPr>
            <a:lvl5pPr algn="ctr" rtl="0" eaLnBrk="1" fontAlgn="base" hangingPunct="1">
              <a:spcBef>
                <a:spcPct val="0"/>
              </a:spcBef>
              <a:spcAft>
                <a:spcPct val="0"/>
              </a:spcAft>
              <a:defRPr sz="3600" b="1">
                <a:solidFill>
                  <a:schemeClr val="tx1"/>
                </a:solidFill>
                <a:latin typeface="Trebuchet MS" pitchFamily="34" charset="0"/>
              </a:defRPr>
            </a:lvl5pPr>
            <a:lvl6pPr marL="457200" algn="ctr" rtl="0" eaLnBrk="1" fontAlgn="base" hangingPunct="1">
              <a:spcBef>
                <a:spcPct val="0"/>
              </a:spcBef>
              <a:spcAft>
                <a:spcPct val="0"/>
              </a:spcAft>
              <a:defRPr sz="3600" b="1">
                <a:solidFill>
                  <a:schemeClr val="tx1"/>
                </a:solidFill>
                <a:latin typeface="Trebuchet MS" pitchFamily="34" charset="0"/>
              </a:defRPr>
            </a:lvl6pPr>
            <a:lvl7pPr marL="914400" algn="ctr" rtl="0" eaLnBrk="1" fontAlgn="base" hangingPunct="1">
              <a:spcBef>
                <a:spcPct val="0"/>
              </a:spcBef>
              <a:spcAft>
                <a:spcPct val="0"/>
              </a:spcAft>
              <a:defRPr sz="3600" b="1">
                <a:solidFill>
                  <a:schemeClr val="tx1"/>
                </a:solidFill>
                <a:latin typeface="Trebuchet MS" pitchFamily="34" charset="0"/>
              </a:defRPr>
            </a:lvl7pPr>
            <a:lvl8pPr marL="1371600" algn="ctr" rtl="0" eaLnBrk="1" fontAlgn="base" hangingPunct="1">
              <a:spcBef>
                <a:spcPct val="0"/>
              </a:spcBef>
              <a:spcAft>
                <a:spcPct val="0"/>
              </a:spcAft>
              <a:defRPr sz="3600" b="1">
                <a:solidFill>
                  <a:schemeClr val="tx1"/>
                </a:solidFill>
                <a:latin typeface="Trebuchet MS" pitchFamily="34" charset="0"/>
              </a:defRPr>
            </a:lvl8pPr>
            <a:lvl9pPr marL="1828800" algn="ctr" rtl="0" eaLnBrk="1" fontAlgn="base" hangingPunct="1">
              <a:spcBef>
                <a:spcPct val="0"/>
              </a:spcBef>
              <a:spcAft>
                <a:spcPct val="0"/>
              </a:spcAft>
              <a:defRPr sz="3600" b="1">
                <a:solidFill>
                  <a:schemeClr val="tx1"/>
                </a:solidFill>
                <a:latin typeface="Trebuchet MS" pitchFamily="34" charset="0"/>
              </a:defRPr>
            </a:lvl9pPr>
          </a:lstStyle>
          <a:p>
            <a:r>
              <a:rPr lang="en-US" dirty="0"/>
              <a:t>Margins in Design</a:t>
            </a:r>
          </a:p>
        </p:txBody>
      </p:sp>
    </p:spTree>
    <p:extLst>
      <p:ext uri="{BB962C8B-B14F-4D97-AF65-F5344CB8AC3E}">
        <p14:creationId xmlns:p14="http://schemas.microsoft.com/office/powerpoint/2010/main" val="76184625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State of Supply Noise in Modern </a:t>
            </a:r>
            <a:r>
              <a:rPr lang="en-US" dirty="0" err="1"/>
              <a:t>SoCs</a:t>
            </a:r>
            <a:endParaRPr lang="en-US" dirty="0"/>
          </a:p>
        </p:txBody>
      </p:sp>
      <p:sp>
        <p:nvSpPr>
          <p:cNvPr id="3" name="Content Placeholder 2"/>
          <p:cNvSpPr>
            <a:spLocks noGrp="1"/>
          </p:cNvSpPr>
          <p:nvPr>
            <p:ph idx="1"/>
          </p:nvPr>
        </p:nvSpPr>
        <p:spPr>
          <a:xfrm>
            <a:off x="1676400" y="914400"/>
            <a:ext cx="8839200" cy="5638800"/>
          </a:xfrm>
        </p:spPr>
        <p:txBody>
          <a:bodyPr/>
          <a:lstStyle/>
          <a:p>
            <a:r>
              <a:rPr lang="en-US" dirty="0"/>
              <a:t>High-Performance Design</a:t>
            </a:r>
          </a:p>
          <a:p>
            <a:pPr lvl="1"/>
            <a:r>
              <a:rPr lang="en-US" dirty="0">
                <a:ea typeface="ＭＳ Ｐゴシック" pitchFamily="30" charset="-128"/>
              </a:rPr>
              <a:t>V</a:t>
            </a:r>
            <a:r>
              <a:rPr lang="en-US" baseline="-25000" dirty="0">
                <a:ea typeface="ＭＳ Ｐゴシック" pitchFamily="30" charset="-128"/>
              </a:rPr>
              <a:t>dd</a:t>
            </a:r>
            <a:r>
              <a:rPr lang="en-US" dirty="0">
                <a:ea typeface="Arial" pitchFamily="30" charset="0"/>
                <a:cs typeface="Arial" pitchFamily="30" charset="0"/>
              </a:rPr>
              <a:t> </a:t>
            </a:r>
            <a:r>
              <a:rPr lang="en-US" dirty="0">
                <a:ea typeface="Arial" pitchFamily="30" charset="0"/>
                <a:cs typeface="Arial" pitchFamily="30" charset="0"/>
                <a:sym typeface="Wingdings" pitchFamily="30" charset="2"/>
              </a:rPr>
              <a:t></a:t>
            </a:r>
            <a:r>
              <a:rPr lang="en-US" dirty="0">
                <a:ea typeface="Arial" pitchFamily="30" charset="0"/>
                <a:cs typeface="Arial" pitchFamily="30" charset="0"/>
              </a:rPr>
              <a:t> </a:t>
            </a:r>
            <a:r>
              <a:rPr lang="en-US" dirty="0" err="1">
                <a:latin typeface="Symbol" charset="2"/>
                <a:ea typeface="Arial" pitchFamily="30" charset="0"/>
                <a:cs typeface="Symbol" charset="2"/>
              </a:rPr>
              <a:t>a</a:t>
            </a:r>
            <a:r>
              <a:rPr lang="en-US" dirty="0" err="1">
                <a:ea typeface="Arial" pitchFamily="30" charset="0"/>
                <a:cs typeface="Arial" pitchFamily="30" charset="0"/>
              </a:rPr>
              <a:t>V</a:t>
            </a:r>
            <a:r>
              <a:rPr lang="en-US" baseline="-25000" dirty="0" err="1">
                <a:ea typeface="Arial" pitchFamily="30" charset="0"/>
                <a:cs typeface="Arial" pitchFamily="30" charset="0"/>
              </a:rPr>
              <a:t>dd</a:t>
            </a:r>
            <a:r>
              <a:rPr lang="en-US" dirty="0">
                <a:ea typeface="Arial" pitchFamily="30" charset="0"/>
                <a:cs typeface="Arial" pitchFamily="30" charset="0"/>
              </a:rPr>
              <a:t> =&gt; </a:t>
            </a:r>
            <a:r>
              <a:rPr lang="en-US" dirty="0" err="1">
                <a:ea typeface="Arial" pitchFamily="30" charset="0"/>
                <a:cs typeface="Arial" pitchFamily="30" charset="0"/>
              </a:rPr>
              <a:t>I</a:t>
            </a:r>
            <a:r>
              <a:rPr lang="en-US" baseline="-25000" dirty="0" err="1">
                <a:ea typeface="Arial" pitchFamily="30" charset="0"/>
                <a:cs typeface="Arial" pitchFamily="30" charset="0"/>
              </a:rPr>
              <a:t>dd</a:t>
            </a:r>
            <a:r>
              <a:rPr lang="en-US" dirty="0">
                <a:ea typeface="Arial" pitchFamily="30" charset="0"/>
                <a:cs typeface="Arial" pitchFamily="30" charset="0"/>
              </a:rPr>
              <a:t> </a:t>
            </a:r>
            <a:r>
              <a:rPr lang="en-US" dirty="0">
                <a:ea typeface="Arial" pitchFamily="30" charset="0"/>
                <a:cs typeface="Arial" pitchFamily="30" charset="0"/>
                <a:sym typeface="Wingdings" pitchFamily="30" charset="2"/>
              </a:rPr>
              <a:t> </a:t>
            </a:r>
            <a:r>
              <a:rPr lang="en-US" dirty="0" err="1">
                <a:ea typeface="Arial" pitchFamily="30" charset="0"/>
                <a:cs typeface="Arial" pitchFamily="30" charset="0"/>
                <a:sym typeface="Wingdings" pitchFamily="30" charset="2"/>
              </a:rPr>
              <a:t>I</a:t>
            </a:r>
            <a:r>
              <a:rPr lang="en-US" baseline="-25000" dirty="0" err="1">
                <a:ea typeface="Arial" pitchFamily="30" charset="0"/>
                <a:cs typeface="Arial" pitchFamily="30" charset="0"/>
                <a:sym typeface="Wingdings" pitchFamily="30" charset="2"/>
              </a:rPr>
              <a:t>dd</a:t>
            </a:r>
            <a:r>
              <a:rPr lang="en-US" dirty="0">
                <a:ea typeface="Arial" pitchFamily="30" charset="0"/>
                <a:cs typeface="Arial" pitchFamily="30" charset="0"/>
                <a:sym typeface="Wingdings" pitchFamily="30" charset="2"/>
              </a:rPr>
              <a:t>/</a:t>
            </a:r>
            <a:r>
              <a:rPr lang="en-US" dirty="0">
                <a:latin typeface="Symbol" charset="2"/>
                <a:ea typeface="Arial" pitchFamily="30" charset="0"/>
                <a:cs typeface="Symbol" charset="2"/>
              </a:rPr>
              <a:t>a</a:t>
            </a:r>
            <a:r>
              <a:rPr lang="en-US" baseline="-25000" dirty="0">
                <a:ea typeface="Arial" pitchFamily="30" charset="0"/>
                <a:cs typeface="Arial" pitchFamily="30" charset="0"/>
                <a:sym typeface="Wingdings" pitchFamily="30" charset="2"/>
              </a:rPr>
              <a:t> </a:t>
            </a:r>
          </a:p>
          <a:p>
            <a:pPr lvl="1"/>
            <a:r>
              <a:rPr lang="en-US" dirty="0" err="1">
                <a:ea typeface="Arial" pitchFamily="30" charset="0"/>
                <a:cs typeface="Arial" pitchFamily="30" charset="0"/>
                <a:sym typeface="Wingdings" pitchFamily="30" charset="2"/>
              </a:rPr>
              <a:t>Z</a:t>
            </a:r>
            <a:r>
              <a:rPr lang="en-US" baseline="-25000" dirty="0" err="1">
                <a:ea typeface="Arial" pitchFamily="30" charset="0"/>
                <a:cs typeface="Arial" pitchFamily="30" charset="0"/>
                <a:sym typeface="Wingdings" pitchFamily="30" charset="2"/>
              </a:rPr>
              <a:t>targ</a:t>
            </a:r>
            <a:r>
              <a:rPr lang="en-US" dirty="0">
                <a:ea typeface="Arial" pitchFamily="30" charset="0"/>
                <a:cs typeface="Arial" pitchFamily="30" charset="0"/>
                <a:sym typeface="Wingdings" pitchFamily="30" charset="2"/>
              </a:rPr>
              <a:t>  </a:t>
            </a:r>
            <a:r>
              <a:rPr lang="en-US" dirty="0" err="1">
                <a:ea typeface="Arial" pitchFamily="30" charset="0"/>
                <a:cs typeface="Arial" pitchFamily="30" charset="0"/>
                <a:sym typeface="Wingdings" pitchFamily="30" charset="2"/>
              </a:rPr>
              <a:t>Z</a:t>
            </a:r>
            <a:r>
              <a:rPr lang="en-US" baseline="-25000" dirty="0" err="1">
                <a:ea typeface="Arial" pitchFamily="30" charset="0"/>
                <a:cs typeface="Arial" pitchFamily="30" charset="0"/>
                <a:sym typeface="Wingdings" pitchFamily="30" charset="2"/>
              </a:rPr>
              <a:t>targ</a:t>
            </a:r>
            <a:r>
              <a:rPr lang="en-US" dirty="0">
                <a:ea typeface="Arial" pitchFamily="30" charset="0"/>
                <a:cs typeface="Arial" pitchFamily="30" charset="0"/>
                <a:sym typeface="Wingdings" pitchFamily="30" charset="2"/>
              </a:rPr>
              <a:t>/</a:t>
            </a:r>
            <a:r>
              <a:rPr lang="en-US" dirty="0">
                <a:latin typeface="Symbol" charset="2"/>
                <a:ea typeface="Arial" pitchFamily="30" charset="0"/>
                <a:cs typeface="Symbol" charset="2"/>
              </a:rPr>
              <a:t>a</a:t>
            </a:r>
            <a:r>
              <a:rPr lang="en-US" baseline="30000" dirty="0">
                <a:latin typeface="Symbol" charset="2"/>
                <a:ea typeface="Arial" pitchFamily="30" charset="0"/>
                <a:cs typeface="Symbol" charset="2"/>
              </a:rPr>
              <a:t>2</a:t>
            </a:r>
            <a:r>
              <a:rPr lang="en-US" dirty="0">
                <a:ea typeface="Arial" pitchFamily="30" charset="0"/>
                <a:cs typeface="Arial" pitchFamily="30" charset="0"/>
                <a:sym typeface="Wingdings" pitchFamily="30" charset="2"/>
              </a:rPr>
              <a:t> </a:t>
            </a:r>
            <a:r>
              <a:rPr lang="en-US" baseline="-25000" dirty="0">
                <a:ea typeface="Arial" pitchFamily="30" charset="0"/>
                <a:cs typeface="Arial" pitchFamily="30" charset="0"/>
                <a:sym typeface="Wingdings" pitchFamily="30" charset="2"/>
              </a:rPr>
              <a:t> </a:t>
            </a:r>
            <a:r>
              <a:rPr lang="en-US" dirty="0">
                <a:ea typeface="Arial" pitchFamily="30" charset="0"/>
                <a:cs typeface="Arial" pitchFamily="30" charset="0"/>
                <a:sym typeface="Wingdings" pitchFamily="30" charset="2"/>
              </a:rPr>
              <a:t>(For the same target VDD drop)</a:t>
            </a:r>
          </a:p>
          <a:p>
            <a:pPr lvl="1"/>
            <a:endParaRPr lang="en-US" dirty="0">
              <a:ea typeface="Arial" pitchFamily="30" charset="0"/>
              <a:cs typeface="Arial" pitchFamily="30" charset="0"/>
              <a:sym typeface="Wingdings" pitchFamily="30" charset="2"/>
            </a:endParaRPr>
          </a:p>
          <a:p>
            <a:pPr marL="457200" lvl="1" indent="0">
              <a:buNone/>
            </a:pPr>
            <a:endParaRPr lang="en-US" dirty="0">
              <a:solidFill>
                <a:srgbClr val="FF0000"/>
              </a:solidFill>
            </a:endParaRPr>
          </a:p>
          <a:p>
            <a:r>
              <a:rPr lang="en-US" dirty="0"/>
              <a:t>Low-Power Design </a:t>
            </a:r>
          </a:p>
          <a:p>
            <a:pPr lvl="1"/>
            <a:r>
              <a:rPr lang="en-US" dirty="0">
                <a:sym typeface="Wingdings" panose="05000000000000000000" pitchFamily="2" charset="2"/>
              </a:rPr>
              <a:t>↓V</a:t>
            </a:r>
            <a:r>
              <a:rPr lang="en-US" baseline="-25000" dirty="0">
                <a:sym typeface="Wingdings" panose="05000000000000000000" pitchFamily="2" charset="2"/>
              </a:rPr>
              <a:t>dd</a:t>
            </a:r>
            <a:r>
              <a:rPr lang="en-US" dirty="0">
                <a:sym typeface="Wingdings" panose="05000000000000000000" pitchFamily="2" charset="2"/>
              </a:rPr>
              <a:t>, ↑V</a:t>
            </a:r>
            <a:r>
              <a:rPr lang="en-US" baseline="-25000" dirty="0">
                <a:sym typeface="Wingdings" panose="05000000000000000000" pitchFamily="2" charset="2"/>
              </a:rPr>
              <a:t>th</a:t>
            </a:r>
          </a:p>
          <a:p>
            <a:pPr lvl="1"/>
            <a:r>
              <a:rPr lang="en-US" dirty="0">
                <a:sym typeface="Wingdings" panose="05000000000000000000" pitchFamily="2" charset="2"/>
              </a:rPr>
              <a:t>↑delay sensitivity to supply noise</a:t>
            </a:r>
          </a:p>
          <a:p>
            <a:pPr lvl="1"/>
            <a:r>
              <a:rPr lang="en-US" dirty="0">
                <a:sym typeface="Wingdings" panose="05000000000000000000" pitchFamily="2" charset="2"/>
              </a:rPr>
              <a:t>Increased voltage-domain count (finer V</a:t>
            </a:r>
            <a:r>
              <a:rPr lang="en-US" baseline="-25000" dirty="0">
                <a:sym typeface="Wingdings" panose="05000000000000000000" pitchFamily="2" charset="2"/>
              </a:rPr>
              <a:t>dd</a:t>
            </a:r>
            <a:r>
              <a:rPr lang="en-US" dirty="0">
                <a:sym typeface="Wingdings" panose="05000000000000000000" pitchFamily="2" charset="2"/>
              </a:rPr>
              <a:t> control)</a:t>
            </a:r>
          </a:p>
          <a:p>
            <a:pPr lvl="1"/>
            <a:r>
              <a:rPr lang="en-US" dirty="0">
                <a:sym typeface="Wingdings" panose="05000000000000000000" pitchFamily="2" charset="2"/>
              </a:rPr>
              <a:t>Supply noise significantly impacts performance</a:t>
            </a:r>
          </a:p>
          <a:p>
            <a:pPr lvl="1"/>
            <a:endParaRPr lang="en-US" sz="2800" dirty="0"/>
          </a:p>
          <a:p>
            <a:pPr marL="457200" lvl="1" indent="-457200"/>
            <a:r>
              <a:rPr lang="en-US" sz="2800" b="1" dirty="0">
                <a:solidFill>
                  <a:srgbClr val="FF0000"/>
                </a:solidFill>
                <a:sym typeface="Wingdings" panose="05000000000000000000" pitchFamily="2" charset="2"/>
              </a:rPr>
              <a:t>Supply distribution network, supply noise are critical</a:t>
            </a:r>
          </a:p>
          <a:p>
            <a:endParaRPr lang="en-US" dirty="0"/>
          </a:p>
        </p:txBody>
      </p:sp>
      <p:sp>
        <p:nvSpPr>
          <p:cNvPr id="4" name="Slide Number Placeholder 3"/>
          <p:cNvSpPr>
            <a:spLocks noGrp="1"/>
          </p:cNvSpPr>
          <p:nvPr>
            <p:ph type="sldNum" sz="quarter" idx="10"/>
          </p:nvPr>
        </p:nvSpPr>
        <p:spPr/>
        <p:txBody>
          <a:bodyPr/>
          <a:lstStyle/>
          <a:p>
            <a:fld id="{7D4E4B3C-6D75-45C2-A79F-093804AEFBBA}" type="slidenum">
              <a:rPr lang="en-US" altLang="ja-JP" smtClean="0"/>
              <a:pPr/>
              <a:t>9</a:t>
            </a:fld>
            <a:endParaRPr lang="en-US" altLang="ja-JP" dirty="0"/>
          </a:p>
        </p:txBody>
      </p:sp>
    </p:spTree>
    <p:extLst>
      <p:ext uri="{BB962C8B-B14F-4D97-AF65-F5344CB8AC3E}">
        <p14:creationId xmlns:p14="http://schemas.microsoft.com/office/powerpoint/2010/main" val="588362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ltLang="ko-KR" dirty="0">
                <a:ea typeface="굴림" pitchFamily="50" charset="-127"/>
              </a:rPr>
              <a:t>Design Margins - Taxonomy</a:t>
            </a:r>
          </a:p>
        </p:txBody>
      </p:sp>
      <p:graphicFrame>
        <p:nvGraphicFramePr>
          <p:cNvPr id="4" name="Group 73"/>
          <p:cNvGraphicFramePr>
            <a:graphicFrameLocks noGrp="1"/>
          </p:cNvGraphicFramePr>
          <p:nvPr/>
        </p:nvGraphicFramePr>
        <p:xfrm>
          <a:off x="2697163" y="2152861"/>
          <a:ext cx="7632700" cy="3506788"/>
        </p:xfrm>
        <a:graphic>
          <a:graphicData uri="http://schemas.openxmlformats.org/drawingml/2006/table">
            <a:tbl>
              <a:tblPr/>
              <a:tblGrid>
                <a:gridCol w="2663825">
                  <a:extLst>
                    <a:ext uri="{9D8B030D-6E8A-4147-A177-3AD203B41FA5}">
                      <a16:colId xmlns:a16="http://schemas.microsoft.com/office/drawing/2014/main" val="20000"/>
                    </a:ext>
                  </a:extLst>
                </a:gridCol>
                <a:gridCol w="2520950">
                  <a:extLst>
                    <a:ext uri="{9D8B030D-6E8A-4147-A177-3AD203B41FA5}">
                      <a16:colId xmlns:a16="http://schemas.microsoft.com/office/drawing/2014/main" val="20001"/>
                    </a:ext>
                  </a:extLst>
                </a:gridCol>
                <a:gridCol w="2447925">
                  <a:extLst>
                    <a:ext uri="{9D8B030D-6E8A-4147-A177-3AD203B41FA5}">
                      <a16:colId xmlns:a16="http://schemas.microsoft.com/office/drawing/2014/main" val="20002"/>
                    </a:ext>
                  </a:extLst>
                </a:gridCol>
              </a:tblGrid>
              <a:tr h="1773238">
                <a:tc>
                  <a:txBody>
                    <a:bodyPr/>
                    <a:lstStyle/>
                    <a:p>
                      <a:pPr marL="0" marR="0" lvl="0" indent="0" algn="l" defTabSz="801688" rtl="0" eaLnBrk="1" fontAlgn="base" latinLnBrk="0" hangingPunct="1">
                        <a:lnSpc>
                          <a:spcPct val="100000"/>
                        </a:lnSpc>
                        <a:spcBef>
                          <a:spcPct val="20000"/>
                        </a:spcBef>
                        <a:spcAft>
                          <a:spcPct val="0"/>
                        </a:spcAft>
                        <a:buClr>
                          <a:srgbClr val="080808"/>
                        </a:buClr>
                        <a:buSzPct val="125000"/>
                        <a:buFont typeface="Wingdings" pitchFamily="2" charset="2"/>
                        <a:buNone/>
                        <a:tabLst/>
                      </a:pPr>
                      <a:r>
                        <a:rPr kumimoji="0" lang="en-GB" sz="1600" b="1" i="0" u="none" strike="noStrike" cap="none" normalizeH="0" baseline="0" dirty="0">
                          <a:ln>
                            <a:noFill/>
                          </a:ln>
                          <a:solidFill>
                            <a:schemeClr val="tx1"/>
                          </a:solidFill>
                          <a:effectLst/>
                          <a:latin typeface="Arial" charset="0"/>
                          <a:ea typeface="ＭＳ Ｐゴシック" pitchFamily="34" charset="-128"/>
                        </a:rPr>
                        <a:t>Inter-die process variations</a:t>
                      </a:r>
                    </a:p>
                    <a:p>
                      <a:pPr marL="0" marR="0" lvl="0" indent="0" algn="l" defTabSz="801688" rtl="0" eaLnBrk="1" fontAlgn="base" latinLnBrk="0" hangingPunct="1">
                        <a:lnSpc>
                          <a:spcPct val="100000"/>
                        </a:lnSpc>
                        <a:spcBef>
                          <a:spcPct val="20000"/>
                        </a:spcBef>
                        <a:spcAft>
                          <a:spcPct val="0"/>
                        </a:spcAft>
                        <a:buClr>
                          <a:srgbClr val="FF9933"/>
                        </a:buClr>
                        <a:buSzPct val="125000"/>
                        <a:buFont typeface="Wingdings" pitchFamily="2" charset="2"/>
                        <a:buNone/>
                        <a:tabLst/>
                      </a:pPr>
                      <a:r>
                        <a:rPr kumimoji="0" lang="en-GB" sz="1600" b="1" i="0" u="none" strike="noStrike" cap="none" normalizeH="0" baseline="0" dirty="0">
                          <a:ln>
                            <a:noFill/>
                          </a:ln>
                          <a:solidFill>
                            <a:schemeClr val="tx1"/>
                          </a:solidFill>
                          <a:effectLst/>
                          <a:latin typeface="Arial" charset="0"/>
                          <a:ea typeface="ＭＳ Ｐゴシック" pitchFamily="34" charset="-128"/>
                        </a:rPr>
                        <a:t>Life-time degradation</a:t>
                      </a:r>
                    </a:p>
                    <a:p>
                      <a:pPr marL="0" marR="0" lvl="0" indent="0" algn="l" defTabSz="801688" rtl="0" eaLnBrk="1" fontAlgn="base" latinLnBrk="0" hangingPunct="1">
                        <a:lnSpc>
                          <a:spcPct val="100000"/>
                        </a:lnSpc>
                        <a:spcBef>
                          <a:spcPct val="20000"/>
                        </a:spcBef>
                        <a:spcAft>
                          <a:spcPct val="0"/>
                        </a:spcAft>
                        <a:buClr>
                          <a:srgbClr val="FF9933"/>
                        </a:buClr>
                        <a:buSzPct val="125000"/>
                        <a:buFont typeface="Wingdings" pitchFamily="2" charset="2"/>
                        <a:buNone/>
                        <a:tabLst/>
                      </a:pPr>
                      <a:r>
                        <a:rPr kumimoji="0" lang="en-GB" sz="1600" b="1" i="0" u="none" strike="noStrike" cap="none" normalizeH="0" baseline="0" dirty="0">
                          <a:ln>
                            <a:noFill/>
                          </a:ln>
                          <a:solidFill>
                            <a:schemeClr val="tx1"/>
                          </a:solidFill>
                          <a:effectLst/>
                          <a:latin typeface="Arial" charset="0"/>
                          <a:ea typeface="ＭＳ Ｐゴシック" pitchFamily="34" charset="-128"/>
                        </a:rPr>
                        <a:t>(NBTI, TDDB)</a:t>
                      </a:r>
                    </a:p>
                  </a:txBody>
                  <a:tcPr marL="82296" marR="82296" marT="36576" marB="36576" horzOverflow="overflow">
                    <a:lnL w="28575" cap="flat" cmpd="sng" algn="ctr">
                      <a:solidFill>
                        <a:srgbClr val="003366"/>
                      </a:solidFill>
                      <a:prstDash val="solid"/>
                      <a:round/>
                      <a:headEnd type="none" w="sm" len="sm"/>
                      <a:tailEnd type="none" w="sm" len="sm"/>
                    </a:lnL>
                    <a:lnR w="28575" cap="flat" cmpd="sng" algn="ctr">
                      <a:solidFill>
                        <a:srgbClr val="003366"/>
                      </a:solidFill>
                      <a:prstDash val="solid"/>
                      <a:round/>
                      <a:headEnd type="none" w="sm" len="sm"/>
                      <a:tailEnd type="none" w="sm" len="sm"/>
                    </a:lnR>
                    <a:lnT w="28575" cap="flat" cmpd="sng" algn="ctr">
                      <a:solidFill>
                        <a:srgbClr val="003366"/>
                      </a:solidFill>
                      <a:prstDash val="solid"/>
                      <a:round/>
                      <a:headEnd type="none" w="sm" len="sm"/>
                      <a:tailEnd type="none" w="sm" len="sm"/>
                    </a:lnT>
                    <a:lnB w="28575" cap="flat" cmpd="sng" algn="ctr">
                      <a:solidFill>
                        <a:srgbClr val="003366"/>
                      </a:solidFill>
                      <a:prstDash val="solid"/>
                      <a:round/>
                      <a:headEnd type="none" w="sm" len="sm"/>
                      <a:tailEnd type="none" w="sm" len="sm"/>
                    </a:lnB>
                    <a:lnTlToBr>
                      <a:noFill/>
                    </a:lnTlToBr>
                    <a:lnBlToTr>
                      <a:noFill/>
                    </a:lnBlToTr>
                    <a:noFill/>
                  </a:tcPr>
                </a:tc>
                <a:tc>
                  <a:txBody>
                    <a:bodyPr/>
                    <a:lstStyle/>
                    <a:p>
                      <a:pPr marL="0" marR="0" lvl="0" indent="0" algn="l" defTabSz="801688" rtl="0" eaLnBrk="1" fontAlgn="base" latinLnBrk="0" hangingPunct="1">
                        <a:lnSpc>
                          <a:spcPct val="100000"/>
                        </a:lnSpc>
                        <a:spcBef>
                          <a:spcPct val="20000"/>
                        </a:spcBef>
                        <a:spcAft>
                          <a:spcPct val="0"/>
                        </a:spcAft>
                        <a:buClr>
                          <a:srgbClr val="FF9933"/>
                        </a:buClr>
                        <a:buSzPct val="125000"/>
                        <a:buFont typeface="Wingdings" pitchFamily="2" charset="2"/>
                        <a:buNone/>
                        <a:tabLst/>
                      </a:pPr>
                      <a:r>
                        <a:rPr kumimoji="0" lang="en-GB" sz="1600" b="1" i="0" u="none" strike="noStrike" cap="none" normalizeH="0" baseline="0" dirty="0">
                          <a:ln>
                            <a:noFill/>
                          </a:ln>
                          <a:solidFill>
                            <a:schemeClr val="tx1"/>
                          </a:solidFill>
                          <a:effectLst/>
                          <a:latin typeface="Arial" charset="0"/>
                          <a:ea typeface="ＭＳ Ｐゴシック" pitchFamily="34" charset="-128"/>
                        </a:rPr>
                        <a:t>Package/Die VDD fluctuations</a:t>
                      </a:r>
                    </a:p>
                    <a:p>
                      <a:pPr marL="0" marR="0" lvl="0" indent="0" algn="l" defTabSz="801688" rtl="0" eaLnBrk="1" fontAlgn="base" latinLnBrk="0" hangingPunct="1">
                        <a:lnSpc>
                          <a:spcPct val="100000"/>
                        </a:lnSpc>
                        <a:spcBef>
                          <a:spcPct val="20000"/>
                        </a:spcBef>
                        <a:spcAft>
                          <a:spcPct val="0"/>
                        </a:spcAft>
                        <a:buClr>
                          <a:srgbClr val="FF9933"/>
                        </a:buClr>
                        <a:buSzPct val="125000"/>
                        <a:buFont typeface="Wingdings" pitchFamily="2" charset="2"/>
                        <a:buNone/>
                        <a:tabLst/>
                      </a:pPr>
                      <a:r>
                        <a:rPr kumimoji="0" lang="en-GB" sz="1600" b="1" i="0" u="none" strike="noStrike" cap="none" normalizeH="0" baseline="0" dirty="0">
                          <a:ln>
                            <a:noFill/>
                          </a:ln>
                          <a:solidFill>
                            <a:schemeClr val="tx1"/>
                          </a:solidFill>
                          <a:effectLst/>
                          <a:latin typeface="Arial" charset="0"/>
                          <a:ea typeface="ＭＳ Ｐゴシック" pitchFamily="34" charset="-128"/>
                        </a:rPr>
                        <a:t>Ambient temperature variations</a:t>
                      </a:r>
                    </a:p>
                  </a:txBody>
                  <a:tcPr marL="82296" marR="82296" marT="36576" marB="36576" horzOverflow="overflow">
                    <a:lnL w="28575" cap="flat" cmpd="sng" algn="ctr">
                      <a:solidFill>
                        <a:srgbClr val="003366"/>
                      </a:solidFill>
                      <a:prstDash val="solid"/>
                      <a:round/>
                      <a:headEnd type="none" w="sm" len="sm"/>
                      <a:tailEnd type="none" w="sm" len="sm"/>
                    </a:lnL>
                    <a:lnR w="28575" cap="flat" cmpd="sng" algn="ctr">
                      <a:solidFill>
                        <a:srgbClr val="003366"/>
                      </a:solidFill>
                      <a:prstDash val="solid"/>
                      <a:round/>
                      <a:headEnd type="none" w="sm" len="sm"/>
                      <a:tailEnd type="none" w="sm" len="sm"/>
                    </a:lnR>
                    <a:lnT w="28575" cap="flat" cmpd="sng" algn="ctr">
                      <a:solidFill>
                        <a:srgbClr val="003366"/>
                      </a:solidFill>
                      <a:prstDash val="solid"/>
                      <a:round/>
                      <a:headEnd type="none" w="sm" len="sm"/>
                      <a:tailEnd type="none" w="sm" len="sm"/>
                    </a:lnT>
                    <a:lnB w="28575" cap="flat" cmpd="sng" algn="ctr">
                      <a:solidFill>
                        <a:srgbClr val="003366"/>
                      </a:solidFill>
                      <a:prstDash val="solid"/>
                      <a:round/>
                      <a:headEnd type="none" w="sm" len="sm"/>
                      <a:tailEnd type="none" w="sm" len="sm"/>
                    </a:lnB>
                    <a:lnTlToBr>
                      <a:noFill/>
                    </a:lnTlToBr>
                    <a:lnBlToTr>
                      <a:noFill/>
                    </a:lnBlToTr>
                    <a:noFill/>
                  </a:tcPr>
                </a:tc>
                <a:tc>
                  <a:txBody>
                    <a:bodyPr/>
                    <a:lstStyle/>
                    <a:p>
                      <a:pPr marL="0" marR="0" lvl="0" indent="0" algn="l" defTabSz="801688" rtl="0" eaLnBrk="1" fontAlgn="base" latinLnBrk="0" hangingPunct="1">
                        <a:lnSpc>
                          <a:spcPct val="100000"/>
                        </a:lnSpc>
                        <a:spcBef>
                          <a:spcPct val="20000"/>
                        </a:spcBef>
                        <a:spcAft>
                          <a:spcPct val="0"/>
                        </a:spcAft>
                        <a:buClr>
                          <a:srgbClr val="FF9933"/>
                        </a:buClr>
                        <a:buSzPct val="125000"/>
                        <a:buFont typeface="Wingdings" pitchFamily="2" charset="2"/>
                        <a:buNone/>
                        <a:tabLst/>
                      </a:pPr>
                      <a:r>
                        <a:rPr kumimoji="0" lang="en-GB" sz="1600" b="1" i="0" u="none" strike="noStrike" cap="none" normalizeH="0" baseline="0" dirty="0">
                          <a:ln>
                            <a:noFill/>
                          </a:ln>
                          <a:solidFill>
                            <a:schemeClr val="tx1"/>
                          </a:solidFill>
                          <a:effectLst/>
                          <a:latin typeface="Arial" charset="0"/>
                          <a:ea typeface="ＭＳ Ｐゴシック" pitchFamily="34" charset="-128"/>
                        </a:rPr>
                        <a:t>PLL jitter</a:t>
                      </a:r>
                    </a:p>
                    <a:p>
                      <a:pPr marL="0" marR="0" lvl="0" indent="0" algn="l" defTabSz="801688" rtl="0" eaLnBrk="1" fontAlgn="base" latinLnBrk="0" hangingPunct="1">
                        <a:lnSpc>
                          <a:spcPct val="100000"/>
                        </a:lnSpc>
                        <a:spcBef>
                          <a:spcPct val="20000"/>
                        </a:spcBef>
                        <a:spcAft>
                          <a:spcPct val="0"/>
                        </a:spcAft>
                        <a:buClr>
                          <a:srgbClr val="FF9933"/>
                        </a:buClr>
                        <a:buSzPct val="125000"/>
                        <a:buFont typeface="Wingdings" pitchFamily="2" charset="2"/>
                        <a:buNone/>
                        <a:tabLst/>
                      </a:pPr>
                      <a:r>
                        <a:rPr kumimoji="0" lang="en-GB" sz="1600" b="1" i="0" u="none" strike="noStrike" cap="none" normalizeH="0" baseline="0" dirty="0" err="1">
                          <a:ln>
                            <a:noFill/>
                          </a:ln>
                          <a:solidFill>
                            <a:schemeClr val="tx1"/>
                          </a:solidFill>
                          <a:effectLst/>
                          <a:latin typeface="Arial" charset="0"/>
                          <a:ea typeface="ＭＳ Ｐゴシック" pitchFamily="34" charset="-128"/>
                        </a:rPr>
                        <a:t>Ldi/dt</a:t>
                      </a:r>
                      <a:endParaRPr kumimoji="0" lang="en-GB" sz="1600" b="1" i="0" u="none" strike="noStrike" cap="none" normalizeH="0" baseline="0" dirty="0">
                        <a:ln>
                          <a:noFill/>
                        </a:ln>
                        <a:solidFill>
                          <a:schemeClr val="tx1"/>
                        </a:solidFill>
                        <a:effectLst/>
                        <a:latin typeface="Arial" charset="0"/>
                        <a:ea typeface="ＭＳ Ｐゴシック" pitchFamily="34" charset="-128"/>
                      </a:endParaRPr>
                    </a:p>
                    <a:p>
                      <a:pPr marL="0" marR="0" lvl="0" indent="0" algn="l" defTabSz="801688" rtl="0" eaLnBrk="1" fontAlgn="base" latinLnBrk="0" hangingPunct="1">
                        <a:lnSpc>
                          <a:spcPct val="100000"/>
                        </a:lnSpc>
                        <a:spcBef>
                          <a:spcPct val="20000"/>
                        </a:spcBef>
                        <a:spcAft>
                          <a:spcPct val="0"/>
                        </a:spcAft>
                        <a:buClr>
                          <a:srgbClr val="FF9933"/>
                        </a:buClr>
                        <a:buSzPct val="125000"/>
                        <a:buFont typeface="Wingdings" pitchFamily="2" charset="2"/>
                        <a:buNone/>
                        <a:tabLst/>
                      </a:pPr>
                      <a:r>
                        <a:rPr kumimoji="0" lang="en-GB" sz="1600" b="1" i="0" u="none" strike="noStrike" cap="none" normalizeH="0" baseline="0" dirty="0">
                          <a:ln>
                            <a:noFill/>
                          </a:ln>
                          <a:solidFill>
                            <a:schemeClr val="tx1"/>
                          </a:solidFill>
                          <a:effectLst/>
                          <a:latin typeface="Arial" charset="0"/>
                          <a:ea typeface="ＭＳ Ｐゴシック" pitchFamily="34" charset="-128"/>
                        </a:rPr>
                        <a:t>IR Drop</a:t>
                      </a:r>
                      <a:endParaRPr kumimoji="0" lang="en-GB" sz="2000" b="0" i="0" u="none" strike="noStrike" cap="none" normalizeH="0" baseline="0" dirty="0">
                        <a:ln>
                          <a:noFill/>
                        </a:ln>
                        <a:solidFill>
                          <a:schemeClr val="tx1"/>
                        </a:solidFill>
                        <a:effectLst/>
                        <a:latin typeface="Arial" charset="0"/>
                        <a:ea typeface="ＭＳ Ｐゴシック" pitchFamily="34" charset="-128"/>
                      </a:endParaRPr>
                    </a:p>
                  </a:txBody>
                  <a:tcPr marL="82296" marR="82296" marT="36576" marB="36576" horzOverflow="overflow">
                    <a:lnL w="28575" cap="flat" cmpd="sng" algn="ctr">
                      <a:solidFill>
                        <a:srgbClr val="003366"/>
                      </a:solidFill>
                      <a:prstDash val="solid"/>
                      <a:round/>
                      <a:headEnd type="none" w="sm" len="sm"/>
                      <a:tailEnd type="none" w="sm" len="sm"/>
                    </a:lnL>
                    <a:lnR w="28575" cap="flat" cmpd="sng" algn="ctr">
                      <a:solidFill>
                        <a:srgbClr val="003366"/>
                      </a:solidFill>
                      <a:prstDash val="solid"/>
                      <a:round/>
                      <a:headEnd type="none" w="sm" len="sm"/>
                      <a:tailEnd type="none" w="sm" len="sm"/>
                    </a:lnR>
                    <a:lnT w="28575" cap="flat" cmpd="sng" algn="ctr">
                      <a:solidFill>
                        <a:srgbClr val="003366"/>
                      </a:solidFill>
                      <a:prstDash val="solid"/>
                      <a:round/>
                      <a:headEnd type="none" w="sm" len="sm"/>
                      <a:tailEnd type="none" w="sm" len="sm"/>
                    </a:lnT>
                    <a:lnB w="28575" cap="flat" cmpd="sng" algn="ctr">
                      <a:solidFill>
                        <a:srgbClr val="003366"/>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1733550">
                <a:tc>
                  <a:txBody>
                    <a:bodyPr/>
                    <a:lstStyle/>
                    <a:p>
                      <a:pPr marL="0" marR="0" lvl="0" indent="0" algn="l" defTabSz="801688" rtl="0" eaLnBrk="1" fontAlgn="base" latinLnBrk="0" hangingPunct="1">
                        <a:lnSpc>
                          <a:spcPct val="100000"/>
                        </a:lnSpc>
                        <a:spcBef>
                          <a:spcPct val="20000"/>
                        </a:spcBef>
                        <a:spcAft>
                          <a:spcPct val="0"/>
                        </a:spcAft>
                        <a:buClr>
                          <a:srgbClr val="FF9933"/>
                        </a:buClr>
                        <a:buSzPct val="125000"/>
                        <a:buFont typeface="Wingdings" pitchFamily="2" charset="2"/>
                        <a:buNone/>
                        <a:tabLst/>
                      </a:pPr>
                      <a:endParaRPr kumimoji="0" lang="en-GB" sz="1600" b="1" i="0" u="none" strike="noStrike" cap="none" normalizeH="0" baseline="0">
                        <a:ln>
                          <a:noFill/>
                        </a:ln>
                        <a:solidFill>
                          <a:schemeClr val="tx1"/>
                        </a:solidFill>
                        <a:effectLst/>
                        <a:latin typeface="Arial" charset="0"/>
                        <a:ea typeface="ＭＳ Ｐゴシック" pitchFamily="34" charset="-128"/>
                      </a:endParaRPr>
                    </a:p>
                    <a:p>
                      <a:pPr marL="0" marR="0" lvl="0" indent="0" algn="l" defTabSz="801688" rtl="0" eaLnBrk="1" fontAlgn="base" latinLnBrk="0" hangingPunct="1">
                        <a:lnSpc>
                          <a:spcPct val="100000"/>
                        </a:lnSpc>
                        <a:spcBef>
                          <a:spcPct val="20000"/>
                        </a:spcBef>
                        <a:spcAft>
                          <a:spcPct val="0"/>
                        </a:spcAft>
                        <a:buClr>
                          <a:srgbClr val="FF9933"/>
                        </a:buClr>
                        <a:buSzPct val="125000"/>
                        <a:buFont typeface="Wingdings" pitchFamily="2" charset="2"/>
                        <a:buNone/>
                        <a:tabLst/>
                      </a:pPr>
                      <a:endParaRPr kumimoji="0" lang="en-GB" sz="1600" b="1" i="0" u="none" strike="noStrike" cap="none" normalizeH="0" baseline="0">
                        <a:ln>
                          <a:noFill/>
                        </a:ln>
                        <a:solidFill>
                          <a:schemeClr val="tx1"/>
                        </a:solidFill>
                        <a:effectLst/>
                        <a:latin typeface="Arial" charset="0"/>
                        <a:ea typeface="ＭＳ Ｐゴシック" pitchFamily="34" charset="-128"/>
                      </a:endParaRPr>
                    </a:p>
                    <a:p>
                      <a:pPr marL="0" marR="0" lvl="0" indent="0" algn="l" defTabSz="801688" rtl="0" eaLnBrk="1" fontAlgn="base" latinLnBrk="0" hangingPunct="1">
                        <a:lnSpc>
                          <a:spcPct val="100000"/>
                        </a:lnSpc>
                        <a:spcBef>
                          <a:spcPct val="20000"/>
                        </a:spcBef>
                        <a:spcAft>
                          <a:spcPct val="0"/>
                        </a:spcAft>
                        <a:buClr>
                          <a:srgbClr val="FF9933"/>
                        </a:buClr>
                        <a:buSzPct val="125000"/>
                        <a:buFont typeface="Wingdings" pitchFamily="2" charset="2"/>
                        <a:buNone/>
                        <a:tabLst/>
                      </a:pPr>
                      <a:endParaRPr kumimoji="0" lang="en-GB" sz="1600" b="1" i="0" u="none" strike="noStrike" cap="none" normalizeH="0" baseline="0">
                        <a:ln>
                          <a:noFill/>
                        </a:ln>
                        <a:solidFill>
                          <a:schemeClr val="tx1"/>
                        </a:solidFill>
                        <a:effectLst/>
                        <a:latin typeface="Arial" charset="0"/>
                        <a:ea typeface="ＭＳ Ｐゴシック" pitchFamily="34" charset="-128"/>
                      </a:endParaRPr>
                    </a:p>
                    <a:p>
                      <a:pPr marL="0" marR="0" lvl="0" indent="0" algn="l" defTabSz="801688" rtl="0" eaLnBrk="1" fontAlgn="base" latinLnBrk="0" hangingPunct="1">
                        <a:lnSpc>
                          <a:spcPct val="100000"/>
                        </a:lnSpc>
                        <a:spcBef>
                          <a:spcPct val="20000"/>
                        </a:spcBef>
                        <a:spcAft>
                          <a:spcPct val="0"/>
                        </a:spcAft>
                        <a:buClr>
                          <a:srgbClr val="FF9933"/>
                        </a:buClr>
                        <a:buSzPct val="125000"/>
                        <a:buFont typeface="Wingdings" pitchFamily="2" charset="2"/>
                        <a:buNone/>
                        <a:tabLst/>
                      </a:pPr>
                      <a:r>
                        <a:rPr kumimoji="0" lang="en-GB" sz="1600" b="1" i="0" u="none" strike="noStrike" cap="none" normalizeH="0" baseline="0">
                          <a:ln>
                            <a:noFill/>
                          </a:ln>
                          <a:solidFill>
                            <a:schemeClr val="tx1"/>
                          </a:solidFill>
                          <a:effectLst/>
                          <a:latin typeface="Arial" charset="0"/>
                          <a:ea typeface="ＭＳ Ｐゴシック" pitchFamily="34" charset="-128"/>
                        </a:rPr>
                        <a:t>Intra-die process variations</a:t>
                      </a:r>
                    </a:p>
                  </a:txBody>
                  <a:tcPr marL="82296" marR="82296" marT="36576" marB="36576" horzOverflow="overflow">
                    <a:lnL w="28575" cap="flat" cmpd="sng" algn="ctr">
                      <a:solidFill>
                        <a:srgbClr val="003366"/>
                      </a:solidFill>
                      <a:prstDash val="solid"/>
                      <a:round/>
                      <a:headEnd type="none" w="sm" len="sm"/>
                      <a:tailEnd type="none" w="sm" len="sm"/>
                    </a:lnL>
                    <a:lnR w="28575" cap="flat" cmpd="sng" algn="ctr">
                      <a:solidFill>
                        <a:srgbClr val="003366"/>
                      </a:solidFill>
                      <a:prstDash val="solid"/>
                      <a:round/>
                      <a:headEnd type="none" w="sm" len="sm"/>
                      <a:tailEnd type="none" w="sm" len="sm"/>
                    </a:lnR>
                    <a:lnT w="28575" cap="flat" cmpd="sng" algn="ctr">
                      <a:solidFill>
                        <a:srgbClr val="003366"/>
                      </a:solidFill>
                      <a:prstDash val="solid"/>
                      <a:round/>
                      <a:headEnd type="none" w="sm" len="sm"/>
                      <a:tailEnd type="none" w="sm" len="sm"/>
                    </a:lnT>
                    <a:lnB w="28575" cap="flat" cmpd="sng" algn="ctr">
                      <a:solidFill>
                        <a:srgbClr val="003366"/>
                      </a:solidFill>
                      <a:prstDash val="solid"/>
                      <a:round/>
                      <a:headEnd type="none" w="sm" len="sm"/>
                      <a:tailEnd type="none" w="sm" len="sm"/>
                    </a:lnB>
                    <a:lnTlToBr>
                      <a:noFill/>
                    </a:lnTlToBr>
                    <a:lnBlToTr>
                      <a:noFill/>
                    </a:lnBlToTr>
                    <a:noFill/>
                  </a:tcPr>
                </a:tc>
                <a:tc>
                  <a:txBody>
                    <a:bodyPr/>
                    <a:lstStyle/>
                    <a:p>
                      <a:pPr marL="0" marR="0" lvl="0" indent="0" algn="l" defTabSz="801688" rtl="0" eaLnBrk="1" fontAlgn="base" latinLnBrk="0" hangingPunct="1">
                        <a:lnSpc>
                          <a:spcPct val="100000"/>
                        </a:lnSpc>
                        <a:spcBef>
                          <a:spcPct val="20000"/>
                        </a:spcBef>
                        <a:spcAft>
                          <a:spcPct val="0"/>
                        </a:spcAft>
                        <a:buClr>
                          <a:srgbClr val="FF9933"/>
                        </a:buClr>
                        <a:buSzPct val="125000"/>
                        <a:buFont typeface="Wingdings" pitchFamily="2" charset="2"/>
                        <a:buNone/>
                        <a:tabLst/>
                      </a:pPr>
                      <a:endParaRPr kumimoji="0" lang="en-GB" sz="1600" b="1" i="0" u="none" strike="noStrike" cap="none" normalizeH="0" baseline="0">
                        <a:ln>
                          <a:noFill/>
                        </a:ln>
                        <a:solidFill>
                          <a:schemeClr val="tx1"/>
                        </a:solidFill>
                        <a:effectLst/>
                        <a:latin typeface="Arial" charset="0"/>
                        <a:ea typeface="ＭＳ Ｐゴシック" pitchFamily="34" charset="-128"/>
                      </a:endParaRPr>
                    </a:p>
                    <a:p>
                      <a:pPr marL="0" marR="0" lvl="0" indent="0" algn="l" defTabSz="801688" rtl="0" eaLnBrk="1" fontAlgn="base" latinLnBrk="0" hangingPunct="1">
                        <a:lnSpc>
                          <a:spcPct val="100000"/>
                        </a:lnSpc>
                        <a:spcBef>
                          <a:spcPct val="20000"/>
                        </a:spcBef>
                        <a:spcAft>
                          <a:spcPct val="0"/>
                        </a:spcAft>
                        <a:buClr>
                          <a:srgbClr val="FF9933"/>
                        </a:buClr>
                        <a:buSzPct val="125000"/>
                        <a:buFont typeface="Wingdings" pitchFamily="2" charset="2"/>
                        <a:buNone/>
                        <a:tabLst/>
                      </a:pPr>
                      <a:endParaRPr kumimoji="0" lang="en-GB" sz="1600" b="1" i="0" u="none" strike="noStrike" cap="none" normalizeH="0" baseline="0">
                        <a:ln>
                          <a:noFill/>
                        </a:ln>
                        <a:solidFill>
                          <a:schemeClr val="tx1"/>
                        </a:solidFill>
                        <a:effectLst/>
                        <a:latin typeface="Arial" charset="0"/>
                        <a:ea typeface="ＭＳ Ｐゴシック" pitchFamily="34" charset="-128"/>
                      </a:endParaRPr>
                    </a:p>
                    <a:p>
                      <a:pPr marL="0" marR="0" lvl="0" indent="0" algn="l" defTabSz="801688" rtl="0" eaLnBrk="1" fontAlgn="base" latinLnBrk="0" hangingPunct="1">
                        <a:lnSpc>
                          <a:spcPct val="100000"/>
                        </a:lnSpc>
                        <a:spcBef>
                          <a:spcPct val="20000"/>
                        </a:spcBef>
                        <a:spcAft>
                          <a:spcPct val="0"/>
                        </a:spcAft>
                        <a:buClr>
                          <a:srgbClr val="FF9933"/>
                        </a:buClr>
                        <a:buSzPct val="125000"/>
                        <a:buFont typeface="Wingdings" pitchFamily="2" charset="2"/>
                        <a:buNone/>
                        <a:tabLst/>
                      </a:pPr>
                      <a:endParaRPr kumimoji="0" lang="en-GB" sz="1600" b="1" i="0" u="none" strike="noStrike" cap="none" normalizeH="0" baseline="0">
                        <a:ln>
                          <a:noFill/>
                        </a:ln>
                        <a:solidFill>
                          <a:schemeClr val="tx1"/>
                        </a:solidFill>
                        <a:effectLst/>
                        <a:latin typeface="Arial" charset="0"/>
                        <a:ea typeface="ＭＳ Ｐゴシック" pitchFamily="34" charset="-128"/>
                      </a:endParaRPr>
                    </a:p>
                    <a:p>
                      <a:pPr marL="0" marR="0" lvl="0" indent="0" algn="l" defTabSz="801688" rtl="0" eaLnBrk="1" fontAlgn="base" latinLnBrk="0" hangingPunct="1">
                        <a:lnSpc>
                          <a:spcPct val="100000"/>
                        </a:lnSpc>
                        <a:spcBef>
                          <a:spcPct val="20000"/>
                        </a:spcBef>
                        <a:spcAft>
                          <a:spcPct val="0"/>
                        </a:spcAft>
                        <a:buClr>
                          <a:srgbClr val="FF9933"/>
                        </a:buClr>
                        <a:buSzPct val="125000"/>
                        <a:buFont typeface="Wingdings" pitchFamily="2" charset="2"/>
                        <a:buNone/>
                        <a:tabLst/>
                      </a:pPr>
                      <a:endParaRPr kumimoji="0" lang="en-GB" sz="1600" b="1" i="0" u="none" strike="noStrike" cap="none" normalizeH="0" baseline="0">
                        <a:ln>
                          <a:noFill/>
                        </a:ln>
                        <a:solidFill>
                          <a:schemeClr val="tx1"/>
                        </a:solidFill>
                        <a:effectLst/>
                        <a:latin typeface="Arial" charset="0"/>
                        <a:ea typeface="ＭＳ Ｐゴシック" pitchFamily="34" charset="-128"/>
                      </a:endParaRPr>
                    </a:p>
                    <a:p>
                      <a:pPr marL="0" marR="0" lvl="0" indent="0" algn="l" defTabSz="801688" rtl="0" eaLnBrk="1" fontAlgn="base" latinLnBrk="0" hangingPunct="1">
                        <a:lnSpc>
                          <a:spcPct val="100000"/>
                        </a:lnSpc>
                        <a:spcBef>
                          <a:spcPct val="20000"/>
                        </a:spcBef>
                        <a:spcAft>
                          <a:spcPct val="0"/>
                        </a:spcAft>
                        <a:buClr>
                          <a:srgbClr val="FF9933"/>
                        </a:buClr>
                        <a:buSzPct val="125000"/>
                        <a:buFont typeface="Wingdings" pitchFamily="2" charset="2"/>
                        <a:buNone/>
                        <a:tabLst/>
                      </a:pPr>
                      <a:r>
                        <a:rPr kumimoji="0" lang="en-GB" sz="1600" b="1" i="0" u="none" strike="noStrike" cap="none" normalizeH="0" baseline="0">
                          <a:ln>
                            <a:noFill/>
                          </a:ln>
                          <a:solidFill>
                            <a:schemeClr val="tx1"/>
                          </a:solidFill>
                          <a:effectLst/>
                          <a:latin typeface="Arial" charset="0"/>
                          <a:ea typeface="ＭＳ Ｐゴシック" pitchFamily="34" charset="-128"/>
                        </a:rPr>
                        <a:t>Temperature hot-spots</a:t>
                      </a:r>
                      <a:endParaRPr kumimoji="0" lang="en-GB" sz="1600" b="0" i="0" u="none" strike="noStrike" cap="none" normalizeH="0" baseline="0">
                        <a:ln>
                          <a:noFill/>
                        </a:ln>
                        <a:solidFill>
                          <a:schemeClr val="tx1"/>
                        </a:solidFill>
                        <a:effectLst/>
                        <a:latin typeface="Arial" charset="0"/>
                        <a:ea typeface="ＭＳ Ｐゴシック" pitchFamily="34" charset="-128"/>
                      </a:endParaRPr>
                    </a:p>
                  </a:txBody>
                  <a:tcPr marL="82296" marR="82296" marT="36576" marB="36576" horzOverflow="overflow">
                    <a:lnL w="28575" cap="flat" cmpd="sng" algn="ctr">
                      <a:solidFill>
                        <a:srgbClr val="003366"/>
                      </a:solidFill>
                      <a:prstDash val="solid"/>
                      <a:round/>
                      <a:headEnd type="none" w="sm" len="sm"/>
                      <a:tailEnd type="none" w="sm" len="sm"/>
                    </a:lnL>
                    <a:lnR w="28575" cap="flat" cmpd="sng" algn="ctr">
                      <a:solidFill>
                        <a:srgbClr val="003366"/>
                      </a:solidFill>
                      <a:prstDash val="solid"/>
                      <a:round/>
                      <a:headEnd type="none" w="sm" len="sm"/>
                      <a:tailEnd type="none" w="sm" len="sm"/>
                    </a:lnR>
                    <a:lnT w="28575" cap="flat" cmpd="sng" algn="ctr">
                      <a:solidFill>
                        <a:srgbClr val="003366"/>
                      </a:solidFill>
                      <a:prstDash val="solid"/>
                      <a:round/>
                      <a:headEnd type="none" w="sm" len="sm"/>
                      <a:tailEnd type="none" w="sm" len="sm"/>
                    </a:lnT>
                    <a:lnB w="28575" cap="flat" cmpd="sng" algn="ctr">
                      <a:solidFill>
                        <a:srgbClr val="003366"/>
                      </a:solidFill>
                      <a:prstDash val="solid"/>
                      <a:round/>
                      <a:headEnd type="none" w="sm" len="sm"/>
                      <a:tailEnd type="none" w="sm" len="sm"/>
                    </a:lnB>
                    <a:lnTlToBr>
                      <a:noFill/>
                    </a:lnTlToBr>
                    <a:lnBlToTr>
                      <a:noFill/>
                    </a:lnBlToTr>
                    <a:noFill/>
                  </a:tcPr>
                </a:tc>
                <a:tc>
                  <a:txBody>
                    <a:bodyPr/>
                    <a:lstStyle/>
                    <a:p>
                      <a:pPr marL="0" marR="0" lvl="0" indent="0" algn="l" defTabSz="801688" rtl="0" eaLnBrk="1" fontAlgn="base" latinLnBrk="0" hangingPunct="1">
                        <a:lnSpc>
                          <a:spcPct val="100000"/>
                        </a:lnSpc>
                        <a:spcBef>
                          <a:spcPct val="20000"/>
                        </a:spcBef>
                        <a:spcAft>
                          <a:spcPct val="0"/>
                        </a:spcAft>
                        <a:buClr>
                          <a:srgbClr val="FF9933"/>
                        </a:buClr>
                        <a:buSzPct val="125000"/>
                        <a:buFont typeface="Wingdings" pitchFamily="2" charset="2"/>
                        <a:buNone/>
                        <a:tabLst/>
                      </a:pPr>
                      <a:endParaRPr kumimoji="0" lang="en-GB" sz="1600" b="1" i="0" u="none" strike="noStrike" cap="none" normalizeH="0" baseline="0" dirty="0">
                        <a:ln>
                          <a:noFill/>
                        </a:ln>
                        <a:solidFill>
                          <a:schemeClr val="tx1"/>
                        </a:solidFill>
                        <a:effectLst/>
                        <a:latin typeface="Arial" charset="0"/>
                        <a:ea typeface="ＭＳ Ｐゴシック" pitchFamily="34" charset="-128"/>
                      </a:endParaRPr>
                    </a:p>
                    <a:p>
                      <a:pPr marL="0" marR="0" lvl="0" indent="0" algn="l" defTabSz="801688" rtl="0" eaLnBrk="1" fontAlgn="base" latinLnBrk="0" hangingPunct="1">
                        <a:lnSpc>
                          <a:spcPct val="100000"/>
                        </a:lnSpc>
                        <a:spcBef>
                          <a:spcPct val="20000"/>
                        </a:spcBef>
                        <a:spcAft>
                          <a:spcPct val="0"/>
                        </a:spcAft>
                        <a:buClr>
                          <a:srgbClr val="FF9933"/>
                        </a:buClr>
                        <a:buSzPct val="125000"/>
                        <a:buFont typeface="Wingdings" pitchFamily="2" charset="2"/>
                        <a:buNone/>
                        <a:tabLst/>
                      </a:pPr>
                      <a:endParaRPr kumimoji="0" lang="en-GB" sz="1600" b="1" i="0" u="none" strike="noStrike" cap="none" normalizeH="0" baseline="0" dirty="0">
                        <a:ln>
                          <a:noFill/>
                        </a:ln>
                        <a:solidFill>
                          <a:schemeClr val="tx1"/>
                        </a:solidFill>
                        <a:effectLst/>
                        <a:latin typeface="Arial" charset="0"/>
                        <a:ea typeface="ＭＳ Ｐゴシック" pitchFamily="34" charset="-128"/>
                      </a:endParaRPr>
                    </a:p>
                    <a:p>
                      <a:pPr marL="0" marR="0" lvl="0" indent="0" algn="l" defTabSz="801688" rtl="0" eaLnBrk="1" fontAlgn="base" latinLnBrk="0" hangingPunct="1">
                        <a:lnSpc>
                          <a:spcPct val="100000"/>
                        </a:lnSpc>
                        <a:spcBef>
                          <a:spcPct val="20000"/>
                        </a:spcBef>
                        <a:spcAft>
                          <a:spcPct val="0"/>
                        </a:spcAft>
                        <a:buClr>
                          <a:srgbClr val="FF9933"/>
                        </a:buClr>
                        <a:buSzPct val="125000"/>
                        <a:buFont typeface="Wingdings" pitchFamily="2" charset="2"/>
                        <a:buNone/>
                        <a:tabLst/>
                      </a:pPr>
                      <a:r>
                        <a:rPr kumimoji="0" lang="en-GB" sz="1600" b="1" i="0" u="none" strike="noStrike" cap="none" normalizeH="0" baseline="0" dirty="0">
                          <a:ln>
                            <a:noFill/>
                          </a:ln>
                          <a:solidFill>
                            <a:schemeClr val="tx1"/>
                          </a:solidFill>
                          <a:effectLst/>
                          <a:latin typeface="Arial" charset="0"/>
                          <a:ea typeface="ＭＳ Ｐゴシック" pitchFamily="34" charset="-128"/>
                        </a:rPr>
                        <a:t>Coupling noise  </a:t>
                      </a:r>
                    </a:p>
                    <a:p>
                      <a:pPr marL="0" marR="0" lvl="0" indent="0" algn="l" defTabSz="801688" rtl="0" eaLnBrk="1" fontAlgn="base" latinLnBrk="0" hangingPunct="1">
                        <a:lnSpc>
                          <a:spcPct val="100000"/>
                        </a:lnSpc>
                        <a:spcBef>
                          <a:spcPct val="20000"/>
                        </a:spcBef>
                        <a:spcAft>
                          <a:spcPct val="0"/>
                        </a:spcAft>
                        <a:buClr>
                          <a:srgbClr val="FF9933"/>
                        </a:buClr>
                        <a:buSzPct val="125000"/>
                        <a:buFont typeface="Wingdings" pitchFamily="2" charset="2"/>
                        <a:buNone/>
                        <a:tabLst/>
                      </a:pPr>
                      <a:r>
                        <a:rPr kumimoji="0" lang="en-GB" sz="1600" b="1" i="0" u="none" strike="noStrike" cap="none" normalizeH="0" baseline="0" dirty="0">
                          <a:ln>
                            <a:noFill/>
                          </a:ln>
                          <a:solidFill>
                            <a:schemeClr val="tx1"/>
                          </a:solidFill>
                          <a:effectLst/>
                          <a:latin typeface="Arial" charset="0"/>
                          <a:ea typeface="ＭＳ Ｐゴシック" pitchFamily="34" charset="-128"/>
                        </a:rPr>
                        <a:t>Local Clock-jitter (IR drop in clock-tree)</a:t>
                      </a:r>
                    </a:p>
                  </a:txBody>
                  <a:tcPr marL="82296" marR="82296" marT="36576" marB="36576" horzOverflow="overflow">
                    <a:lnL w="28575" cap="flat" cmpd="sng" algn="ctr">
                      <a:solidFill>
                        <a:srgbClr val="003366"/>
                      </a:solidFill>
                      <a:prstDash val="solid"/>
                      <a:round/>
                      <a:headEnd type="none" w="sm" len="sm"/>
                      <a:tailEnd type="none" w="sm" len="sm"/>
                    </a:lnL>
                    <a:lnR w="28575" cap="flat" cmpd="sng" algn="ctr">
                      <a:solidFill>
                        <a:srgbClr val="003366"/>
                      </a:solidFill>
                      <a:prstDash val="solid"/>
                      <a:round/>
                      <a:headEnd type="none" w="sm" len="sm"/>
                      <a:tailEnd type="none" w="sm" len="sm"/>
                    </a:lnR>
                    <a:lnT w="28575" cap="flat" cmpd="sng" algn="ctr">
                      <a:solidFill>
                        <a:srgbClr val="003366"/>
                      </a:solidFill>
                      <a:prstDash val="solid"/>
                      <a:round/>
                      <a:headEnd type="none" w="sm" len="sm"/>
                      <a:tailEnd type="none" w="sm" len="sm"/>
                    </a:lnT>
                    <a:lnB w="28575" cap="flat" cmpd="sng" algn="ctr">
                      <a:solidFill>
                        <a:srgbClr val="003366"/>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2785" name="Text Box 36"/>
          <p:cNvSpPr txBox="1">
            <a:spLocks noChangeArrowheads="1"/>
          </p:cNvSpPr>
          <p:nvPr/>
        </p:nvSpPr>
        <p:spPr bwMode="auto">
          <a:xfrm>
            <a:off x="5423362" y="1844886"/>
            <a:ext cx="2183479" cy="316400"/>
          </a:xfrm>
          <a:prstGeom prst="rect">
            <a:avLst/>
          </a:prstGeom>
          <a:noFill/>
          <a:ln w="12700">
            <a:noFill/>
            <a:miter lim="800000"/>
            <a:headEnd type="none" w="sm" len="sm"/>
            <a:tailEnd type="none" w="sm" len="sm"/>
          </a:ln>
        </p:spPr>
        <p:txBody>
          <a:bodyPr wrap="none" lIns="80167" tIns="40084" rIns="80167" bIns="40084">
            <a:spAutoFit/>
          </a:bodyPr>
          <a:lstStyle/>
          <a:p>
            <a:pPr algn="ctr" defTabSz="801688" eaLnBrk="0" fontAlgn="ctr" hangingPunct="0">
              <a:lnSpc>
                <a:spcPct val="80000"/>
              </a:lnSpc>
              <a:spcBef>
                <a:spcPct val="50000"/>
              </a:spcBef>
              <a:buClr>
                <a:schemeClr val="bg2"/>
              </a:buClr>
              <a:buSzPct val="125000"/>
            </a:pPr>
            <a:r>
              <a:rPr lang="en-GB" altLang="ko-KR" b="1"/>
              <a:t>SLOW-CHANGING</a:t>
            </a:r>
          </a:p>
        </p:txBody>
      </p:sp>
      <p:sp>
        <p:nvSpPr>
          <p:cNvPr id="32786" name="Text Box 37"/>
          <p:cNvSpPr txBox="1">
            <a:spLocks noChangeArrowheads="1"/>
          </p:cNvSpPr>
          <p:nvPr/>
        </p:nvSpPr>
        <p:spPr bwMode="auto">
          <a:xfrm>
            <a:off x="8042511" y="1844886"/>
            <a:ext cx="2072807" cy="316400"/>
          </a:xfrm>
          <a:prstGeom prst="rect">
            <a:avLst/>
          </a:prstGeom>
          <a:noFill/>
          <a:ln w="12700">
            <a:noFill/>
            <a:miter lim="800000"/>
            <a:headEnd type="none" w="sm" len="sm"/>
            <a:tailEnd type="none" w="sm" len="sm"/>
          </a:ln>
        </p:spPr>
        <p:txBody>
          <a:bodyPr wrap="none" lIns="80167" tIns="40084" rIns="80167" bIns="40084">
            <a:spAutoFit/>
          </a:bodyPr>
          <a:lstStyle/>
          <a:p>
            <a:pPr algn="ctr" defTabSz="801688" eaLnBrk="0" fontAlgn="ctr" hangingPunct="0">
              <a:lnSpc>
                <a:spcPct val="80000"/>
              </a:lnSpc>
              <a:spcBef>
                <a:spcPct val="50000"/>
              </a:spcBef>
              <a:buClr>
                <a:schemeClr val="bg2"/>
              </a:buClr>
              <a:buSzPct val="125000"/>
            </a:pPr>
            <a:r>
              <a:rPr lang="en-GB" altLang="ko-KR" b="1"/>
              <a:t>FAST-CHANGING</a:t>
            </a:r>
          </a:p>
        </p:txBody>
      </p:sp>
      <p:sp>
        <p:nvSpPr>
          <p:cNvPr id="32787" name="Text Box 38"/>
          <p:cNvSpPr txBox="1">
            <a:spLocks noChangeArrowheads="1"/>
          </p:cNvSpPr>
          <p:nvPr/>
        </p:nvSpPr>
        <p:spPr bwMode="auto">
          <a:xfrm rot="-5400000">
            <a:off x="1828862" y="2640774"/>
            <a:ext cx="1136526" cy="316400"/>
          </a:xfrm>
          <a:prstGeom prst="rect">
            <a:avLst/>
          </a:prstGeom>
          <a:noFill/>
          <a:ln w="12700">
            <a:noFill/>
            <a:miter lim="800000"/>
            <a:headEnd type="none" w="sm" len="sm"/>
            <a:tailEnd type="none" w="sm" len="sm"/>
          </a:ln>
        </p:spPr>
        <p:txBody>
          <a:bodyPr wrap="none" lIns="80167" tIns="40084" rIns="80167" bIns="40084">
            <a:spAutoFit/>
          </a:bodyPr>
          <a:lstStyle/>
          <a:p>
            <a:pPr algn="ctr" defTabSz="801688" eaLnBrk="0" fontAlgn="ctr" hangingPunct="0">
              <a:lnSpc>
                <a:spcPct val="80000"/>
              </a:lnSpc>
              <a:spcBef>
                <a:spcPct val="50000"/>
              </a:spcBef>
              <a:buClr>
                <a:schemeClr val="bg2"/>
              </a:buClr>
              <a:buSzPct val="125000"/>
            </a:pPr>
            <a:r>
              <a:rPr lang="en-GB" altLang="ko-KR" b="1"/>
              <a:t>GLOBAL</a:t>
            </a:r>
          </a:p>
        </p:txBody>
      </p:sp>
      <p:sp>
        <p:nvSpPr>
          <p:cNvPr id="32788" name="Text Box 39"/>
          <p:cNvSpPr txBox="1">
            <a:spLocks noChangeArrowheads="1"/>
          </p:cNvSpPr>
          <p:nvPr/>
        </p:nvSpPr>
        <p:spPr bwMode="auto">
          <a:xfrm rot="-5400000">
            <a:off x="1912282" y="4574439"/>
            <a:ext cx="956989" cy="316400"/>
          </a:xfrm>
          <a:prstGeom prst="rect">
            <a:avLst/>
          </a:prstGeom>
          <a:noFill/>
          <a:ln w="12700">
            <a:noFill/>
            <a:miter lim="800000"/>
            <a:headEnd type="none" w="sm" len="sm"/>
            <a:tailEnd type="none" w="sm" len="sm"/>
          </a:ln>
        </p:spPr>
        <p:txBody>
          <a:bodyPr wrap="none" lIns="80167" tIns="40084" rIns="80167" bIns="40084">
            <a:spAutoFit/>
          </a:bodyPr>
          <a:lstStyle/>
          <a:p>
            <a:pPr algn="ctr" defTabSz="801688" eaLnBrk="0" fontAlgn="ctr" hangingPunct="0">
              <a:lnSpc>
                <a:spcPct val="80000"/>
              </a:lnSpc>
              <a:spcBef>
                <a:spcPct val="50000"/>
              </a:spcBef>
              <a:buClr>
                <a:schemeClr val="bg2"/>
              </a:buClr>
              <a:buSzPct val="125000"/>
            </a:pPr>
            <a:r>
              <a:rPr lang="en-GB" altLang="ko-KR" b="1" dirty="0"/>
              <a:t>LOCAL</a:t>
            </a:r>
          </a:p>
        </p:txBody>
      </p:sp>
      <p:sp>
        <p:nvSpPr>
          <p:cNvPr id="32789" name="Line 40"/>
          <p:cNvSpPr>
            <a:spLocks noChangeShapeType="1"/>
          </p:cNvSpPr>
          <p:nvPr/>
        </p:nvSpPr>
        <p:spPr bwMode="auto">
          <a:xfrm>
            <a:off x="2689225" y="5843798"/>
            <a:ext cx="7634288" cy="0"/>
          </a:xfrm>
          <a:prstGeom prst="line">
            <a:avLst/>
          </a:prstGeom>
          <a:noFill/>
          <a:ln w="38100">
            <a:solidFill>
              <a:srgbClr val="FF0000"/>
            </a:solidFill>
            <a:round/>
            <a:headEnd type="none" w="sm" len="sm"/>
            <a:tailEnd type="triangle" w="lg" len="med"/>
          </a:ln>
        </p:spPr>
        <p:txBody>
          <a:bodyPr lIns="80167" tIns="40084" rIns="80167" bIns="40084" anchor="ctr">
            <a:spAutoFit/>
          </a:bodyPr>
          <a:lstStyle/>
          <a:p>
            <a:endParaRPr lang="en-US"/>
          </a:p>
        </p:txBody>
      </p:sp>
      <p:sp>
        <p:nvSpPr>
          <p:cNvPr id="32790" name="Text Box 41"/>
          <p:cNvSpPr txBox="1">
            <a:spLocks noChangeArrowheads="1"/>
          </p:cNvSpPr>
          <p:nvPr/>
        </p:nvSpPr>
        <p:spPr bwMode="auto">
          <a:xfrm>
            <a:off x="4047621" y="6012074"/>
            <a:ext cx="4714876" cy="394883"/>
          </a:xfrm>
          <a:prstGeom prst="rect">
            <a:avLst/>
          </a:prstGeom>
          <a:noFill/>
          <a:ln w="12700">
            <a:noFill/>
            <a:miter lim="800000"/>
            <a:headEnd type="none" w="sm" len="sm"/>
            <a:tailEnd type="none" w="sm" len="sm"/>
          </a:ln>
        </p:spPr>
        <p:txBody>
          <a:bodyPr wrap="none" lIns="80167" tIns="40084" rIns="80167" bIns="40084">
            <a:spAutoFit/>
          </a:bodyPr>
          <a:lstStyle/>
          <a:p>
            <a:pPr algn="ctr" defTabSz="801688" eaLnBrk="0" fontAlgn="ctr" hangingPunct="0">
              <a:lnSpc>
                <a:spcPct val="80000"/>
              </a:lnSpc>
              <a:spcBef>
                <a:spcPct val="50000"/>
              </a:spcBef>
              <a:buClr>
                <a:schemeClr val="bg2"/>
              </a:buClr>
              <a:buSzPct val="125000"/>
            </a:pPr>
            <a:r>
              <a:rPr lang="en-GB" altLang="ko-KR" sz="2400" b="1" dirty="0"/>
              <a:t>TEMPORAL RATE OF CHANGE</a:t>
            </a:r>
          </a:p>
        </p:txBody>
      </p:sp>
      <p:sp>
        <p:nvSpPr>
          <p:cNvPr id="32791" name="Text Box 43"/>
          <p:cNvSpPr txBox="1">
            <a:spLocks noChangeArrowheads="1"/>
          </p:cNvSpPr>
          <p:nvPr/>
        </p:nvSpPr>
        <p:spPr bwMode="auto">
          <a:xfrm rot="10800000">
            <a:off x="1603584" y="2502336"/>
            <a:ext cx="475832" cy="2527197"/>
          </a:xfrm>
          <a:prstGeom prst="rect">
            <a:avLst/>
          </a:prstGeom>
          <a:noFill/>
          <a:ln w="12700">
            <a:noFill/>
            <a:miter lim="800000"/>
            <a:headEnd type="none" w="sm" len="sm"/>
            <a:tailEnd type="none" w="sm" len="sm"/>
          </a:ln>
        </p:spPr>
        <p:txBody>
          <a:bodyPr vert="eaVert" wrap="none" lIns="80167" tIns="40084" rIns="80167" bIns="40084">
            <a:spAutoFit/>
          </a:bodyPr>
          <a:lstStyle/>
          <a:p>
            <a:pPr algn="ctr" defTabSz="801688" eaLnBrk="0" fontAlgn="ctr" hangingPunct="0">
              <a:lnSpc>
                <a:spcPct val="80000"/>
              </a:lnSpc>
              <a:spcBef>
                <a:spcPct val="50000"/>
              </a:spcBef>
              <a:buClr>
                <a:schemeClr val="bg2"/>
              </a:buClr>
              <a:buSzPct val="125000"/>
            </a:pPr>
            <a:r>
              <a:rPr lang="en-GB" altLang="ko-KR" sz="2400" b="1" dirty="0"/>
              <a:t>SPATIAL REACH</a:t>
            </a:r>
          </a:p>
        </p:txBody>
      </p:sp>
      <p:sp>
        <p:nvSpPr>
          <p:cNvPr id="32792" name="Text Box 44"/>
          <p:cNvSpPr txBox="1">
            <a:spLocks noChangeArrowheads="1"/>
          </p:cNvSpPr>
          <p:nvPr/>
        </p:nvSpPr>
        <p:spPr bwMode="auto">
          <a:xfrm>
            <a:off x="3438702" y="1095586"/>
            <a:ext cx="1139475" cy="368722"/>
          </a:xfrm>
          <a:prstGeom prst="rect">
            <a:avLst/>
          </a:prstGeom>
          <a:noFill/>
          <a:ln w="12700">
            <a:noFill/>
            <a:miter lim="800000"/>
            <a:headEnd type="none" w="sm" len="sm"/>
            <a:tailEnd type="none" w="sm" len="sm"/>
          </a:ln>
        </p:spPr>
        <p:txBody>
          <a:bodyPr wrap="none" lIns="80167" tIns="40084" rIns="80167" bIns="40084">
            <a:spAutoFit/>
          </a:bodyPr>
          <a:lstStyle/>
          <a:p>
            <a:pPr algn="ctr" defTabSz="801688" eaLnBrk="0" fontAlgn="ctr" hangingPunct="0">
              <a:lnSpc>
                <a:spcPct val="80000"/>
              </a:lnSpc>
              <a:spcBef>
                <a:spcPct val="50000"/>
              </a:spcBef>
              <a:buClr>
                <a:schemeClr val="bg2"/>
              </a:buClr>
              <a:buSzPct val="125000"/>
            </a:pPr>
            <a:r>
              <a:rPr lang="en-GB" altLang="ko-KR" sz="2200" b="1" dirty="0"/>
              <a:t>STATIC</a:t>
            </a:r>
            <a:endParaRPr lang="en-GB" altLang="ko-KR" b="1" dirty="0"/>
          </a:p>
        </p:txBody>
      </p:sp>
      <p:sp>
        <p:nvSpPr>
          <p:cNvPr id="32793" name="Text Box 45"/>
          <p:cNvSpPr txBox="1">
            <a:spLocks noChangeArrowheads="1"/>
          </p:cNvSpPr>
          <p:nvPr/>
        </p:nvSpPr>
        <p:spPr bwMode="auto">
          <a:xfrm>
            <a:off x="7070724" y="1071773"/>
            <a:ext cx="1477966" cy="368722"/>
          </a:xfrm>
          <a:prstGeom prst="rect">
            <a:avLst/>
          </a:prstGeom>
          <a:noFill/>
          <a:ln w="12700">
            <a:noFill/>
            <a:miter lim="800000"/>
            <a:headEnd type="none" w="sm" len="sm"/>
            <a:tailEnd type="none" w="sm" len="sm"/>
          </a:ln>
        </p:spPr>
        <p:txBody>
          <a:bodyPr wrap="none" lIns="80167" tIns="40084" rIns="80167" bIns="40084">
            <a:spAutoFit/>
          </a:bodyPr>
          <a:lstStyle/>
          <a:p>
            <a:pPr algn="ctr" defTabSz="801688" eaLnBrk="0" fontAlgn="ctr" hangingPunct="0">
              <a:lnSpc>
                <a:spcPct val="80000"/>
              </a:lnSpc>
              <a:spcBef>
                <a:spcPct val="50000"/>
              </a:spcBef>
              <a:buClr>
                <a:schemeClr val="bg2"/>
              </a:buClr>
              <a:buSzPct val="125000"/>
            </a:pPr>
            <a:r>
              <a:rPr lang="en-GB" altLang="ko-KR" sz="2200" b="1"/>
              <a:t>DYNAMIC</a:t>
            </a:r>
            <a:endParaRPr lang="en-GB" altLang="ko-KR" b="1"/>
          </a:p>
        </p:txBody>
      </p:sp>
      <p:sp>
        <p:nvSpPr>
          <p:cNvPr id="32794" name="AutoShape 46"/>
          <p:cNvSpPr>
            <a:spLocks/>
          </p:cNvSpPr>
          <p:nvPr/>
        </p:nvSpPr>
        <p:spPr bwMode="auto">
          <a:xfrm rot="-5400000">
            <a:off x="3692169" y="1502560"/>
            <a:ext cx="510031" cy="416800"/>
          </a:xfrm>
          <a:prstGeom prst="rightBrace">
            <a:avLst>
              <a:gd name="adj1" fmla="val 70994"/>
              <a:gd name="adj2" fmla="val 49931"/>
            </a:avLst>
          </a:prstGeom>
          <a:noFill/>
          <a:ln w="25400">
            <a:solidFill>
              <a:schemeClr val="tx1"/>
            </a:solidFill>
            <a:round/>
            <a:headEnd type="none" w="sm" len="sm"/>
            <a:tailEnd type="none" w="sm" len="sm"/>
          </a:ln>
        </p:spPr>
        <p:txBody>
          <a:bodyPr wrap="square" lIns="80167" tIns="40084" rIns="80167" bIns="40084" anchor="ctr">
            <a:spAutoFit/>
          </a:bodyPr>
          <a:lstStyle/>
          <a:p>
            <a:pPr eaLnBrk="0" hangingPunct="0"/>
            <a:endParaRPr lang="ko-KR" altLang="ko-KR">
              <a:solidFill>
                <a:schemeClr val="tx1"/>
              </a:solidFill>
            </a:endParaRPr>
          </a:p>
        </p:txBody>
      </p:sp>
      <p:sp>
        <p:nvSpPr>
          <p:cNvPr id="32795" name="AutoShape 47"/>
          <p:cNvSpPr>
            <a:spLocks/>
          </p:cNvSpPr>
          <p:nvPr/>
        </p:nvSpPr>
        <p:spPr bwMode="auto">
          <a:xfrm rot="-5400000">
            <a:off x="7330429" y="1391819"/>
            <a:ext cx="548634" cy="416800"/>
          </a:xfrm>
          <a:prstGeom prst="rightBrace">
            <a:avLst>
              <a:gd name="adj1" fmla="val 125371"/>
              <a:gd name="adj2" fmla="val 49931"/>
            </a:avLst>
          </a:prstGeom>
          <a:noFill/>
          <a:ln w="25400">
            <a:solidFill>
              <a:schemeClr val="tx1"/>
            </a:solidFill>
            <a:round/>
            <a:headEnd type="none" w="sm" len="sm"/>
            <a:tailEnd type="none" w="sm" len="sm"/>
          </a:ln>
        </p:spPr>
        <p:txBody>
          <a:bodyPr wrap="square" lIns="80167" tIns="40084" rIns="80167" bIns="40084" anchor="ctr">
            <a:spAutoFit/>
          </a:bodyPr>
          <a:lstStyle/>
          <a:p>
            <a:pPr eaLnBrk="0" hangingPunct="0"/>
            <a:endParaRPr lang="ko-KR" altLang="ko-KR">
              <a:solidFill>
                <a:schemeClr val="tx1"/>
              </a:solidFill>
            </a:endParaRPr>
          </a:p>
        </p:txBody>
      </p:sp>
      <p:sp>
        <p:nvSpPr>
          <p:cNvPr id="32796" name="Text Box 48"/>
          <p:cNvSpPr txBox="1">
            <a:spLocks noChangeArrowheads="1"/>
          </p:cNvSpPr>
          <p:nvPr/>
        </p:nvSpPr>
        <p:spPr bwMode="auto">
          <a:xfrm>
            <a:off x="2880334" y="1848061"/>
            <a:ext cx="2303833" cy="316400"/>
          </a:xfrm>
          <a:prstGeom prst="rect">
            <a:avLst/>
          </a:prstGeom>
          <a:noFill/>
          <a:ln w="12700">
            <a:noFill/>
            <a:miter lim="800000"/>
            <a:headEnd type="none" w="sm" len="sm"/>
            <a:tailEnd type="none" w="sm" len="sm"/>
          </a:ln>
        </p:spPr>
        <p:txBody>
          <a:bodyPr wrap="none" lIns="80167" tIns="40084" rIns="80167" bIns="40084">
            <a:spAutoFit/>
          </a:bodyPr>
          <a:lstStyle/>
          <a:p>
            <a:pPr algn="ctr" defTabSz="801688" eaLnBrk="0" fontAlgn="ctr" hangingPunct="0">
              <a:lnSpc>
                <a:spcPct val="80000"/>
              </a:lnSpc>
              <a:spcBef>
                <a:spcPct val="50000"/>
              </a:spcBef>
              <a:buClr>
                <a:schemeClr val="bg2"/>
              </a:buClr>
              <a:buSzPct val="125000"/>
            </a:pPr>
            <a:r>
              <a:rPr lang="en-GB" altLang="ko-KR" b="1"/>
              <a:t>EXTREMELY SLOW</a:t>
            </a:r>
          </a:p>
        </p:txBody>
      </p:sp>
      <p:cxnSp>
        <p:nvCxnSpPr>
          <p:cNvPr id="32797" name="Straight Arrow Connector 18"/>
          <p:cNvCxnSpPr>
            <a:cxnSpLocks noChangeShapeType="1"/>
          </p:cNvCxnSpPr>
          <p:nvPr/>
        </p:nvCxnSpPr>
        <p:spPr bwMode="auto">
          <a:xfrm rot="16200000" flipV="1">
            <a:off x="387350" y="3910225"/>
            <a:ext cx="3498852" cy="1"/>
          </a:xfrm>
          <a:prstGeom prst="straightConnector1">
            <a:avLst/>
          </a:prstGeom>
          <a:noFill/>
          <a:ln w="38100" algn="ctr">
            <a:solidFill>
              <a:srgbClr val="FF0000"/>
            </a:solidFill>
            <a:round/>
            <a:headEnd/>
            <a:tailEnd type="triangle" w="med" len="med"/>
          </a:ln>
        </p:spPr>
      </p:cxnSp>
      <p:sp>
        <p:nvSpPr>
          <p:cNvPr id="24" name="Rounded Rectangle 23"/>
          <p:cNvSpPr/>
          <p:nvPr/>
        </p:nvSpPr>
        <p:spPr bwMode="auto">
          <a:xfrm>
            <a:off x="2965450" y="3311181"/>
            <a:ext cx="1473200" cy="783193"/>
          </a:xfrm>
          <a:prstGeom prst="roundRect">
            <a:avLst/>
          </a:prstGeom>
          <a:gradFill>
            <a:gsLst>
              <a:gs pos="0">
                <a:srgbClr val="FF762F"/>
              </a:gs>
              <a:gs pos="100000">
                <a:srgbClr val="FBD1B7"/>
              </a:gs>
            </a:gsLst>
          </a:gradFill>
          <a:ln>
            <a:headEnd type="none" w="med" len="med"/>
            <a:tailEnd type="triangle" w="med" len="med"/>
          </a:ln>
        </p:spPr>
        <p:style>
          <a:lnRef idx="0">
            <a:schemeClr val="accent1"/>
          </a:lnRef>
          <a:fillRef idx="3">
            <a:schemeClr val="accent1"/>
          </a:fillRef>
          <a:effectRef idx="3">
            <a:schemeClr val="accent1"/>
          </a:effectRef>
          <a:fontRef idx="minor">
            <a:schemeClr val="lt1"/>
          </a:fontRef>
        </p:style>
        <p:txBody>
          <a:bodyPr>
            <a:spAutoFit/>
          </a:bodyPr>
          <a:lstStyle/>
          <a:p>
            <a:pPr eaLnBrk="0" hangingPunct="0">
              <a:defRPr/>
            </a:pPr>
            <a:r>
              <a:rPr lang="en-US" sz="2000" dirty="0">
                <a:solidFill>
                  <a:schemeClr val="tx1"/>
                </a:solidFill>
                <a:ea typeface="ＭＳ Ｐゴシック" charset="-128"/>
                <a:cs typeface="ＭＳ Ｐゴシック" charset="-128"/>
              </a:rPr>
              <a:t>Easy to </a:t>
            </a:r>
          </a:p>
          <a:p>
            <a:pPr eaLnBrk="0" hangingPunct="0">
              <a:defRPr/>
            </a:pPr>
            <a:r>
              <a:rPr lang="en-US" sz="2000" dirty="0">
                <a:solidFill>
                  <a:schemeClr val="tx1"/>
                </a:solidFill>
                <a:ea typeface="ＭＳ Ｐゴシック" charset="-128"/>
                <a:cs typeface="ＭＳ Ｐゴシック" charset="-128"/>
              </a:rPr>
              <a:t>Handle</a:t>
            </a:r>
          </a:p>
        </p:txBody>
      </p:sp>
      <p:sp>
        <p:nvSpPr>
          <p:cNvPr id="25" name="Rounded Rectangle 24"/>
          <p:cNvSpPr/>
          <p:nvPr/>
        </p:nvSpPr>
        <p:spPr bwMode="auto">
          <a:xfrm>
            <a:off x="8582025" y="3818149"/>
            <a:ext cx="1473200" cy="783193"/>
          </a:xfrm>
          <a:prstGeom prst="roundRect">
            <a:avLst/>
          </a:prstGeom>
          <a:gradFill>
            <a:gsLst>
              <a:gs pos="0">
                <a:srgbClr val="FF762F"/>
              </a:gs>
              <a:gs pos="100000">
                <a:srgbClr val="FBD1B7"/>
              </a:gs>
            </a:gsLst>
          </a:gradFill>
          <a:ln>
            <a:headEnd type="none" w="med" len="med"/>
            <a:tailEnd type="triangle" w="med" len="med"/>
          </a:ln>
        </p:spPr>
        <p:style>
          <a:lnRef idx="0">
            <a:schemeClr val="accent1"/>
          </a:lnRef>
          <a:fillRef idx="3">
            <a:schemeClr val="accent1"/>
          </a:fillRef>
          <a:effectRef idx="3">
            <a:schemeClr val="accent1"/>
          </a:effectRef>
          <a:fontRef idx="minor">
            <a:schemeClr val="lt1"/>
          </a:fontRef>
        </p:style>
        <p:txBody>
          <a:bodyPr>
            <a:spAutoFit/>
          </a:bodyPr>
          <a:lstStyle/>
          <a:p>
            <a:pPr eaLnBrk="0" hangingPunct="0">
              <a:defRPr/>
            </a:pPr>
            <a:r>
              <a:rPr lang="en-US" sz="2000" dirty="0">
                <a:solidFill>
                  <a:schemeClr val="tx1"/>
                </a:solidFill>
                <a:ea typeface="ＭＳ Ｐゴシック" charset="-128"/>
                <a:cs typeface="ＭＳ Ｐゴシック" charset="-128"/>
              </a:rPr>
              <a:t>Difficult</a:t>
            </a:r>
          </a:p>
          <a:p>
            <a:pPr eaLnBrk="0" hangingPunct="0">
              <a:defRPr/>
            </a:pPr>
            <a:r>
              <a:rPr lang="en-US" sz="2000" dirty="0">
                <a:solidFill>
                  <a:schemeClr val="tx1"/>
                </a:solidFill>
                <a:ea typeface="ＭＳ Ｐゴシック" charset="-128"/>
                <a:cs typeface="ＭＳ Ｐゴシック" charset="-128"/>
              </a:rPr>
              <a:t>to Handle</a:t>
            </a:r>
          </a:p>
        </p:txBody>
      </p:sp>
      <p:sp>
        <p:nvSpPr>
          <p:cNvPr id="23" name="Left-Right Arrow 22"/>
          <p:cNvSpPr/>
          <p:nvPr/>
        </p:nvSpPr>
        <p:spPr bwMode="auto">
          <a:xfrm rot="447091">
            <a:off x="4124638" y="3526947"/>
            <a:ext cx="4601500" cy="733663"/>
          </a:xfrm>
          <a:prstGeom prst="leftRightArrow">
            <a:avLst/>
          </a:prstGeom>
          <a:gradFill>
            <a:gsLst>
              <a:gs pos="0">
                <a:srgbClr val="FFC000"/>
              </a:gs>
              <a:gs pos="100000">
                <a:srgbClr val="FBD1B7"/>
              </a:gs>
            </a:gsLst>
          </a:gradFill>
          <a:ln>
            <a:headEnd type="none" w="med" len="med"/>
            <a:tailEnd type="triangle" w="med" len="med"/>
          </a:ln>
        </p:spPr>
        <p:style>
          <a:lnRef idx="0">
            <a:schemeClr val="accent1"/>
          </a:lnRef>
          <a:fillRef idx="3">
            <a:schemeClr val="accent1"/>
          </a:fillRef>
          <a:effectRef idx="3">
            <a:schemeClr val="accent1"/>
          </a:effectRef>
          <a:fontRef idx="minor">
            <a:schemeClr val="lt1"/>
          </a:fontRef>
        </p:style>
        <p:txBody>
          <a:bodyPr>
            <a:spAutoFit/>
          </a:bodyPr>
          <a:lstStyle/>
          <a:p>
            <a:pPr eaLnBrk="0" hangingPunct="0"/>
            <a:endParaRPr lang="en-US">
              <a:solidFill>
                <a:srgbClr val="003366"/>
              </a:solidFill>
              <a:ea typeface="ＭＳ Ｐゴシック" pitchFamily="34" charset="-128"/>
            </a:endParaRPr>
          </a:p>
        </p:txBody>
      </p:sp>
    </p:spTree>
    <p:extLst>
      <p:ext uri="{BB962C8B-B14F-4D97-AF65-F5344CB8AC3E}">
        <p14:creationId xmlns:p14="http://schemas.microsoft.com/office/powerpoint/2010/main" val="21518209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52400"/>
            <a:ext cx="9144000" cy="609600"/>
          </a:xfrm>
        </p:spPr>
        <p:txBody>
          <a:bodyPr/>
          <a:lstStyle/>
          <a:p>
            <a:r>
              <a:rPr lang="en-US" sz="3500" dirty="0"/>
              <a:t>Energy-Efficient Design: Traditional Approaches</a:t>
            </a:r>
          </a:p>
        </p:txBody>
      </p:sp>
      <p:sp>
        <p:nvSpPr>
          <p:cNvPr id="3" name="Content Placeholder 2"/>
          <p:cNvSpPr>
            <a:spLocks noGrp="1"/>
          </p:cNvSpPr>
          <p:nvPr>
            <p:ph idx="1"/>
          </p:nvPr>
        </p:nvSpPr>
        <p:spPr/>
        <p:txBody>
          <a:bodyPr/>
          <a:lstStyle/>
          <a:p>
            <a:r>
              <a:rPr lang="en-US" dirty="0"/>
              <a:t>Industry: Other approaches prioritized till recently</a:t>
            </a:r>
          </a:p>
          <a:p>
            <a:pPr lvl="1"/>
            <a:r>
              <a:rPr lang="en-US" dirty="0"/>
              <a:t>Continued scaling</a:t>
            </a:r>
          </a:p>
          <a:p>
            <a:pPr lvl="1"/>
            <a:r>
              <a:rPr lang="en-US" dirty="0"/>
              <a:t>Clock gating</a:t>
            </a:r>
          </a:p>
          <a:p>
            <a:pPr lvl="1"/>
            <a:r>
              <a:rPr lang="en-US" dirty="0"/>
              <a:t>Power gating</a:t>
            </a:r>
          </a:p>
          <a:p>
            <a:pPr lvl="1"/>
            <a:r>
              <a:rPr lang="en-US" dirty="0"/>
              <a:t>DVFS</a:t>
            </a:r>
          </a:p>
          <a:p>
            <a:pPr lvl="1"/>
            <a:r>
              <a:rPr lang="en-US" dirty="0"/>
              <a:t> Multi-V</a:t>
            </a:r>
            <a:r>
              <a:rPr lang="en-US" baseline="-25000" dirty="0"/>
              <a:t>th</a:t>
            </a:r>
            <a:endParaRPr lang="en-US" dirty="0"/>
          </a:p>
          <a:p>
            <a:pPr lvl="1"/>
            <a:endParaRPr lang="en-US" dirty="0"/>
          </a:p>
          <a:p>
            <a:pPr lvl="1"/>
            <a:endParaRPr lang="en-US" dirty="0"/>
          </a:p>
          <a:p>
            <a:r>
              <a:rPr lang="en-US" dirty="0"/>
              <a:t>Academia, focus on more exotic approaches</a:t>
            </a:r>
          </a:p>
          <a:p>
            <a:pPr lvl="1"/>
            <a:r>
              <a:rPr lang="en-US" dirty="0"/>
              <a:t>Adiabatic logic / Charge-recycling techniques</a:t>
            </a:r>
          </a:p>
          <a:p>
            <a:pPr lvl="1"/>
            <a:r>
              <a:rPr lang="en-US" dirty="0"/>
              <a:t>Super-pipelining (voltage-scaling)</a:t>
            </a:r>
          </a:p>
          <a:p>
            <a:pPr lvl="1"/>
            <a:r>
              <a:rPr lang="en-US" dirty="0"/>
              <a:t>Low-power logic topologies</a:t>
            </a:r>
          </a:p>
          <a:p>
            <a:pPr lvl="1"/>
            <a:endParaRPr lang="en-US" dirty="0"/>
          </a:p>
        </p:txBody>
      </p:sp>
      <p:sp>
        <p:nvSpPr>
          <p:cNvPr id="4" name="Slide Number Placeholder 3"/>
          <p:cNvSpPr>
            <a:spLocks noGrp="1"/>
          </p:cNvSpPr>
          <p:nvPr>
            <p:ph type="sldNum" sz="quarter" idx="10"/>
          </p:nvPr>
        </p:nvSpPr>
        <p:spPr/>
        <p:txBody>
          <a:bodyPr/>
          <a:lstStyle/>
          <a:p>
            <a:fld id="{7D4E4B3C-6D75-45C2-A79F-093804AEFBBA}" type="slidenum">
              <a:rPr lang="en-US" altLang="ja-JP" smtClean="0"/>
              <a:pPr/>
              <a:t>11</a:t>
            </a:fld>
            <a:endParaRPr lang="en-US" altLang="ja-JP" dirty="0"/>
          </a:p>
        </p:txBody>
      </p:sp>
    </p:spTree>
    <p:extLst>
      <p:ext uri="{BB962C8B-B14F-4D97-AF65-F5344CB8AC3E}">
        <p14:creationId xmlns:p14="http://schemas.microsoft.com/office/powerpoint/2010/main" val="501427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Voltage Margins: Challenging Perceptions</a:t>
            </a:r>
          </a:p>
        </p:txBody>
      </p:sp>
      <p:sp>
        <p:nvSpPr>
          <p:cNvPr id="3" name="Content Placeholder 2"/>
          <p:cNvSpPr>
            <a:spLocks noGrp="1"/>
          </p:cNvSpPr>
          <p:nvPr>
            <p:ph idx="1"/>
          </p:nvPr>
        </p:nvSpPr>
        <p:spPr/>
        <p:txBody>
          <a:bodyPr/>
          <a:lstStyle/>
          <a:p>
            <a:r>
              <a:rPr lang="en-US" dirty="0"/>
              <a:t>Industry</a:t>
            </a:r>
          </a:p>
          <a:p>
            <a:pPr lvl="1"/>
            <a:r>
              <a:rPr lang="en-US" dirty="0"/>
              <a:t>Traditionally recognized importance but…</a:t>
            </a:r>
          </a:p>
          <a:p>
            <a:pPr lvl="1"/>
            <a:r>
              <a:rPr lang="en-US" dirty="0"/>
              <a:t>Until recently, not addressed as a design problem </a:t>
            </a:r>
          </a:p>
          <a:p>
            <a:pPr lvl="1"/>
            <a:r>
              <a:rPr lang="en-US" dirty="0"/>
              <a:t>Mitigated using binning and test</a:t>
            </a:r>
          </a:p>
          <a:p>
            <a:pPr marL="457200" lvl="1" indent="0">
              <a:buNone/>
            </a:pPr>
            <a:endParaRPr lang="en-US" dirty="0"/>
          </a:p>
          <a:p>
            <a:r>
              <a:rPr lang="en-US" dirty="0"/>
              <a:t>Academia</a:t>
            </a:r>
          </a:p>
          <a:p>
            <a:pPr lvl="1"/>
            <a:r>
              <a:rPr lang="en-US" dirty="0"/>
              <a:t>Largely unheralded </a:t>
            </a:r>
          </a:p>
          <a:p>
            <a:pPr lvl="1"/>
            <a:r>
              <a:rPr lang="en-US" dirty="0"/>
              <a:t>Not seen as highly impactful effort in low-power design</a:t>
            </a:r>
          </a:p>
          <a:p>
            <a:pPr lvl="1"/>
            <a:endParaRPr lang="en-US" dirty="0"/>
          </a:p>
          <a:p>
            <a:r>
              <a:rPr lang="en-US" dirty="0"/>
              <a:t>Reality</a:t>
            </a:r>
          </a:p>
          <a:p>
            <a:pPr lvl="1"/>
            <a:r>
              <a:rPr lang="en-US" dirty="0"/>
              <a:t>Dominant source of inefficiency</a:t>
            </a:r>
          </a:p>
          <a:p>
            <a:pPr lvl="1"/>
            <a:r>
              <a:rPr lang="en-US" dirty="0"/>
              <a:t>Solutions (particularly supply noise) span variety of areas </a:t>
            </a:r>
            <a:br>
              <a:rPr lang="en-US" dirty="0"/>
            </a:br>
            <a:r>
              <a:rPr lang="en-US" dirty="0"/>
              <a:t>(PDN design, Voltage Regulation, Clocking, Micro-architecture)</a:t>
            </a:r>
          </a:p>
        </p:txBody>
      </p:sp>
      <p:sp>
        <p:nvSpPr>
          <p:cNvPr id="4" name="Slide Number Placeholder 3"/>
          <p:cNvSpPr>
            <a:spLocks noGrp="1"/>
          </p:cNvSpPr>
          <p:nvPr>
            <p:ph type="sldNum" sz="quarter" idx="10"/>
          </p:nvPr>
        </p:nvSpPr>
        <p:spPr/>
        <p:txBody>
          <a:bodyPr/>
          <a:lstStyle/>
          <a:p>
            <a:fld id="{7D4E4B3C-6D75-45C2-A79F-093804AEFBBA}" type="slidenum">
              <a:rPr lang="en-US" altLang="ja-JP" smtClean="0"/>
              <a:pPr/>
              <a:t>12</a:t>
            </a:fld>
            <a:endParaRPr lang="en-US" altLang="ja-JP" dirty="0"/>
          </a:p>
        </p:txBody>
      </p:sp>
    </p:spTree>
    <p:extLst>
      <p:ext uri="{BB962C8B-B14F-4D97-AF65-F5344CB8AC3E}">
        <p14:creationId xmlns:p14="http://schemas.microsoft.com/office/powerpoint/2010/main" val="2836663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1676400" y="914401"/>
            <a:ext cx="8839200" cy="5674659"/>
          </a:xfrm>
        </p:spPr>
        <p:txBody>
          <a:bodyPr/>
          <a:lstStyle/>
          <a:p>
            <a:pPr marL="457200" lvl="1" indent="-457200"/>
            <a:r>
              <a:rPr lang="en-US" sz="2800" dirty="0"/>
              <a:t>Opening Remarks</a:t>
            </a:r>
          </a:p>
          <a:p>
            <a:pPr marL="457200" lvl="1" indent="-457200"/>
            <a:endParaRPr lang="en-US" sz="1100" dirty="0"/>
          </a:p>
          <a:p>
            <a:r>
              <a:rPr lang="en-US" b="1" dirty="0"/>
              <a:t>Understanding supply noise</a:t>
            </a:r>
          </a:p>
          <a:p>
            <a:pPr lvl="1"/>
            <a:r>
              <a:rPr lang="en-US" dirty="0"/>
              <a:t>Power supply delivery – A case study</a:t>
            </a:r>
          </a:p>
          <a:p>
            <a:r>
              <a:rPr lang="en-US" dirty="0"/>
              <a:t>De-coupling capacitance </a:t>
            </a:r>
          </a:p>
          <a:p>
            <a:r>
              <a:rPr lang="en-US" dirty="0"/>
              <a:t>Microarchitecture techniques </a:t>
            </a:r>
          </a:p>
          <a:p>
            <a:endParaRPr lang="en-US" sz="1200" dirty="0"/>
          </a:p>
          <a:p>
            <a:r>
              <a:rPr lang="en-US" dirty="0"/>
              <a:t>Break (5m)</a:t>
            </a:r>
          </a:p>
          <a:p>
            <a:endParaRPr lang="en-US" sz="1200" dirty="0"/>
          </a:p>
          <a:p>
            <a:r>
              <a:rPr lang="en-US" dirty="0"/>
              <a:t>Adaptive Clocking</a:t>
            </a:r>
          </a:p>
          <a:p>
            <a:pPr marL="857250" lvl="2" indent="-457200">
              <a:buFont typeface="Wingdings" panose="05000000000000000000" pitchFamily="2" charset="2"/>
              <a:buChar char="§"/>
            </a:pPr>
            <a:r>
              <a:rPr lang="en-US" sz="2400" dirty="0"/>
              <a:t>Generation: Intel Nehalem</a:t>
            </a:r>
          </a:p>
          <a:p>
            <a:pPr marL="857250" lvl="2" indent="-457200">
              <a:buFont typeface="Wingdings" panose="05000000000000000000" pitchFamily="2" charset="2"/>
              <a:buChar char="§"/>
            </a:pPr>
            <a:r>
              <a:rPr lang="en-US" sz="2400" dirty="0"/>
              <a:t>Generation: AMD Steamroller</a:t>
            </a:r>
          </a:p>
          <a:p>
            <a:pPr marL="857250" lvl="2" indent="-457200">
              <a:buFont typeface="Wingdings" panose="05000000000000000000" pitchFamily="2" charset="2"/>
              <a:buChar char="§"/>
            </a:pPr>
            <a:r>
              <a:rPr lang="en-US" sz="2400" dirty="0"/>
              <a:t>Distribution: Qualcomm</a:t>
            </a:r>
          </a:p>
          <a:p>
            <a:r>
              <a:rPr lang="en-US" dirty="0"/>
              <a:t>Integrated Voltage Regulation</a:t>
            </a:r>
          </a:p>
        </p:txBody>
      </p:sp>
      <p:sp>
        <p:nvSpPr>
          <p:cNvPr id="4" name="Slide Number Placeholder 3"/>
          <p:cNvSpPr>
            <a:spLocks noGrp="1"/>
          </p:cNvSpPr>
          <p:nvPr>
            <p:ph type="sldNum" sz="quarter" idx="10"/>
          </p:nvPr>
        </p:nvSpPr>
        <p:spPr/>
        <p:txBody>
          <a:bodyPr/>
          <a:lstStyle/>
          <a:p>
            <a:fld id="{7D4E4B3C-6D75-45C2-A79F-093804AEFBBA}" type="slidenum">
              <a:rPr lang="en-US" altLang="ja-JP" smtClean="0"/>
              <a:pPr/>
              <a:t>13</a:t>
            </a:fld>
            <a:endParaRPr lang="en-US" altLang="ja-JP" dirty="0"/>
          </a:p>
        </p:txBody>
      </p:sp>
    </p:spTree>
    <p:extLst>
      <p:ext uri="{BB962C8B-B14F-4D97-AF65-F5344CB8AC3E}">
        <p14:creationId xmlns:p14="http://schemas.microsoft.com/office/powerpoint/2010/main" val="3116142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Power Delivery Network</a:t>
            </a:r>
          </a:p>
        </p:txBody>
      </p:sp>
      <p:graphicFrame>
        <p:nvGraphicFramePr>
          <p:cNvPr id="11" name="Object 9"/>
          <p:cNvGraphicFramePr>
            <a:graphicFrameLocks noChangeAspect="1"/>
          </p:cNvGraphicFramePr>
          <p:nvPr/>
        </p:nvGraphicFramePr>
        <p:xfrm>
          <a:off x="3065375" y="1090614"/>
          <a:ext cx="5892800" cy="1557337"/>
        </p:xfrm>
        <a:graphic>
          <a:graphicData uri="http://schemas.openxmlformats.org/presentationml/2006/ole">
            <mc:AlternateContent xmlns:mc="http://schemas.openxmlformats.org/markup-compatibility/2006">
              <mc:Choice xmlns:v="urn:schemas-microsoft-com:vml" Requires="v">
                <p:oleObj name="Visio" r:id="rId3" imgW="4622800" imgH="1231900" progId="">
                  <p:embed/>
                </p:oleObj>
              </mc:Choice>
              <mc:Fallback>
                <p:oleObj name="Visio" r:id="rId3" imgW="4622800" imgH="12319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5375" y="1090614"/>
                        <a:ext cx="5892800" cy="15573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12" name="Rectangle 8"/>
          <p:cNvSpPr>
            <a:spLocks noChangeArrowheads="1"/>
          </p:cNvSpPr>
          <p:nvPr/>
        </p:nvSpPr>
        <p:spPr bwMode="auto">
          <a:xfrm>
            <a:off x="5951509" y="1066800"/>
            <a:ext cx="1530291" cy="1568192"/>
          </a:xfrm>
          <a:prstGeom prst="rect">
            <a:avLst/>
          </a:prstGeom>
          <a:noFill/>
          <a:ln w="38100">
            <a:solidFill>
              <a:schemeClr val="accent2"/>
            </a:solidFill>
            <a:miter lim="800000"/>
            <a:headEnd/>
            <a:tailEnd/>
          </a:ln>
        </p:spPr>
        <p:txBody>
          <a:bodyPr wrap="none" anchor="ctr"/>
          <a:lstStyle/>
          <a:p>
            <a:endParaRPr lang="en-US"/>
          </a:p>
        </p:txBody>
      </p:sp>
      <p:sp>
        <p:nvSpPr>
          <p:cNvPr id="13" name="Text Box 9"/>
          <p:cNvSpPr txBox="1">
            <a:spLocks noChangeArrowheads="1"/>
          </p:cNvSpPr>
          <p:nvPr/>
        </p:nvSpPr>
        <p:spPr bwMode="auto">
          <a:xfrm>
            <a:off x="6101787" y="2688883"/>
            <a:ext cx="1015289" cy="224181"/>
          </a:xfrm>
          <a:prstGeom prst="rect">
            <a:avLst/>
          </a:prstGeom>
          <a:solidFill>
            <a:schemeClr val="bg1"/>
          </a:solidFill>
          <a:ln w="9525">
            <a:noFill/>
            <a:miter lim="800000"/>
            <a:headEnd/>
            <a:tailEnd/>
          </a:ln>
        </p:spPr>
        <p:txBody>
          <a:bodyPr anchor="b"/>
          <a:lstStyle/>
          <a:p>
            <a:r>
              <a:rPr lang="en-US" sz="1400" dirty="0">
                <a:solidFill>
                  <a:schemeClr val="accent2"/>
                </a:solidFill>
              </a:rPr>
              <a:t>Package</a:t>
            </a:r>
          </a:p>
        </p:txBody>
      </p:sp>
      <p:sp>
        <p:nvSpPr>
          <p:cNvPr id="14" name="Text Box 9"/>
          <p:cNvSpPr txBox="1">
            <a:spLocks noChangeArrowheads="1"/>
          </p:cNvSpPr>
          <p:nvPr/>
        </p:nvSpPr>
        <p:spPr bwMode="auto">
          <a:xfrm>
            <a:off x="3565380" y="2057400"/>
            <a:ext cx="1021703" cy="367528"/>
          </a:xfrm>
          <a:prstGeom prst="rect">
            <a:avLst/>
          </a:prstGeom>
          <a:noFill/>
          <a:ln w="9525">
            <a:noFill/>
            <a:miter lim="800000"/>
            <a:headEnd/>
            <a:tailEnd/>
          </a:ln>
        </p:spPr>
        <p:txBody>
          <a:bodyPr anchor="b"/>
          <a:lstStyle/>
          <a:p>
            <a:pPr algn="ctr"/>
            <a:r>
              <a:rPr lang="en-US" sz="1200" b="1" dirty="0"/>
              <a:t>C</a:t>
            </a:r>
            <a:r>
              <a:rPr lang="en-US" sz="1200" b="1" baseline="-25000" dirty="0"/>
              <a:t>PCB</a:t>
            </a:r>
          </a:p>
        </p:txBody>
      </p:sp>
      <p:sp>
        <p:nvSpPr>
          <p:cNvPr id="15" name="Text Box 9"/>
          <p:cNvSpPr txBox="1">
            <a:spLocks noChangeArrowheads="1"/>
          </p:cNvSpPr>
          <p:nvPr/>
        </p:nvSpPr>
        <p:spPr bwMode="auto">
          <a:xfrm>
            <a:off x="6724888" y="2458234"/>
            <a:ext cx="1021703" cy="91613"/>
          </a:xfrm>
          <a:prstGeom prst="rect">
            <a:avLst/>
          </a:prstGeom>
          <a:noFill/>
          <a:ln w="9525">
            <a:noFill/>
            <a:miter lim="800000"/>
            <a:headEnd/>
            <a:tailEnd/>
          </a:ln>
        </p:spPr>
        <p:txBody>
          <a:bodyPr anchor="b"/>
          <a:lstStyle/>
          <a:p>
            <a:pPr algn="ctr"/>
            <a:r>
              <a:rPr lang="en-US" sz="1200" dirty="0"/>
              <a:t>Wires</a:t>
            </a:r>
          </a:p>
        </p:txBody>
      </p:sp>
      <p:grpSp>
        <p:nvGrpSpPr>
          <p:cNvPr id="5" name="Group 12"/>
          <p:cNvGrpSpPr>
            <a:grpSpLocks/>
          </p:cNvGrpSpPr>
          <p:nvPr/>
        </p:nvGrpSpPr>
        <p:grpSpPr bwMode="auto">
          <a:xfrm>
            <a:off x="2376401" y="1066801"/>
            <a:ext cx="3490913" cy="1566863"/>
            <a:chOff x="135" y="1468"/>
            <a:chExt cx="2674" cy="1460"/>
          </a:xfrm>
        </p:grpSpPr>
        <p:sp>
          <p:nvSpPr>
            <p:cNvPr id="17" name="Rectangle 6"/>
            <p:cNvSpPr>
              <a:spLocks noChangeArrowheads="1"/>
            </p:cNvSpPr>
            <p:nvPr/>
          </p:nvSpPr>
          <p:spPr bwMode="auto">
            <a:xfrm>
              <a:off x="624" y="1468"/>
              <a:ext cx="2185" cy="1460"/>
            </a:xfrm>
            <a:prstGeom prst="rect">
              <a:avLst/>
            </a:prstGeom>
            <a:noFill/>
            <a:ln w="38100">
              <a:solidFill>
                <a:srgbClr val="E40000"/>
              </a:solidFill>
              <a:miter lim="800000"/>
              <a:headEnd/>
              <a:tailEnd/>
            </a:ln>
          </p:spPr>
          <p:txBody>
            <a:bodyPr wrap="none" anchor="ctr"/>
            <a:lstStyle/>
            <a:p>
              <a:endParaRPr lang="en-US"/>
            </a:p>
          </p:txBody>
        </p:sp>
        <p:sp>
          <p:nvSpPr>
            <p:cNvPr id="18" name="Text Box 7"/>
            <p:cNvSpPr txBox="1">
              <a:spLocks noChangeArrowheads="1"/>
            </p:cNvSpPr>
            <p:nvPr/>
          </p:nvSpPr>
          <p:spPr bwMode="auto">
            <a:xfrm>
              <a:off x="135" y="2028"/>
              <a:ext cx="515" cy="344"/>
            </a:xfrm>
            <a:prstGeom prst="rect">
              <a:avLst/>
            </a:prstGeom>
            <a:noFill/>
            <a:ln w="9525">
              <a:noFill/>
              <a:miter lim="800000"/>
              <a:headEnd/>
              <a:tailEnd/>
            </a:ln>
          </p:spPr>
          <p:txBody>
            <a:bodyPr wrap="none">
              <a:spAutoFit/>
            </a:bodyPr>
            <a:lstStyle/>
            <a:p>
              <a:r>
                <a:rPr lang="en-US">
                  <a:solidFill>
                    <a:srgbClr val="E40000"/>
                  </a:solidFill>
                </a:rPr>
                <a:t>PCB</a:t>
              </a:r>
            </a:p>
          </p:txBody>
        </p:sp>
      </p:grpSp>
      <p:sp>
        <p:nvSpPr>
          <p:cNvPr id="19" name="Rectangle 10"/>
          <p:cNvSpPr>
            <a:spLocks noChangeArrowheads="1"/>
          </p:cNvSpPr>
          <p:nvPr/>
        </p:nvSpPr>
        <p:spPr bwMode="auto">
          <a:xfrm>
            <a:off x="7481800" y="1066800"/>
            <a:ext cx="1574666" cy="1581150"/>
          </a:xfrm>
          <a:prstGeom prst="rect">
            <a:avLst/>
          </a:prstGeom>
          <a:noFill/>
          <a:ln w="38100">
            <a:solidFill>
              <a:srgbClr val="00B050"/>
            </a:solidFill>
            <a:miter lim="800000"/>
            <a:headEnd/>
            <a:tailEnd/>
          </a:ln>
        </p:spPr>
        <p:txBody>
          <a:bodyPr wrap="none" anchor="ctr"/>
          <a:lstStyle/>
          <a:p>
            <a:endParaRPr lang="en-US"/>
          </a:p>
        </p:txBody>
      </p:sp>
      <p:sp>
        <p:nvSpPr>
          <p:cNvPr id="20" name="Text Box 11"/>
          <p:cNvSpPr txBox="1">
            <a:spLocks noChangeArrowheads="1"/>
          </p:cNvSpPr>
          <p:nvPr/>
        </p:nvSpPr>
        <p:spPr bwMode="auto">
          <a:xfrm>
            <a:off x="9056467" y="1667789"/>
            <a:ext cx="659155" cy="369332"/>
          </a:xfrm>
          <a:prstGeom prst="rect">
            <a:avLst/>
          </a:prstGeom>
          <a:noFill/>
          <a:ln w="9525">
            <a:noFill/>
            <a:miter lim="800000"/>
            <a:headEnd/>
            <a:tailEnd/>
          </a:ln>
        </p:spPr>
        <p:txBody>
          <a:bodyPr wrap="none">
            <a:spAutoFit/>
          </a:bodyPr>
          <a:lstStyle/>
          <a:p>
            <a:r>
              <a:rPr lang="en-US" dirty="0">
                <a:solidFill>
                  <a:srgbClr val="00B050"/>
                </a:solidFill>
              </a:rPr>
              <a:t>Chip</a:t>
            </a:r>
          </a:p>
        </p:txBody>
      </p:sp>
      <p:sp>
        <p:nvSpPr>
          <p:cNvPr id="21" name="Text Box 9"/>
          <p:cNvSpPr txBox="1">
            <a:spLocks noChangeArrowheads="1"/>
          </p:cNvSpPr>
          <p:nvPr/>
        </p:nvSpPr>
        <p:spPr bwMode="auto">
          <a:xfrm>
            <a:off x="2514601" y="685800"/>
            <a:ext cx="1021703" cy="367528"/>
          </a:xfrm>
          <a:prstGeom prst="rect">
            <a:avLst/>
          </a:prstGeom>
          <a:noFill/>
          <a:ln w="9525">
            <a:noFill/>
            <a:miter lim="800000"/>
            <a:headEnd/>
            <a:tailEnd/>
          </a:ln>
        </p:spPr>
        <p:txBody>
          <a:bodyPr anchor="b"/>
          <a:lstStyle/>
          <a:p>
            <a:pPr algn="ctr"/>
            <a:r>
              <a:rPr lang="en-US" sz="1200" b="1" dirty="0"/>
              <a:t>L</a:t>
            </a:r>
            <a:r>
              <a:rPr lang="en-US" sz="1200" b="1" baseline="-25000" dirty="0"/>
              <a:t>VRM</a:t>
            </a:r>
          </a:p>
        </p:txBody>
      </p:sp>
      <p:sp>
        <p:nvSpPr>
          <p:cNvPr id="22" name="Text Box 9"/>
          <p:cNvSpPr txBox="1">
            <a:spLocks noChangeArrowheads="1"/>
          </p:cNvSpPr>
          <p:nvPr/>
        </p:nvSpPr>
        <p:spPr bwMode="auto">
          <a:xfrm>
            <a:off x="3661393" y="1600200"/>
            <a:ext cx="1021703" cy="367528"/>
          </a:xfrm>
          <a:prstGeom prst="rect">
            <a:avLst/>
          </a:prstGeom>
          <a:noFill/>
          <a:ln w="9525">
            <a:noFill/>
            <a:miter lim="800000"/>
            <a:headEnd/>
            <a:tailEnd/>
          </a:ln>
        </p:spPr>
        <p:txBody>
          <a:bodyPr anchor="b"/>
          <a:lstStyle/>
          <a:p>
            <a:pPr algn="ctr"/>
            <a:r>
              <a:rPr lang="en-US" sz="1200" b="1" dirty="0"/>
              <a:t>ESL</a:t>
            </a:r>
            <a:r>
              <a:rPr lang="en-US" sz="1200" b="1" baseline="-25000" dirty="0"/>
              <a:t>PCB</a:t>
            </a:r>
          </a:p>
        </p:txBody>
      </p:sp>
      <p:sp>
        <p:nvSpPr>
          <p:cNvPr id="23" name="Text Box 9"/>
          <p:cNvSpPr txBox="1">
            <a:spLocks noChangeArrowheads="1"/>
          </p:cNvSpPr>
          <p:nvPr/>
        </p:nvSpPr>
        <p:spPr bwMode="auto">
          <a:xfrm>
            <a:off x="3667038" y="1143000"/>
            <a:ext cx="1021703" cy="367528"/>
          </a:xfrm>
          <a:prstGeom prst="rect">
            <a:avLst/>
          </a:prstGeom>
          <a:noFill/>
          <a:ln w="9525">
            <a:noFill/>
            <a:miter lim="800000"/>
            <a:headEnd/>
            <a:tailEnd/>
          </a:ln>
        </p:spPr>
        <p:txBody>
          <a:bodyPr anchor="b"/>
          <a:lstStyle/>
          <a:p>
            <a:pPr algn="ctr"/>
            <a:r>
              <a:rPr lang="en-US" sz="1200" b="1" dirty="0"/>
              <a:t>ESR</a:t>
            </a:r>
            <a:r>
              <a:rPr lang="en-US" sz="1200" b="1" baseline="-25000" dirty="0"/>
              <a:t>PCB</a:t>
            </a:r>
          </a:p>
        </p:txBody>
      </p:sp>
      <p:sp>
        <p:nvSpPr>
          <p:cNvPr id="24" name="Text Box 9"/>
          <p:cNvSpPr txBox="1">
            <a:spLocks noChangeArrowheads="1"/>
          </p:cNvSpPr>
          <p:nvPr/>
        </p:nvSpPr>
        <p:spPr bwMode="auto">
          <a:xfrm>
            <a:off x="3438438" y="2528072"/>
            <a:ext cx="1021703" cy="367528"/>
          </a:xfrm>
          <a:prstGeom prst="rect">
            <a:avLst/>
          </a:prstGeom>
          <a:noFill/>
          <a:ln w="9525">
            <a:noFill/>
            <a:miter lim="800000"/>
            <a:headEnd/>
            <a:tailEnd/>
          </a:ln>
        </p:spPr>
        <p:txBody>
          <a:bodyPr anchor="b"/>
          <a:lstStyle/>
          <a:p>
            <a:pPr algn="ctr"/>
            <a:r>
              <a:rPr lang="en-US" sz="1200" b="1" dirty="0"/>
              <a:t>L</a:t>
            </a:r>
            <a:r>
              <a:rPr lang="en-US" sz="1200" b="1" baseline="-25000" dirty="0"/>
              <a:t>PCB</a:t>
            </a:r>
          </a:p>
        </p:txBody>
      </p:sp>
      <p:sp>
        <p:nvSpPr>
          <p:cNvPr id="25" name="Text Box 9"/>
          <p:cNvSpPr txBox="1">
            <a:spLocks noChangeArrowheads="1"/>
          </p:cNvSpPr>
          <p:nvPr/>
        </p:nvSpPr>
        <p:spPr bwMode="auto">
          <a:xfrm>
            <a:off x="6074335" y="1066800"/>
            <a:ext cx="1021703" cy="367528"/>
          </a:xfrm>
          <a:prstGeom prst="rect">
            <a:avLst/>
          </a:prstGeom>
          <a:noFill/>
          <a:ln w="9525">
            <a:noFill/>
            <a:miter lim="800000"/>
            <a:headEnd/>
            <a:tailEnd/>
          </a:ln>
        </p:spPr>
        <p:txBody>
          <a:bodyPr anchor="b"/>
          <a:lstStyle/>
          <a:p>
            <a:pPr algn="ctr"/>
            <a:r>
              <a:rPr lang="en-US" sz="1200" b="1" dirty="0"/>
              <a:t>L</a:t>
            </a:r>
            <a:r>
              <a:rPr lang="en-US" sz="1200" b="1" baseline="-25000" dirty="0"/>
              <a:t>PKG</a:t>
            </a:r>
          </a:p>
        </p:txBody>
      </p:sp>
      <p:sp>
        <p:nvSpPr>
          <p:cNvPr id="26" name="Text Box 9"/>
          <p:cNvSpPr txBox="1">
            <a:spLocks noChangeArrowheads="1"/>
          </p:cNvSpPr>
          <p:nvPr/>
        </p:nvSpPr>
        <p:spPr bwMode="auto">
          <a:xfrm>
            <a:off x="6715038" y="1066800"/>
            <a:ext cx="1021703" cy="367528"/>
          </a:xfrm>
          <a:prstGeom prst="rect">
            <a:avLst/>
          </a:prstGeom>
          <a:noFill/>
          <a:ln w="9525">
            <a:noFill/>
            <a:miter lim="800000"/>
            <a:headEnd/>
            <a:tailEnd/>
          </a:ln>
        </p:spPr>
        <p:txBody>
          <a:bodyPr anchor="b"/>
          <a:lstStyle/>
          <a:p>
            <a:pPr algn="ctr"/>
            <a:r>
              <a:rPr lang="en-US" sz="1200" b="1" dirty="0"/>
              <a:t>R</a:t>
            </a:r>
            <a:r>
              <a:rPr lang="en-US" sz="1200" b="1" baseline="-25000" dirty="0"/>
              <a:t>PKG</a:t>
            </a:r>
          </a:p>
        </p:txBody>
      </p:sp>
      <p:sp>
        <p:nvSpPr>
          <p:cNvPr id="27" name="Text Box 9"/>
          <p:cNvSpPr txBox="1">
            <a:spLocks noChangeArrowheads="1"/>
          </p:cNvSpPr>
          <p:nvPr/>
        </p:nvSpPr>
        <p:spPr bwMode="auto">
          <a:xfrm>
            <a:off x="7477038" y="1600200"/>
            <a:ext cx="1021703" cy="367528"/>
          </a:xfrm>
          <a:prstGeom prst="rect">
            <a:avLst/>
          </a:prstGeom>
          <a:noFill/>
          <a:ln w="9525">
            <a:noFill/>
            <a:miter lim="800000"/>
            <a:headEnd/>
            <a:tailEnd/>
          </a:ln>
        </p:spPr>
        <p:txBody>
          <a:bodyPr anchor="b"/>
          <a:lstStyle/>
          <a:p>
            <a:pPr algn="ctr"/>
            <a:r>
              <a:rPr lang="en-US" sz="1200" b="1" dirty="0"/>
              <a:t>C</a:t>
            </a:r>
            <a:r>
              <a:rPr lang="en-US" sz="1200" b="1" baseline="-25000" dirty="0"/>
              <a:t>DIE</a:t>
            </a:r>
          </a:p>
        </p:txBody>
      </p:sp>
      <p:sp>
        <p:nvSpPr>
          <p:cNvPr id="28" name="Text Box 9"/>
          <p:cNvSpPr txBox="1">
            <a:spLocks noChangeArrowheads="1"/>
          </p:cNvSpPr>
          <p:nvPr/>
        </p:nvSpPr>
        <p:spPr bwMode="auto">
          <a:xfrm>
            <a:off x="8010438" y="1371600"/>
            <a:ext cx="1021703" cy="367528"/>
          </a:xfrm>
          <a:prstGeom prst="rect">
            <a:avLst/>
          </a:prstGeom>
          <a:noFill/>
          <a:ln w="9525">
            <a:noFill/>
            <a:miter lim="800000"/>
            <a:headEnd/>
            <a:tailEnd/>
          </a:ln>
        </p:spPr>
        <p:txBody>
          <a:bodyPr anchor="b"/>
          <a:lstStyle/>
          <a:p>
            <a:pPr algn="ctr"/>
            <a:r>
              <a:rPr lang="en-US" sz="1200" b="1" dirty="0"/>
              <a:t>I</a:t>
            </a:r>
            <a:r>
              <a:rPr lang="en-US" sz="1200" b="1" baseline="-25000" dirty="0"/>
              <a:t>DIE</a:t>
            </a:r>
          </a:p>
        </p:txBody>
      </p:sp>
      <p:sp>
        <p:nvSpPr>
          <p:cNvPr id="52" name="Text Box 9"/>
          <p:cNvSpPr txBox="1">
            <a:spLocks noChangeArrowheads="1"/>
          </p:cNvSpPr>
          <p:nvPr/>
        </p:nvSpPr>
        <p:spPr bwMode="auto">
          <a:xfrm>
            <a:off x="4083698" y="685800"/>
            <a:ext cx="1021703" cy="367528"/>
          </a:xfrm>
          <a:prstGeom prst="rect">
            <a:avLst/>
          </a:prstGeom>
          <a:noFill/>
          <a:ln w="9525">
            <a:noFill/>
            <a:miter lim="800000"/>
            <a:headEnd/>
            <a:tailEnd/>
          </a:ln>
        </p:spPr>
        <p:txBody>
          <a:bodyPr anchor="b"/>
          <a:lstStyle/>
          <a:p>
            <a:pPr algn="ctr"/>
            <a:r>
              <a:rPr lang="en-US" sz="1200" b="1" dirty="0"/>
              <a:t>L</a:t>
            </a:r>
            <a:r>
              <a:rPr lang="en-US" sz="1200" b="1" baseline="-25000" dirty="0"/>
              <a:t>PCB</a:t>
            </a:r>
          </a:p>
        </p:txBody>
      </p:sp>
      <p:sp>
        <p:nvSpPr>
          <p:cNvPr id="53" name="Text Box 9"/>
          <p:cNvSpPr txBox="1">
            <a:spLocks noChangeArrowheads="1"/>
          </p:cNvSpPr>
          <p:nvPr/>
        </p:nvSpPr>
        <p:spPr bwMode="auto">
          <a:xfrm>
            <a:off x="5876838" y="2070872"/>
            <a:ext cx="1021703" cy="367528"/>
          </a:xfrm>
          <a:prstGeom prst="rect">
            <a:avLst/>
          </a:prstGeom>
          <a:noFill/>
          <a:ln w="9525">
            <a:noFill/>
            <a:miter lim="800000"/>
            <a:headEnd/>
            <a:tailEnd/>
          </a:ln>
        </p:spPr>
        <p:txBody>
          <a:bodyPr anchor="b"/>
          <a:lstStyle/>
          <a:p>
            <a:pPr algn="ctr"/>
            <a:r>
              <a:rPr lang="en-US" sz="1200" b="1" dirty="0"/>
              <a:t>C</a:t>
            </a:r>
            <a:r>
              <a:rPr lang="en-US" sz="1200" b="1" baseline="-25000" dirty="0"/>
              <a:t>PKG</a:t>
            </a:r>
          </a:p>
        </p:txBody>
      </p:sp>
      <p:graphicFrame>
        <p:nvGraphicFramePr>
          <p:cNvPr id="56" name="Object 55"/>
          <p:cNvGraphicFramePr>
            <a:graphicFrameLocks noChangeAspect="1"/>
          </p:cNvGraphicFramePr>
          <p:nvPr/>
        </p:nvGraphicFramePr>
        <p:xfrm>
          <a:off x="2260601" y="3455989"/>
          <a:ext cx="7942263" cy="1017587"/>
        </p:xfrm>
        <a:graphic>
          <a:graphicData uri="http://schemas.openxmlformats.org/presentationml/2006/ole">
            <mc:AlternateContent xmlns:mc="http://schemas.openxmlformats.org/markup-compatibility/2006">
              <mc:Choice xmlns:v="urn:schemas-microsoft-com:vml" Requires="v">
                <p:oleObj name="Equation" r:id="rId5" imgW="3467100" imgH="444500" progId="Equation.3">
                  <p:embed/>
                </p:oleObj>
              </mc:Choice>
              <mc:Fallback>
                <p:oleObj name="Equation" r:id="rId5" imgW="3467100" imgH="4445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0601" y="3455989"/>
                        <a:ext cx="7942263" cy="1017587"/>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pSp>
        <p:nvGrpSpPr>
          <p:cNvPr id="69" name="Group 68"/>
          <p:cNvGrpSpPr/>
          <p:nvPr/>
        </p:nvGrpSpPr>
        <p:grpSpPr>
          <a:xfrm>
            <a:off x="2745104" y="3384611"/>
            <a:ext cx="3350897" cy="2989877"/>
            <a:chOff x="1221103" y="3384610"/>
            <a:chExt cx="3350897" cy="2989877"/>
          </a:xfrm>
        </p:grpSpPr>
        <p:sp>
          <p:nvSpPr>
            <p:cNvPr id="58" name="TextBox 57"/>
            <p:cNvSpPr txBox="1"/>
            <p:nvPr/>
          </p:nvSpPr>
          <p:spPr>
            <a:xfrm>
              <a:off x="2044540" y="4917762"/>
              <a:ext cx="1689260" cy="430887"/>
            </a:xfrm>
            <a:prstGeom prst="rect">
              <a:avLst/>
            </a:prstGeom>
            <a:noFill/>
          </p:spPr>
          <p:txBody>
            <a:bodyPr wrap="none" rtlCol="0">
              <a:spAutoFit/>
            </a:bodyPr>
            <a:lstStyle/>
            <a:p>
              <a:r>
                <a:rPr lang="en-US" sz="2200" b="1" dirty="0">
                  <a:solidFill>
                    <a:srgbClr val="FF0000"/>
                  </a:solidFill>
                </a:rPr>
                <a:t>DC IR Drop</a:t>
              </a:r>
            </a:p>
          </p:txBody>
        </p:sp>
        <p:sp>
          <p:nvSpPr>
            <p:cNvPr id="50" name="Oval 49"/>
            <p:cNvSpPr/>
            <p:nvPr/>
          </p:nvSpPr>
          <p:spPr bwMode="auto">
            <a:xfrm>
              <a:off x="2439551" y="3384610"/>
              <a:ext cx="1252974" cy="1230868"/>
            </a:xfrm>
            <a:prstGeom prst="ellipse">
              <a:avLst/>
            </a:prstGeom>
            <a:noFill/>
            <a:ln w="63500" cap="flat" cmpd="sng" algn="ctr">
              <a:solidFill>
                <a:srgbClr val="FF0000"/>
              </a:solidFill>
              <a:prstDash val="dash"/>
              <a:round/>
              <a:headEnd type="none" w="med" len="med"/>
              <a:tailEnd type="none" w="med" len="med"/>
            </a:ln>
            <a:effectLst>
              <a:outerShdw blurRad="50800" dist="38100" dir="2700000" algn="tl" rotWithShape="0">
                <a:srgbClr val="000000">
                  <a:alpha val="43000"/>
                </a:srgbClr>
              </a:outerShdw>
            </a:effectLst>
          </p:spPr>
          <p:txBody>
            <a:bodyPr vert="horz" wrap="none" lIns="91440" tIns="45720" rIns="91440" bIns="45720" numCol="1" rtlCol="0" anchor="ctr" anchorCtr="0" compatLnSpc="1">
              <a:prstTxWarp prst="textNoShape">
                <a:avLst/>
              </a:prstTxWarp>
            </a:bodyPr>
            <a:lstStyle/>
            <a:p>
              <a:pPr algn="ctr"/>
              <a:endParaRPr lang="en-US" sz="1400" b="1">
                <a:solidFill>
                  <a:srgbClr val="000000"/>
                </a:solidFill>
                <a:ea typeface="MS PGothic" pitchFamily="34" charset="-128"/>
              </a:endParaRPr>
            </a:p>
          </p:txBody>
        </p:sp>
        <p:sp>
          <p:nvSpPr>
            <p:cNvPr id="64" name="TextBox 63"/>
            <p:cNvSpPr txBox="1"/>
            <p:nvPr/>
          </p:nvSpPr>
          <p:spPr>
            <a:xfrm>
              <a:off x="1221103" y="5943600"/>
              <a:ext cx="3350897" cy="430887"/>
            </a:xfrm>
            <a:prstGeom prst="rect">
              <a:avLst/>
            </a:prstGeom>
            <a:noFill/>
          </p:spPr>
          <p:txBody>
            <a:bodyPr wrap="none" rtlCol="0">
              <a:spAutoFit/>
            </a:bodyPr>
            <a:lstStyle/>
            <a:p>
              <a:r>
                <a:rPr lang="en-US" sz="2200" b="1" dirty="0"/>
                <a:t>Additional metallization</a:t>
              </a:r>
            </a:p>
          </p:txBody>
        </p:sp>
      </p:grpSp>
      <p:grpSp>
        <p:nvGrpSpPr>
          <p:cNvPr id="70" name="Group 69"/>
          <p:cNvGrpSpPr/>
          <p:nvPr/>
        </p:nvGrpSpPr>
        <p:grpSpPr>
          <a:xfrm>
            <a:off x="5489495" y="3276601"/>
            <a:ext cx="5151050" cy="3116997"/>
            <a:chOff x="3965495" y="3276600"/>
            <a:chExt cx="5151050" cy="3116997"/>
          </a:xfrm>
        </p:grpSpPr>
        <p:sp>
          <p:nvSpPr>
            <p:cNvPr id="65" name="Oval 64"/>
            <p:cNvSpPr/>
            <p:nvPr/>
          </p:nvSpPr>
          <p:spPr bwMode="auto">
            <a:xfrm>
              <a:off x="3965495" y="3276600"/>
              <a:ext cx="4713367" cy="1354640"/>
            </a:xfrm>
            <a:prstGeom prst="ellipse">
              <a:avLst/>
            </a:prstGeom>
            <a:noFill/>
            <a:ln w="63500" cap="flat" cmpd="sng" algn="ctr">
              <a:solidFill>
                <a:srgbClr val="FF0000"/>
              </a:solidFill>
              <a:prstDash val="dash"/>
              <a:round/>
              <a:headEnd type="none" w="med" len="med"/>
              <a:tailEnd type="none" w="med" len="med"/>
            </a:ln>
            <a:effectLst>
              <a:outerShdw blurRad="50800" dist="38100" dir="2700000" algn="tl" rotWithShape="0">
                <a:srgbClr val="000000">
                  <a:alpha val="43000"/>
                </a:srgbClr>
              </a:outerShdw>
            </a:effectLst>
          </p:spPr>
          <p:txBody>
            <a:bodyPr vert="horz" wrap="none" lIns="91440" tIns="45720" rIns="91440" bIns="45720" numCol="1" rtlCol="0" anchor="ctr" anchorCtr="0" compatLnSpc="1">
              <a:prstTxWarp prst="textNoShape">
                <a:avLst/>
              </a:prstTxWarp>
            </a:bodyPr>
            <a:lstStyle/>
            <a:p>
              <a:pPr algn="ctr"/>
              <a:endParaRPr lang="en-US" sz="1400" b="1">
                <a:solidFill>
                  <a:srgbClr val="000000"/>
                </a:solidFill>
                <a:ea typeface="MS PGothic" pitchFamily="34" charset="-128"/>
              </a:endParaRPr>
            </a:p>
          </p:txBody>
        </p:sp>
        <p:sp>
          <p:nvSpPr>
            <p:cNvPr id="57" name="TextBox 56"/>
            <p:cNvSpPr txBox="1"/>
            <p:nvPr/>
          </p:nvSpPr>
          <p:spPr>
            <a:xfrm>
              <a:off x="5321140" y="4902140"/>
              <a:ext cx="2347192" cy="430887"/>
            </a:xfrm>
            <a:prstGeom prst="rect">
              <a:avLst/>
            </a:prstGeom>
            <a:noFill/>
          </p:spPr>
          <p:txBody>
            <a:bodyPr wrap="none" rtlCol="0">
              <a:spAutoFit/>
            </a:bodyPr>
            <a:lstStyle/>
            <a:p>
              <a:r>
                <a:rPr lang="en-US" sz="2200" b="1" dirty="0">
                  <a:solidFill>
                    <a:srgbClr val="FF0000"/>
                  </a:solidFill>
                </a:rPr>
                <a:t>AC </a:t>
              </a:r>
              <a:r>
                <a:rPr lang="en-US" sz="2200" b="1" dirty="0" err="1">
                  <a:solidFill>
                    <a:srgbClr val="FF0000"/>
                  </a:solidFill>
                </a:rPr>
                <a:t>Ldi/dt</a:t>
              </a:r>
              <a:r>
                <a:rPr lang="en-US" sz="2200" b="1" dirty="0">
                  <a:solidFill>
                    <a:srgbClr val="FF0000"/>
                  </a:solidFill>
                </a:rPr>
                <a:t> Droop</a:t>
              </a:r>
            </a:p>
          </p:txBody>
        </p:sp>
        <p:sp>
          <p:nvSpPr>
            <p:cNvPr id="66" name="TextBox 65"/>
            <p:cNvSpPr txBox="1"/>
            <p:nvPr/>
          </p:nvSpPr>
          <p:spPr>
            <a:xfrm>
              <a:off x="4953000" y="5562600"/>
              <a:ext cx="4163545" cy="830997"/>
            </a:xfrm>
            <a:prstGeom prst="rect">
              <a:avLst/>
            </a:prstGeom>
            <a:noFill/>
          </p:spPr>
          <p:txBody>
            <a:bodyPr wrap="none" rtlCol="0">
              <a:spAutoFit/>
            </a:bodyPr>
            <a:lstStyle/>
            <a:p>
              <a:r>
                <a:rPr lang="en-US" sz="2200" b="1" dirty="0"/>
                <a:t>On-die </a:t>
              </a:r>
              <a:r>
                <a:rPr lang="en-US" sz="2200" b="1" dirty="0" err="1"/>
                <a:t>decap</a:t>
              </a:r>
              <a:r>
                <a:rPr lang="en-US" sz="2200" b="1" dirty="0"/>
                <a:t> insertion, </a:t>
              </a:r>
              <a:r>
                <a:rPr lang="en-US" sz="2200" b="1" dirty="0" err="1"/>
                <a:t>Cdie</a:t>
              </a:r>
              <a:r>
                <a:rPr lang="en-US" sz="2400" dirty="0">
                  <a:ea typeface="Arial" pitchFamily="30" charset="0"/>
                  <a:cs typeface="Arial" pitchFamily="30" charset="0"/>
                </a:rPr>
                <a:t>↑</a:t>
              </a:r>
            </a:p>
            <a:p>
              <a:r>
                <a:rPr lang="en-US" sz="2200" b="1" dirty="0">
                  <a:ea typeface="Arial" pitchFamily="30" charset="0"/>
                  <a:cs typeface="Arial" pitchFamily="30" charset="0"/>
                </a:rPr>
                <a:t>Reduce </a:t>
              </a:r>
              <a:r>
                <a:rPr lang="en-US" sz="2200" b="1" dirty="0" err="1">
                  <a:ea typeface="Arial" pitchFamily="30" charset="0"/>
                  <a:cs typeface="Arial" pitchFamily="30" charset="0"/>
                </a:rPr>
                <a:t>Lpkg</a:t>
              </a:r>
              <a:r>
                <a:rPr lang="en-US" sz="2200" b="1" dirty="0"/>
                <a:t>  </a:t>
              </a:r>
            </a:p>
          </p:txBody>
        </p:sp>
      </p:grpSp>
      <p:sp>
        <p:nvSpPr>
          <p:cNvPr id="68" name="TextBox 67"/>
          <p:cNvSpPr txBox="1"/>
          <p:nvPr/>
        </p:nvSpPr>
        <p:spPr>
          <a:xfrm>
            <a:off x="1602104" y="5329536"/>
            <a:ext cx="1941557" cy="461665"/>
          </a:xfrm>
          <a:prstGeom prst="rect">
            <a:avLst/>
          </a:prstGeom>
          <a:noFill/>
        </p:spPr>
        <p:txBody>
          <a:bodyPr wrap="none" rtlCol="0">
            <a:spAutoFit/>
          </a:bodyPr>
          <a:lstStyle/>
          <a:p>
            <a:r>
              <a:rPr lang="en-US" sz="2400" b="1" dirty="0"/>
              <a:t>Reduced by</a:t>
            </a:r>
          </a:p>
        </p:txBody>
      </p:sp>
      <p:sp>
        <p:nvSpPr>
          <p:cNvPr id="72" name="Text Box 9"/>
          <p:cNvSpPr txBox="1">
            <a:spLocks noChangeArrowheads="1"/>
          </p:cNvSpPr>
          <p:nvPr/>
        </p:nvSpPr>
        <p:spPr bwMode="auto">
          <a:xfrm>
            <a:off x="7467601" y="1295400"/>
            <a:ext cx="1021703" cy="367528"/>
          </a:xfrm>
          <a:prstGeom prst="rect">
            <a:avLst/>
          </a:prstGeom>
          <a:noFill/>
          <a:ln w="9525">
            <a:noFill/>
            <a:miter lim="800000"/>
            <a:headEnd/>
            <a:tailEnd/>
          </a:ln>
        </p:spPr>
        <p:txBody>
          <a:bodyPr anchor="b"/>
          <a:lstStyle/>
          <a:p>
            <a:pPr algn="ctr"/>
            <a:r>
              <a:rPr lang="en-US" sz="1200" b="1" dirty="0"/>
              <a:t>R</a:t>
            </a:r>
            <a:r>
              <a:rPr lang="en-US" sz="1200" b="1" baseline="-25000" dirty="0"/>
              <a:t>DIE</a:t>
            </a:r>
          </a:p>
        </p:txBody>
      </p:sp>
    </p:spTree>
    <p:extLst>
      <p:ext uri="{BB962C8B-B14F-4D97-AF65-F5344CB8AC3E}">
        <p14:creationId xmlns:p14="http://schemas.microsoft.com/office/powerpoint/2010/main" val="3810372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C37D6-E41E-8546-4E0A-1CD2835CA074}"/>
              </a:ext>
            </a:extLst>
          </p:cNvPr>
          <p:cNvSpPr>
            <a:spLocks noGrp="1"/>
          </p:cNvSpPr>
          <p:nvPr>
            <p:ph type="title"/>
          </p:nvPr>
        </p:nvSpPr>
        <p:spPr/>
        <p:txBody>
          <a:bodyPr/>
          <a:lstStyle/>
          <a:p>
            <a:r>
              <a:rPr lang="en-US" dirty="0"/>
              <a:t>Understanding </a:t>
            </a:r>
            <a:r>
              <a:rPr lang="en-US" dirty="0" err="1"/>
              <a:t>Decap</a:t>
            </a:r>
            <a:endParaRPr lang="en-US" dirty="0"/>
          </a:p>
        </p:txBody>
      </p:sp>
      <p:sp>
        <p:nvSpPr>
          <p:cNvPr id="3" name="Content Placeholder 2">
            <a:extLst>
              <a:ext uri="{FF2B5EF4-FFF2-40B4-BE49-F238E27FC236}">
                <a16:creationId xmlns:a16="http://schemas.microsoft.com/office/drawing/2014/main" id="{D5642589-0264-2C79-A52D-45555295D32A}"/>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677AF920-C03A-52D9-F34B-358887C26C40}"/>
              </a:ext>
            </a:extLst>
          </p:cNvPr>
          <p:cNvSpPr>
            <a:spLocks noGrp="1"/>
          </p:cNvSpPr>
          <p:nvPr>
            <p:ph type="sldNum" sz="quarter" idx="10"/>
          </p:nvPr>
        </p:nvSpPr>
        <p:spPr/>
        <p:txBody>
          <a:bodyPr/>
          <a:lstStyle/>
          <a:p>
            <a:fld id="{7D4E4B3C-6D75-45C2-A79F-093804AEFBBA}" type="slidenum">
              <a:rPr lang="en-US" altLang="ja-JP" smtClean="0"/>
              <a:pPr/>
              <a:t>15</a:t>
            </a:fld>
            <a:endParaRPr lang="en-US" altLang="ja-JP" dirty="0"/>
          </a:p>
        </p:txBody>
      </p:sp>
    </p:spTree>
    <p:extLst>
      <p:ext uri="{BB962C8B-B14F-4D97-AF65-F5344CB8AC3E}">
        <p14:creationId xmlns:p14="http://schemas.microsoft.com/office/powerpoint/2010/main" val="12617195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84E46-6FE3-45C5-3A94-D548C9A389F6}"/>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1BE56D1D-96E0-3D95-4D5B-4A1715361F08}"/>
              </a:ext>
            </a:extLst>
          </p:cNvPr>
          <p:cNvSpPr>
            <a:spLocks noGrp="1"/>
          </p:cNvSpPr>
          <p:nvPr>
            <p:ph type="title"/>
          </p:nvPr>
        </p:nvSpPr>
        <p:spPr/>
        <p:txBody>
          <a:bodyPr/>
          <a:lstStyle/>
          <a:p>
            <a:r>
              <a:rPr lang="en-US" dirty="0"/>
              <a:t>Power Delivery Network</a:t>
            </a:r>
          </a:p>
        </p:txBody>
      </p:sp>
      <p:graphicFrame>
        <p:nvGraphicFramePr>
          <p:cNvPr id="11" name="Object 9">
            <a:extLst>
              <a:ext uri="{FF2B5EF4-FFF2-40B4-BE49-F238E27FC236}">
                <a16:creationId xmlns:a16="http://schemas.microsoft.com/office/drawing/2014/main" id="{E283FDC4-1B8F-5A42-E9B2-DEDFA9E3E6EE}"/>
              </a:ext>
            </a:extLst>
          </p:cNvPr>
          <p:cNvGraphicFramePr>
            <a:graphicFrameLocks noChangeAspect="1"/>
          </p:cNvGraphicFramePr>
          <p:nvPr/>
        </p:nvGraphicFramePr>
        <p:xfrm>
          <a:off x="3065375" y="1090614"/>
          <a:ext cx="5892800" cy="1557337"/>
        </p:xfrm>
        <a:graphic>
          <a:graphicData uri="http://schemas.openxmlformats.org/presentationml/2006/ole">
            <mc:AlternateContent xmlns:mc="http://schemas.openxmlformats.org/markup-compatibility/2006">
              <mc:Choice xmlns:v="urn:schemas-microsoft-com:vml" Requires="v">
                <p:oleObj name="Visio" r:id="rId3" imgW="4622800" imgH="1231900" progId="">
                  <p:embed/>
                </p:oleObj>
              </mc:Choice>
              <mc:Fallback>
                <p:oleObj name="Visio" r:id="rId3" imgW="4622800" imgH="1231900" progId="">
                  <p:embed/>
                  <p:pic>
                    <p:nvPicPr>
                      <p:cNvPr id="11"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5375" y="1090614"/>
                        <a:ext cx="5892800" cy="15573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12" name="Rectangle 8">
            <a:extLst>
              <a:ext uri="{FF2B5EF4-FFF2-40B4-BE49-F238E27FC236}">
                <a16:creationId xmlns:a16="http://schemas.microsoft.com/office/drawing/2014/main" id="{A26E0A55-25B0-3786-EE6E-55B4964B2291}"/>
              </a:ext>
            </a:extLst>
          </p:cNvPr>
          <p:cNvSpPr>
            <a:spLocks noChangeArrowheads="1"/>
          </p:cNvSpPr>
          <p:nvPr/>
        </p:nvSpPr>
        <p:spPr bwMode="auto">
          <a:xfrm>
            <a:off x="5951509" y="1066800"/>
            <a:ext cx="1530291" cy="1568192"/>
          </a:xfrm>
          <a:prstGeom prst="rect">
            <a:avLst/>
          </a:prstGeom>
          <a:noFill/>
          <a:ln w="38100">
            <a:solidFill>
              <a:schemeClr val="accent2"/>
            </a:solidFill>
            <a:miter lim="800000"/>
            <a:headEnd/>
            <a:tailEnd/>
          </a:ln>
        </p:spPr>
        <p:txBody>
          <a:bodyPr wrap="none" anchor="ctr"/>
          <a:lstStyle/>
          <a:p>
            <a:endParaRPr lang="en-US"/>
          </a:p>
        </p:txBody>
      </p:sp>
      <p:sp>
        <p:nvSpPr>
          <p:cNvPr id="13" name="Text Box 9">
            <a:extLst>
              <a:ext uri="{FF2B5EF4-FFF2-40B4-BE49-F238E27FC236}">
                <a16:creationId xmlns:a16="http://schemas.microsoft.com/office/drawing/2014/main" id="{9222BD5D-8BCB-3A7C-4683-EC7036A16178}"/>
              </a:ext>
            </a:extLst>
          </p:cNvPr>
          <p:cNvSpPr txBox="1">
            <a:spLocks noChangeArrowheads="1"/>
          </p:cNvSpPr>
          <p:nvPr/>
        </p:nvSpPr>
        <p:spPr bwMode="auto">
          <a:xfrm>
            <a:off x="6101787" y="2688883"/>
            <a:ext cx="1015289" cy="224181"/>
          </a:xfrm>
          <a:prstGeom prst="rect">
            <a:avLst/>
          </a:prstGeom>
          <a:solidFill>
            <a:schemeClr val="bg1"/>
          </a:solidFill>
          <a:ln w="9525">
            <a:noFill/>
            <a:miter lim="800000"/>
            <a:headEnd/>
            <a:tailEnd/>
          </a:ln>
        </p:spPr>
        <p:txBody>
          <a:bodyPr anchor="b"/>
          <a:lstStyle/>
          <a:p>
            <a:r>
              <a:rPr lang="en-US" sz="1400" dirty="0">
                <a:solidFill>
                  <a:schemeClr val="accent2"/>
                </a:solidFill>
              </a:rPr>
              <a:t>Package</a:t>
            </a:r>
          </a:p>
        </p:txBody>
      </p:sp>
      <p:sp>
        <p:nvSpPr>
          <p:cNvPr id="14" name="Text Box 9">
            <a:extLst>
              <a:ext uri="{FF2B5EF4-FFF2-40B4-BE49-F238E27FC236}">
                <a16:creationId xmlns:a16="http://schemas.microsoft.com/office/drawing/2014/main" id="{D16073FB-CB7D-F003-6D7B-28C26B56BC18}"/>
              </a:ext>
            </a:extLst>
          </p:cNvPr>
          <p:cNvSpPr txBox="1">
            <a:spLocks noChangeArrowheads="1"/>
          </p:cNvSpPr>
          <p:nvPr/>
        </p:nvSpPr>
        <p:spPr bwMode="auto">
          <a:xfrm>
            <a:off x="3565380" y="2057400"/>
            <a:ext cx="1021703" cy="367528"/>
          </a:xfrm>
          <a:prstGeom prst="rect">
            <a:avLst/>
          </a:prstGeom>
          <a:noFill/>
          <a:ln w="9525">
            <a:noFill/>
            <a:miter lim="800000"/>
            <a:headEnd/>
            <a:tailEnd/>
          </a:ln>
        </p:spPr>
        <p:txBody>
          <a:bodyPr anchor="b"/>
          <a:lstStyle/>
          <a:p>
            <a:pPr algn="ctr"/>
            <a:r>
              <a:rPr lang="en-US" sz="1200" b="1" dirty="0"/>
              <a:t>C</a:t>
            </a:r>
            <a:r>
              <a:rPr lang="en-US" sz="1200" b="1" baseline="-25000" dirty="0"/>
              <a:t>PCB</a:t>
            </a:r>
          </a:p>
        </p:txBody>
      </p:sp>
      <p:sp>
        <p:nvSpPr>
          <p:cNvPr id="15" name="Text Box 9">
            <a:extLst>
              <a:ext uri="{FF2B5EF4-FFF2-40B4-BE49-F238E27FC236}">
                <a16:creationId xmlns:a16="http://schemas.microsoft.com/office/drawing/2014/main" id="{F653198A-EA1D-7B15-20BD-3C25C3AF22AC}"/>
              </a:ext>
            </a:extLst>
          </p:cNvPr>
          <p:cNvSpPr txBox="1">
            <a:spLocks noChangeArrowheads="1"/>
          </p:cNvSpPr>
          <p:nvPr/>
        </p:nvSpPr>
        <p:spPr bwMode="auto">
          <a:xfrm>
            <a:off x="6724888" y="2458234"/>
            <a:ext cx="1021703" cy="91613"/>
          </a:xfrm>
          <a:prstGeom prst="rect">
            <a:avLst/>
          </a:prstGeom>
          <a:noFill/>
          <a:ln w="9525">
            <a:noFill/>
            <a:miter lim="800000"/>
            <a:headEnd/>
            <a:tailEnd/>
          </a:ln>
        </p:spPr>
        <p:txBody>
          <a:bodyPr anchor="b"/>
          <a:lstStyle/>
          <a:p>
            <a:pPr algn="ctr"/>
            <a:r>
              <a:rPr lang="en-US" sz="1200" dirty="0"/>
              <a:t>Wires</a:t>
            </a:r>
          </a:p>
        </p:txBody>
      </p:sp>
      <p:grpSp>
        <p:nvGrpSpPr>
          <p:cNvPr id="5" name="Group 12">
            <a:extLst>
              <a:ext uri="{FF2B5EF4-FFF2-40B4-BE49-F238E27FC236}">
                <a16:creationId xmlns:a16="http://schemas.microsoft.com/office/drawing/2014/main" id="{C89DF4D9-8C62-919C-6775-852176147C25}"/>
              </a:ext>
            </a:extLst>
          </p:cNvPr>
          <p:cNvGrpSpPr>
            <a:grpSpLocks/>
          </p:cNvGrpSpPr>
          <p:nvPr/>
        </p:nvGrpSpPr>
        <p:grpSpPr bwMode="auto">
          <a:xfrm>
            <a:off x="2376401" y="1066801"/>
            <a:ext cx="3490913" cy="1566863"/>
            <a:chOff x="135" y="1468"/>
            <a:chExt cx="2674" cy="1460"/>
          </a:xfrm>
        </p:grpSpPr>
        <p:sp>
          <p:nvSpPr>
            <p:cNvPr id="17" name="Rectangle 6">
              <a:extLst>
                <a:ext uri="{FF2B5EF4-FFF2-40B4-BE49-F238E27FC236}">
                  <a16:creationId xmlns:a16="http://schemas.microsoft.com/office/drawing/2014/main" id="{7CE4FEB0-A61C-8279-DA56-6B69D0C950D4}"/>
                </a:ext>
              </a:extLst>
            </p:cNvPr>
            <p:cNvSpPr>
              <a:spLocks noChangeArrowheads="1"/>
            </p:cNvSpPr>
            <p:nvPr/>
          </p:nvSpPr>
          <p:spPr bwMode="auto">
            <a:xfrm>
              <a:off x="624" y="1468"/>
              <a:ext cx="2185" cy="1460"/>
            </a:xfrm>
            <a:prstGeom prst="rect">
              <a:avLst/>
            </a:prstGeom>
            <a:noFill/>
            <a:ln w="38100">
              <a:solidFill>
                <a:srgbClr val="E40000"/>
              </a:solidFill>
              <a:miter lim="800000"/>
              <a:headEnd/>
              <a:tailEnd/>
            </a:ln>
          </p:spPr>
          <p:txBody>
            <a:bodyPr wrap="none" anchor="ctr"/>
            <a:lstStyle/>
            <a:p>
              <a:endParaRPr lang="en-US"/>
            </a:p>
          </p:txBody>
        </p:sp>
        <p:sp>
          <p:nvSpPr>
            <p:cNvPr id="18" name="Text Box 7">
              <a:extLst>
                <a:ext uri="{FF2B5EF4-FFF2-40B4-BE49-F238E27FC236}">
                  <a16:creationId xmlns:a16="http://schemas.microsoft.com/office/drawing/2014/main" id="{90A9FE6C-86B6-5DA1-23BA-1E9C676423B4}"/>
                </a:ext>
              </a:extLst>
            </p:cNvPr>
            <p:cNvSpPr txBox="1">
              <a:spLocks noChangeArrowheads="1"/>
            </p:cNvSpPr>
            <p:nvPr/>
          </p:nvSpPr>
          <p:spPr bwMode="auto">
            <a:xfrm>
              <a:off x="135" y="2028"/>
              <a:ext cx="515" cy="344"/>
            </a:xfrm>
            <a:prstGeom prst="rect">
              <a:avLst/>
            </a:prstGeom>
            <a:noFill/>
            <a:ln w="9525">
              <a:noFill/>
              <a:miter lim="800000"/>
              <a:headEnd/>
              <a:tailEnd/>
            </a:ln>
          </p:spPr>
          <p:txBody>
            <a:bodyPr wrap="none">
              <a:spAutoFit/>
            </a:bodyPr>
            <a:lstStyle/>
            <a:p>
              <a:r>
                <a:rPr lang="en-US">
                  <a:solidFill>
                    <a:srgbClr val="E40000"/>
                  </a:solidFill>
                </a:rPr>
                <a:t>PCB</a:t>
              </a:r>
            </a:p>
          </p:txBody>
        </p:sp>
      </p:grpSp>
      <p:sp>
        <p:nvSpPr>
          <p:cNvPr id="19" name="Rectangle 10">
            <a:extLst>
              <a:ext uri="{FF2B5EF4-FFF2-40B4-BE49-F238E27FC236}">
                <a16:creationId xmlns:a16="http://schemas.microsoft.com/office/drawing/2014/main" id="{AC555C79-E6F6-85D4-4AA3-D8373EE48830}"/>
              </a:ext>
            </a:extLst>
          </p:cNvPr>
          <p:cNvSpPr>
            <a:spLocks noChangeArrowheads="1"/>
          </p:cNvSpPr>
          <p:nvPr/>
        </p:nvSpPr>
        <p:spPr bwMode="auto">
          <a:xfrm>
            <a:off x="7481800" y="1066800"/>
            <a:ext cx="1574666" cy="1581150"/>
          </a:xfrm>
          <a:prstGeom prst="rect">
            <a:avLst/>
          </a:prstGeom>
          <a:noFill/>
          <a:ln w="38100">
            <a:solidFill>
              <a:srgbClr val="00B050"/>
            </a:solidFill>
            <a:miter lim="800000"/>
            <a:headEnd/>
            <a:tailEnd/>
          </a:ln>
        </p:spPr>
        <p:txBody>
          <a:bodyPr wrap="none" anchor="ctr"/>
          <a:lstStyle/>
          <a:p>
            <a:endParaRPr lang="en-US"/>
          </a:p>
        </p:txBody>
      </p:sp>
      <p:sp>
        <p:nvSpPr>
          <p:cNvPr id="20" name="Text Box 11">
            <a:extLst>
              <a:ext uri="{FF2B5EF4-FFF2-40B4-BE49-F238E27FC236}">
                <a16:creationId xmlns:a16="http://schemas.microsoft.com/office/drawing/2014/main" id="{1DDEE6FC-CB91-23CC-BB04-B97B290D5925}"/>
              </a:ext>
            </a:extLst>
          </p:cNvPr>
          <p:cNvSpPr txBox="1">
            <a:spLocks noChangeArrowheads="1"/>
          </p:cNvSpPr>
          <p:nvPr/>
        </p:nvSpPr>
        <p:spPr bwMode="auto">
          <a:xfrm>
            <a:off x="9056467" y="1667789"/>
            <a:ext cx="659155" cy="369332"/>
          </a:xfrm>
          <a:prstGeom prst="rect">
            <a:avLst/>
          </a:prstGeom>
          <a:noFill/>
          <a:ln w="9525">
            <a:noFill/>
            <a:miter lim="800000"/>
            <a:headEnd/>
            <a:tailEnd/>
          </a:ln>
        </p:spPr>
        <p:txBody>
          <a:bodyPr wrap="none">
            <a:spAutoFit/>
          </a:bodyPr>
          <a:lstStyle/>
          <a:p>
            <a:r>
              <a:rPr lang="en-US" dirty="0">
                <a:solidFill>
                  <a:srgbClr val="00B050"/>
                </a:solidFill>
              </a:rPr>
              <a:t>Chip</a:t>
            </a:r>
          </a:p>
        </p:txBody>
      </p:sp>
      <p:sp>
        <p:nvSpPr>
          <p:cNvPr id="21" name="Text Box 9">
            <a:extLst>
              <a:ext uri="{FF2B5EF4-FFF2-40B4-BE49-F238E27FC236}">
                <a16:creationId xmlns:a16="http://schemas.microsoft.com/office/drawing/2014/main" id="{6B9727D8-CEA0-29BF-2325-62A62AE54D51}"/>
              </a:ext>
            </a:extLst>
          </p:cNvPr>
          <p:cNvSpPr txBox="1">
            <a:spLocks noChangeArrowheads="1"/>
          </p:cNvSpPr>
          <p:nvPr/>
        </p:nvSpPr>
        <p:spPr bwMode="auto">
          <a:xfrm>
            <a:off x="2514601" y="685800"/>
            <a:ext cx="1021703" cy="367528"/>
          </a:xfrm>
          <a:prstGeom prst="rect">
            <a:avLst/>
          </a:prstGeom>
          <a:noFill/>
          <a:ln w="9525">
            <a:noFill/>
            <a:miter lim="800000"/>
            <a:headEnd/>
            <a:tailEnd/>
          </a:ln>
        </p:spPr>
        <p:txBody>
          <a:bodyPr anchor="b"/>
          <a:lstStyle/>
          <a:p>
            <a:pPr algn="ctr"/>
            <a:r>
              <a:rPr lang="en-US" sz="1200" b="1" dirty="0"/>
              <a:t>L</a:t>
            </a:r>
            <a:r>
              <a:rPr lang="en-US" sz="1200" b="1" baseline="-25000" dirty="0"/>
              <a:t>VRM</a:t>
            </a:r>
          </a:p>
        </p:txBody>
      </p:sp>
      <p:sp>
        <p:nvSpPr>
          <p:cNvPr id="22" name="Text Box 9">
            <a:extLst>
              <a:ext uri="{FF2B5EF4-FFF2-40B4-BE49-F238E27FC236}">
                <a16:creationId xmlns:a16="http://schemas.microsoft.com/office/drawing/2014/main" id="{BA35CAD3-B272-E983-506C-3216D1119FE3}"/>
              </a:ext>
            </a:extLst>
          </p:cNvPr>
          <p:cNvSpPr txBox="1">
            <a:spLocks noChangeArrowheads="1"/>
          </p:cNvSpPr>
          <p:nvPr/>
        </p:nvSpPr>
        <p:spPr bwMode="auto">
          <a:xfrm>
            <a:off x="3661393" y="1600200"/>
            <a:ext cx="1021703" cy="367528"/>
          </a:xfrm>
          <a:prstGeom prst="rect">
            <a:avLst/>
          </a:prstGeom>
          <a:noFill/>
          <a:ln w="9525">
            <a:noFill/>
            <a:miter lim="800000"/>
            <a:headEnd/>
            <a:tailEnd/>
          </a:ln>
        </p:spPr>
        <p:txBody>
          <a:bodyPr anchor="b"/>
          <a:lstStyle/>
          <a:p>
            <a:pPr algn="ctr"/>
            <a:r>
              <a:rPr lang="en-US" sz="1200" b="1" dirty="0"/>
              <a:t>ESL</a:t>
            </a:r>
            <a:r>
              <a:rPr lang="en-US" sz="1200" b="1" baseline="-25000" dirty="0"/>
              <a:t>PCB</a:t>
            </a:r>
          </a:p>
        </p:txBody>
      </p:sp>
      <p:sp>
        <p:nvSpPr>
          <p:cNvPr id="23" name="Text Box 9">
            <a:extLst>
              <a:ext uri="{FF2B5EF4-FFF2-40B4-BE49-F238E27FC236}">
                <a16:creationId xmlns:a16="http://schemas.microsoft.com/office/drawing/2014/main" id="{8CB25CE4-76AD-FD8D-91F1-E01FB4E8094F}"/>
              </a:ext>
            </a:extLst>
          </p:cNvPr>
          <p:cNvSpPr txBox="1">
            <a:spLocks noChangeArrowheads="1"/>
          </p:cNvSpPr>
          <p:nvPr/>
        </p:nvSpPr>
        <p:spPr bwMode="auto">
          <a:xfrm>
            <a:off x="3667038" y="1143000"/>
            <a:ext cx="1021703" cy="367528"/>
          </a:xfrm>
          <a:prstGeom prst="rect">
            <a:avLst/>
          </a:prstGeom>
          <a:noFill/>
          <a:ln w="9525">
            <a:noFill/>
            <a:miter lim="800000"/>
            <a:headEnd/>
            <a:tailEnd/>
          </a:ln>
        </p:spPr>
        <p:txBody>
          <a:bodyPr anchor="b"/>
          <a:lstStyle/>
          <a:p>
            <a:pPr algn="ctr"/>
            <a:r>
              <a:rPr lang="en-US" sz="1200" b="1" dirty="0"/>
              <a:t>ESR</a:t>
            </a:r>
            <a:r>
              <a:rPr lang="en-US" sz="1200" b="1" baseline="-25000" dirty="0"/>
              <a:t>PCB</a:t>
            </a:r>
          </a:p>
        </p:txBody>
      </p:sp>
      <p:sp>
        <p:nvSpPr>
          <p:cNvPr id="24" name="Text Box 9">
            <a:extLst>
              <a:ext uri="{FF2B5EF4-FFF2-40B4-BE49-F238E27FC236}">
                <a16:creationId xmlns:a16="http://schemas.microsoft.com/office/drawing/2014/main" id="{F2685BC3-31B5-D1EF-C726-2BD6C95F19F2}"/>
              </a:ext>
            </a:extLst>
          </p:cNvPr>
          <p:cNvSpPr txBox="1">
            <a:spLocks noChangeArrowheads="1"/>
          </p:cNvSpPr>
          <p:nvPr/>
        </p:nvSpPr>
        <p:spPr bwMode="auto">
          <a:xfrm>
            <a:off x="3438438" y="2528072"/>
            <a:ext cx="1021703" cy="367528"/>
          </a:xfrm>
          <a:prstGeom prst="rect">
            <a:avLst/>
          </a:prstGeom>
          <a:noFill/>
          <a:ln w="9525">
            <a:noFill/>
            <a:miter lim="800000"/>
            <a:headEnd/>
            <a:tailEnd/>
          </a:ln>
        </p:spPr>
        <p:txBody>
          <a:bodyPr anchor="b"/>
          <a:lstStyle/>
          <a:p>
            <a:pPr algn="ctr"/>
            <a:r>
              <a:rPr lang="en-US" sz="1200" b="1" dirty="0"/>
              <a:t>L</a:t>
            </a:r>
            <a:r>
              <a:rPr lang="en-US" sz="1200" b="1" baseline="-25000" dirty="0"/>
              <a:t>PCB</a:t>
            </a:r>
          </a:p>
        </p:txBody>
      </p:sp>
      <p:sp>
        <p:nvSpPr>
          <p:cNvPr id="25" name="Text Box 9">
            <a:extLst>
              <a:ext uri="{FF2B5EF4-FFF2-40B4-BE49-F238E27FC236}">
                <a16:creationId xmlns:a16="http://schemas.microsoft.com/office/drawing/2014/main" id="{F83C3835-B1A9-1510-DE12-8B9404FB4649}"/>
              </a:ext>
            </a:extLst>
          </p:cNvPr>
          <p:cNvSpPr txBox="1">
            <a:spLocks noChangeArrowheads="1"/>
          </p:cNvSpPr>
          <p:nvPr/>
        </p:nvSpPr>
        <p:spPr bwMode="auto">
          <a:xfrm>
            <a:off x="6074335" y="1066800"/>
            <a:ext cx="1021703" cy="367528"/>
          </a:xfrm>
          <a:prstGeom prst="rect">
            <a:avLst/>
          </a:prstGeom>
          <a:noFill/>
          <a:ln w="9525">
            <a:noFill/>
            <a:miter lim="800000"/>
            <a:headEnd/>
            <a:tailEnd/>
          </a:ln>
        </p:spPr>
        <p:txBody>
          <a:bodyPr anchor="b"/>
          <a:lstStyle/>
          <a:p>
            <a:pPr algn="ctr"/>
            <a:r>
              <a:rPr lang="en-US" sz="1200" b="1" dirty="0"/>
              <a:t>L</a:t>
            </a:r>
            <a:r>
              <a:rPr lang="en-US" sz="1200" b="1" baseline="-25000" dirty="0"/>
              <a:t>PKG</a:t>
            </a:r>
          </a:p>
        </p:txBody>
      </p:sp>
      <p:sp>
        <p:nvSpPr>
          <p:cNvPr id="26" name="Text Box 9">
            <a:extLst>
              <a:ext uri="{FF2B5EF4-FFF2-40B4-BE49-F238E27FC236}">
                <a16:creationId xmlns:a16="http://schemas.microsoft.com/office/drawing/2014/main" id="{F3D162C8-3EA3-EC49-CA17-5AC260C9DA9D}"/>
              </a:ext>
            </a:extLst>
          </p:cNvPr>
          <p:cNvSpPr txBox="1">
            <a:spLocks noChangeArrowheads="1"/>
          </p:cNvSpPr>
          <p:nvPr/>
        </p:nvSpPr>
        <p:spPr bwMode="auto">
          <a:xfrm>
            <a:off x="6715038" y="1066800"/>
            <a:ext cx="1021703" cy="367528"/>
          </a:xfrm>
          <a:prstGeom prst="rect">
            <a:avLst/>
          </a:prstGeom>
          <a:noFill/>
          <a:ln w="9525">
            <a:noFill/>
            <a:miter lim="800000"/>
            <a:headEnd/>
            <a:tailEnd/>
          </a:ln>
        </p:spPr>
        <p:txBody>
          <a:bodyPr anchor="b"/>
          <a:lstStyle/>
          <a:p>
            <a:pPr algn="ctr"/>
            <a:r>
              <a:rPr lang="en-US" sz="1200" b="1" dirty="0"/>
              <a:t>R</a:t>
            </a:r>
            <a:r>
              <a:rPr lang="en-US" sz="1200" b="1" baseline="-25000" dirty="0"/>
              <a:t>PKG</a:t>
            </a:r>
          </a:p>
        </p:txBody>
      </p:sp>
      <p:sp>
        <p:nvSpPr>
          <p:cNvPr id="27" name="Text Box 9">
            <a:extLst>
              <a:ext uri="{FF2B5EF4-FFF2-40B4-BE49-F238E27FC236}">
                <a16:creationId xmlns:a16="http://schemas.microsoft.com/office/drawing/2014/main" id="{334DED23-10D9-C937-9A94-A43BF911FC5B}"/>
              </a:ext>
            </a:extLst>
          </p:cNvPr>
          <p:cNvSpPr txBox="1">
            <a:spLocks noChangeArrowheads="1"/>
          </p:cNvSpPr>
          <p:nvPr/>
        </p:nvSpPr>
        <p:spPr bwMode="auto">
          <a:xfrm>
            <a:off x="7477038" y="1600200"/>
            <a:ext cx="1021703" cy="367528"/>
          </a:xfrm>
          <a:prstGeom prst="rect">
            <a:avLst/>
          </a:prstGeom>
          <a:noFill/>
          <a:ln w="9525">
            <a:noFill/>
            <a:miter lim="800000"/>
            <a:headEnd/>
            <a:tailEnd/>
          </a:ln>
        </p:spPr>
        <p:txBody>
          <a:bodyPr anchor="b"/>
          <a:lstStyle/>
          <a:p>
            <a:pPr algn="ctr"/>
            <a:r>
              <a:rPr lang="en-US" sz="1200" b="1" dirty="0"/>
              <a:t>C</a:t>
            </a:r>
            <a:r>
              <a:rPr lang="en-US" sz="1200" b="1" baseline="-25000" dirty="0"/>
              <a:t>DIE</a:t>
            </a:r>
          </a:p>
        </p:txBody>
      </p:sp>
      <p:sp>
        <p:nvSpPr>
          <p:cNvPr id="28" name="Text Box 9">
            <a:extLst>
              <a:ext uri="{FF2B5EF4-FFF2-40B4-BE49-F238E27FC236}">
                <a16:creationId xmlns:a16="http://schemas.microsoft.com/office/drawing/2014/main" id="{B505327B-B057-F591-40F7-68F7DA2E8A60}"/>
              </a:ext>
            </a:extLst>
          </p:cNvPr>
          <p:cNvSpPr txBox="1">
            <a:spLocks noChangeArrowheads="1"/>
          </p:cNvSpPr>
          <p:nvPr/>
        </p:nvSpPr>
        <p:spPr bwMode="auto">
          <a:xfrm>
            <a:off x="8010438" y="1371600"/>
            <a:ext cx="1021703" cy="367528"/>
          </a:xfrm>
          <a:prstGeom prst="rect">
            <a:avLst/>
          </a:prstGeom>
          <a:noFill/>
          <a:ln w="9525">
            <a:noFill/>
            <a:miter lim="800000"/>
            <a:headEnd/>
            <a:tailEnd/>
          </a:ln>
        </p:spPr>
        <p:txBody>
          <a:bodyPr anchor="b"/>
          <a:lstStyle/>
          <a:p>
            <a:pPr algn="ctr"/>
            <a:r>
              <a:rPr lang="en-US" sz="1200" b="1" dirty="0"/>
              <a:t>I</a:t>
            </a:r>
            <a:r>
              <a:rPr lang="en-US" sz="1200" b="1" baseline="-25000" dirty="0"/>
              <a:t>DIE</a:t>
            </a:r>
          </a:p>
        </p:txBody>
      </p:sp>
      <p:sp>
        <p:nvSpPr>
          <p:cNvPr id="52" name="Text Box 9">
            <a:extLst>
              <a:ext uri="{FF2B5EF4-FFF2-40B4-BE49-F238E27FC236}">
                <a16:creationId xmlns:a16="http://schemas.microsoft.com/office/drawing/2014/main" id="{8115DCB7-A496-2FDD-3976-67025A66AEC7}"/>
              </a:ext>
            </a:extLst>
          </p:cNvPr>
          <p:cNvSpPr txBox="1">
            <a:spLocks noChangeArrowheads="1"/>
          </p:cNvSpPr>
          <p:nvPr/>
        </p:nvSpPr>
        <p:spPr bwMode="auto">
          <a:xfrm>
            <a:off x="4083698" y="685800"/>
            <a:ext cx="1021703" cy="367528"/>
          </a:xfrm>
          <a:prstGeom prst="rect">
            <a:avLst/>
          </a:prstGeom>
          <a:noFill/>
          <a:ln w="9525">
            <a:noFill/>
            <a:miter lim="800000"/>
            <a:headEnd/>
            <a:tailEnd/>
          </a:ln>
        </p:spPr>
        <p:txBody>
          <a:bodyPr anchor="b"/>
          <a:lstStyle/>
          <a:p>
            <a:pPr algn="ctr"/>
            <a:r>
              <a:rPr lang="en-US" sz="1200" b="1" dirty="0"/>
              <a:t>L</a:t>
            </a:r>
            <a:r>
              <a:rPr lang="en-US" sz="1200" b="1" baseline="-25000" dirty="0"/>
              <a:t>PCB</a:t>
            </a:r>
          </a:p>
        </p:txBody>
      </p:sp>
      <p:sp>
        <p:nvSpPr>
          <p:cNvPr id="53" name="Text Box 9">
            <a:extLst>
              <a:ext uri="{FF2B5EF4-FFF2-40B4-BE49-F238E27FC236}">
                <a16:creationId xmlns:a16="http://schemas.microsoft.com/office/drawing/2014/main" id="{D0DB03B0-1D44-B965-96CB-6E3C9D7C0932}"/>
              </a:ext>
            </a:extLst>
          </p:cNvPr>
          <p:cNvSpPr txBox="1">
            <a:spLocks noChangeArrowheads="1"/>
          </p:cNvSpPr>
          <p:nvPr/>
        </p:nvSpPr>
        <p:spPr bwMode="auto">
          <a:xfrm>
            <a:off x="5876838" y="2070872"/>
            <a:ext cx="1021703" cy="367528"/>
          </a:xfrm>
          <a:prstGeom prst="rect">
            <a:avLst/>
          </a:prstGeom>
          <a:noFill/>
          <a:ln w="9525">
            <a:noFill/>
            <a:miter lim="800000"/>
            <a:headEnd/>
            <a:tailEnd/>
          </a:ln>
        </p:spPr>
        <p:txBody>
          <a:bodyPr anchor="b"/>
          <a:lstStyle/>
          <a:p>
            <a:pPr algn="ctr"/>
            <a:r>
              <a:rPr lang="en-US" sz="1200" b="1" dirty="0"/>
              <a:t>C</a:t>
            </a:r>
            <a:r>
              <a:rPr lang="en-US" sz="1200" b="1" baseline="-25000" dirty="0"/>
              <a:t>PKG</a:t>
            </a:r>
          </a:p>
        </p:txBody>
      </p:sp>
      <p:graphicFrame>
        <p:nvGraphicFramePr>
          <p:cNvPr id="56" name="Object 55">
            <a:extLst>
              <a:ext uri="{FF2B5EF4-FFF2-40B4-BE49-F238E27FC236}">
                <a16:creationId xmlns:a16="http://schemas.microsoft.com/office/drawing/2014/main" id="{2A8C7AAE-0682-4FED-512D-228ED22951E6}"/>
              </a:ext>
            </a:extLst>
          </p:cNvPr>
          <p:cNvGraphicFramePr>
            <a:graphicFrameLocks noChangeAspect="1"/>
          </p:cNvGraphicFramePr>
          <p:nvPr/>
        </p:nvGraphicFramePr>
        <p:xfrm>
          <a:off x="2260601" y="3455989"/>
          <a:ext cx="7942263" cy="1017587"/>
        </p:xfrm>
        <a:graphic>
          <a:graphicData uri="http://schemas.openxmlformats.org/presentationml/2006/ole">
            <mc:AlternateContent xmlns:mc="http://schemas.openxmlformats.org/markup-compatibility/2006">
              <mc:Choice xmlns:v="urn:schemas-microsoft-com:vml" Requires="v">
                <p:oleObj name="Equation" r:id="rId5" imgW="3467100" imgH="444500" progId="Equation.3">
                  <p:embed/>
                </p:oleObj>
              </mc:Choice>
              <mc:Fallback>
                <p:oleObj name="Equation" r:id="rId5" imgW="3467100" imgH="444500" progId="Equation.3">
                  <p:embed/>
                  <p:pic>
                    <p:nvPicPr>
                      <p:cNvPr id="56" name="Object 5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0601" y="3455989"/>
                        <a:ext cx="7942263" cy="1017587"/>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pSp>
        <p:nvGrpSpPr>
          <p:cNvPr id="69" name="Group 68">
            <a:extLst>
              <a:ext uri="{FF2B5EF4-FFF2-40B4-BE49-F238E27FC236}">
                <a16:creationId xmlns:a16="http://schemas.microsoft.com/office/drawing/2014/main" id="{1D76B47D-EB76-2882-2986-00BC4B738625}"/>
              </a:ext>
            </a:extLst>
          </p:cNvPr>
          <p:cNvGrpSpPr/>
          <p:nvPr/>
        </p:nvGrpSpPr>
        <p:grpSpPr>
          <a:xfrm>
            <a:off x="2745104" y="3384611"/>
            <a:ext cx="3350897" cy="2989877"/>
            <a:chOff x="1221103" y="3384610"/>
            <a:chExt cx="3350897" cy="2989877"/>
          </a:xfrm>
        </p:grpSpPr>
        <p:sp>
          <p:nvSpPr>
            <p:cNvPr id="58" name="TextBox 57">
              <a:extLst>
                <a:ext uri="{FF2B5EF4-FFF2-40B4-BE49-F238E27FC236}">
                  <a16:creationId xmlns:a16="http://schemas.microsoft.com/office/drawing/2014/main" id="{0C97FE46-2802-2B8B-FD01-4FB99A61FC68}"/>
                </a:ext>
              </a:extLst>
            </p:cNvPr>
            <p:cNvSpPr txBox="1"/>
            <p:nvPr/>
          </p:nvSpPr>
          <p:spPr>
            <a:xfrm>
              <a:off x="2044540" y="4917762"/>
              <a:ext cx="1689260" cy="430887"/>
            </a:xfrm>
            <a:prstGeom prst="rect">
              <a:avLst/>
            </a:prstGeom>
            <a:noFill/>
          </p:spPr>
          <p:txBody>
            <a:bodyPr wrap="none" rtlCol="0">
              <a:spAutoFit/>
            </a:bodyPr>
            <a:lstStyle/>
            <a:p>
              <a:r>
                <a:rPr lang="en-US" sz="2200" b="1" dirty="0">
                  <a:solidFill>
                    <a:srgbClr val="FF0000"/>
                  </a:solidFill>
                </a:rPr>
                <a:t>DC IR Drop</a:t>
              </a:r>
            </a:p>
          </p:txBody>
        </p:sp>
        <p:sp>
          <p:nvSpPr>
            <p:cNvPr id="50" name="Oval 49">
              <a:extLst>
                <a:ext uri="{FF2B5EF4-FFF2-40B4-BE49-F238E27FC236}">
                  <a16:creationId xmlns:a16="http://schemas.microsoft.com/office/drawing/2014/main" id="{C10356E9-D42E-EA5E-B7BF-D4C000996D74}"/>
                </a:ext>
              </a:extLst>
            </p:cNvPr>
            <p:cNvSpPr/>
            <p:nvPr/>
          </p:nvSpPr>
          <p:spPr bwMode="auto">
            <a:xfrm>
              <a:off x="2439551" y="3384610"/>
              <a:ext cx="1252974" cy="1230868"/>
            </a:xfrm>
            <a:prstGeom prst="ellipse">
              <a:avLst/>
            </a:prstGeom>
            <a:noFill/>
            <a:ln w="63500" cap="flat" cmpd="sng" algn="ctr">
              <a:solidFill>
                <a:srgbClr val="FF0000"/>
              </a:solidFill>
              <a:prstDash val="dash"/>
              <a:round/>
              <a:headEnd type="none" w="med" len="med"/>
              <a:tailEnd type="none" w="med" len="med"/>
            </a:ln>
            <a:effectLst>
              <a:outerShdw blurRad="50800" dist="38100" dir="2700000" algn="tl" rotWithShape="0">
                <a:srgbClr val="000000">
                  <a:alpha val="43000"/>
                </a:srgbClr>
              </a:outerShdw>
            </a:effectLst>
          </p:spPr>
          <p:txBody>
            <a:bodyPr vert="horz" wrap="none" lIns="91440" tIns="45720" rIns="91440" bIns="45720" numCol="1" rtlCol="0" anchor="ctr" anchorCtr="0" compatLnSpc="1">
              <a:prstTxWarp prst="textNoShape">
                <a:avLst/>
              </a:prstTxWarp>
            </a:bodyPr>
            <a:lstStyle/>
            <a:p>
              <a:pPr algn="ctr"/>
              <a:endParaRPr lang="en-US" sz="1400" b="1">
                <a:solidFill>
                  <a:srgbClr val="000000"/>
                </a:solidFill>
                <a:ea typeface="MS PGothic" pitchFamily="34" charset="-128"/>
              </a:endParaRPr>
            </a:p>
          </p:txBody>
        </p:sp>
        <p:sp>
          <p:nvSpPr>
            <p:cNvPr id="64" name="TextBox 63">
              <a:extLst>
                <a:ext uri="{FF2B5EF4-FFF2-40B4-BE49-F238E27FC236}">
                  <a16:creationId xmlns:a16="http://schemas.microsoft.com/office/drawing/2014/main" id="{35F625BC-1056-403D-3687-DB41B79E8D16}"/>
                </a:ext>
              </a:extLst>
            </p:cNvPr>
            <p:cNvSpPr txBox="1"/>
            <p:nvPr/>
          </p:nvSpPr>
          <p:spPr>
            <a:xfrm>
              <a:off x="1221103" y="5943600"/>
              <a:ext cx="3350897" cy="430887"/>
            </a:xfrm>
            <a:prstGeom prst="rect">
              <a:avLst/>
            </a:prstGeom>
            <a:noFill/>
          </p:spPr>
          <p:txBody>
            <a:bodyPr wrap="none" rtlCol="0">
              <a:spAutoFit/>
            </a:bodyPr>
            <a:lstStyle/>
            <a:p>
              <a:r>
                <a:rPr lang="en-US" sz="2200" b="1" dirty="0"/>
                <a:t>Additional metallization</a:t>
              </a:r>
            </a:p>
          </p:txBody>
        </p:sp>
      </p:grpSp>
      <p:grpSp>
        <p:nvGrpSpPr>
          <p:cNvPr id="70" name="Group 69">
            <a:extLst>
              <a:ext uri="{FF2B5EF4-FFF2-40B4-BE49-F238E27FC236}">
                <a16:creationId xmlns:a16="http://schemas.microsoft.com/office/drawing/2014/main" id="{8A008E73-6A67-388E-58AC-F1F821472552}"/>
              </a:ext>
            </a:extLst>
          </p:cNvPr>
          <p:cNvGrpSpPr/>
          <p:nvPr/>
        </p:nvGrpSpPr>
        <p:grpSpPr>
          <a:xfrm>
            <a:off x="5489495" y="3276601"/>
            <a:ext cx="5151050" cy="3116997"/>
            <a:chOff x="3965495" y="3276600"/>
            <a:chExt cx="5151050" cy="3116997"/>
          </a:xfrm>
        </p:grpSpPr>
        <p:sp>
          <p:nvSpPr>
            <p:cNvPr id="65" name="Oval 64">
              <a:extLst>
                <a:ext uri="{FF2B5EF4-FFF2-40B4-BE49-F238E27FC236}">
                  <a16:creationId xmlns:a16="http://schemas.microsoft.com/office/drawing/2014/main" id="{72B172B9-2916-E78D-7BB8-D2DCD2325D98}"/>
                </a:ext>
              </a:extLst>
            </p:cNvPr>
            <p:cNvSpPr/>
            <p:nvPr/>
          </p:nvSpPr>
          <p:spPr bwMode="auto">
            <a:xfrm>
              <a:off x="3965495" y="3276600"/>
              <a:ext cx="4713367" cy="1354640"/>
            </a:xfrm>
            <a:prstGeom prst="ellipse">
              <a:avLst/>
            </a:prstGeom>
            <a:noFill/>
            <a:ln w="63500" cap="flat" cmpd="sng" algn="ctr">
              <a:solidFill>
                <a:srgbClr val="FF0000"/>
              </a:solidFill>
              <a:prstDash val="dash"/>
              <a:round/>
              <a:headEnd type="none" w="med" len="med"/>
              <a:tailEnd type="none" w="med" len="med"/>
            </a:ln>
            <a:effectLst>
              <a:outerShdw blurRad="50800" dist="38100" dir="2700000" algn="tl" rotWithShape="0">
                <a:srgbClr val="000000">
                  <a:alpha val="43000"/>
                </a:srgbClr>
              </a:outerShdw>
            </a:effectLst>
          </p:spPr>
          <p:txBody>
            <a:bodyPr vert="horz" wrap="none" lIns="91440" tIns="45720" rIns="91440" bIns="45720" numCol="1" rtlCol="0" anchor="ctr" anchorCtr="0" compatLnSpc="1">
              <a:prstTxWarp prst="textNoShape">
                <a:avLst/>
              </a:prstTxWarp>
            </a:bodyPr>
            <a:lstStyle/>
            <a:p>
              <a:pPr algn="ctr"/>
              <a:endParaRPr lang="en-US" sz="1400" b="1">
                <a:solidFill>
                  <a:srgbClr val="000000"/>
                </a:solidFill>
                <a:ea typeface="MS PGothic" pitchFamily="34" charset="-128"/>
              </a:endParaRPr>
            </a:p>
          </p:txBody>
        </p:sp>
        <p:sp>
          <p:nvSpPr>
            <p:cNvPr id="57" name="TextBox 56">
              <a:extLst>
                <a:ext uri="{FF2B5EF4-FFF2-40B4-BE49-F238E27FC236}">
                  <a16:creationId xmlns:a16="http://schemas.microsoft.com/office/drawing/2014/main" id="{C9C9FAC1-A390-762F-C013-62DD83103E5B}"/>
                </a:ext>
              </a:extLst>
            </p:cNvPr>
            <p:cNvSpPr txBox="1"/>
            <p:nvPr/>
          </p:nvSpPr>
          <p:spPr>
            <a:xfrm>
              <a:off x="5321140" y="4902140"/>
              <a:ext cx="2347192" cy="430887"/>
            </a:xfrm>
            <a:prstGeom prst="rect">
              <a:avLst/>
            </a:prstGeom>
            <a:noFill/>
          </p:spPr>
          <p:txBody>
            <a:bodyPr wrap="none" rtlCol="0">
              <a:spAutoFit/>
            </a:bodyPr>
            <a:lstStyle/>
            <a:p>
              <a:r>
                <a:rPr lang="en-US" sz="2200" b="1" dirty="0">
                  <a:solidFill>
                    <a:srgbClr val="FF0000"/>
                  </a:solidFill>
                </a:rPr>
                <a:t>AC </a:t>
              </a:r>
              <a:r>
                <a:rPr lang="en-US" sz="2200" b="1" dirty="0" err="1">
                  <a:solidFill>
                    <a:srgbClr val="FF0000"/>
                  </a:solidFill>
                </a:rPr>
                <a:t>Ldi/dt</a:t>
              </a:r>
              <a:r>
                <a:rPr lang="en-US" sz="2200" b="1" dirty="0">
                  <a:solidFill>
                    <a:srgbClr val="FF0000"/>
                  </a:solidFill>
                </a:rPr>
                <a:t> Droop</a:t>
              </a:r>
            </a:p>
          </p:txBody>
        </p:sp>
        <p:sp>
          <p:nvSpPr>
            <p:cNvPr id="66" name="TextBox 65">
              <a:extLst>
                <a:ext uri="{FF2B5EF4-FFF2-40B4-BE49-F238E27FC236}">
                  <a16:creationId xmlns:a16="http://schemas.microsoft.com/office/drawing/2014/main" id="{A5BC8780-86B6-BD68-C185-71405D59C7C5}"/>
                </a:ext>
              </a:extLst>
            </p:cNvPr>
            <p:cNvSpPr txBox="1"/>
            <p:nvPr/>
          </p:nvSpPr>
          <p:spPr>
            <a:xfrm>
              <a:off x="4953000" y="5562600"/>
              <a:ext cx="4163545" cy="830997"/>
            </a:xfrm>
            <a:prstGeom prst="rect">
              <a:avLst/>
            </a:prstGeom>
            <a:noFill/>
          </p:spPr>
          <p:txBody>
            <a:bodyPr wrap="none" rtlCol="0">
              <a:spAutoFit/>
            </a:bodyPr>
            <a:lstStyle/>
            <a:p>
              <a:r>
                <a:rPr lang="en-US" sz="2200" b="1" dirty="0"/>
                <a:t>On-die </a:t>
              </a:r>
              <a:r>
                <a:rPr lang="en-US" sz="2200" b="1" dirty="0" err="1"/>
                <a:t>decap</a:t>
              </a:r>
              <a:r>
                <a:rPr lang="en-US" sz="2200" b="1" dirty="0"/>
                <a:t> insertion, </a:t>
              </a:r>
              <a:r>
                <a:rPr lang="en-US" sz="2200" b="1" dirty="0" err="1"/>
                <a:t>Cdie</a:t>
              </a:r>
              <a:r>
                <a:rPr lang="en-US" sz="2400" dirty="0">
                  <a:ea typeface="Arial" pitchFamily="30" charset="0"/>
                  <a:cs typeface="Arial" pitchFamily="30" charset="0"/>
                </a:rPr>
                <a:t>↑</a:t>
              </a:r>
            </a:p>
            <a:p>
              <a:r>
                <a:rPr lang="en-US" sz="2200" b="1" dirty="0">
                  <a:ea typeface="Arial" pitchFamily="30" charset="0"/>
                  <a:cs typeface="Arial" pitchFamily="30" charset="0"/>
                </a:rPr>
                <a:t>Reduce </a:t>
              </a:r>
              <a:r>
                <a:rPr lang="en-US" sz="2200" b="1" dirty="0" err="1">
                  <a:ea typeface="Arial" pitchFamily="30" charset="0"/>
                  <a:cs typeface="Arial" pitchFamily="30" charset="0"/>
                </a:rPr>
                <a:t>Lpkg</a:t>
              </a:r>
              <a:r>
                <a:rPr lang="en-US" sz="2200" b="1" dirty="0"/>
                <a:t>  </a:t>
              </a:r>
            </a:p>
          </p:txBody>
        </p:sp>
      </p:grpSp>
      <p:sp>
        <p:nvSpPr>
          <p:cNvPr id="68" name="TextBox 67">
            <a:extLst>
              <a:ext uri="{FF2B5EF4-FFF2-40B4-BE49-F238E27FC236}">
                <a16:creationId xmlns:a16="http://schemas.microsoft.com/office/drawing/2014/main" id="{DE747D0F-C3EA-334B-FFB5-9D57037C04FA}"/>
              </a:ext>
            </a:extLst>
          </p:cNvPr>
          <p:cNvSpPr txBox="1"/>
          <p:nvPr/>
        </p:nvSpPr>
        <p:spPr>
          <a:xfrm>
            <a:off x="1602104" y="5329536"/>
            <a:ext cx="1941557" cy="461665"/>
          </a:xfrm>
          <a:prstGeom prst="rect">
            <a:avLst/>
          </a:prstGeom>
          <a:noFill/>
        </p:spPr>
        <p:txBody>
          <a:bodyPr wrap="none" rtlCol="0">
            <a:spAutoFit/>
          </a:bodyPr>
          <a:lstStyle/>
          <a:p>
            <a:r>
              <a:rPr lang="en-US" sz="2400" b="1" dirty="0"/>
              <a:t>Reduced by</a:t>
            </a:r>
          </a:p>
        </p:txBody>
      </p:sp>
      <p:sp>
        <p:nvSpPr>
          <p:cNvPr id="72" name="Text Box 9">
            <a:extLst>
              <a:ext uri="{FF2B5EF4-FFF2-40B4-BE49-F238E27FC236}">
                <a16:creationId xmlns:a16="http://schemas.microsoft.com/office/drawing/2014/main" id="{27F8739F-571C-2EBC-7DE4-D024ACCB79EC}"/>
              </a:ext>
            </a:extLst>
          </p:cNvPr>
          <p:cNvSpPr txBox="1">
            <a:spLocks noChangeArrowheads="1"/>
          </p:cNvSpPr>
          <p:nvPr/>
        </p:nvSpPr>
        <p:spPr bwMode="auto">
          <a:xfrm>
            <a:off x="7467601" y="1295400"/>
            <a:ext cx="1021703" cy="367528"/>
          </a:xfrm>
          <a:prstGeom prst="rect">
            <a:avLst/>
          </a:prstGeom>
          <a:noFill/>
          <a:ln w="9525">
            <a:noFill/>
            <a:miter lim="800000"/>
            <a:headEnd/>
            <a:tailEnd/>
          </a:ln>
        </p:spPr>
        <p:txBody>
          <a:bodyPr anchor="b"/>
          <a:lstStyle/>
          <a:p>
            <a:pPr algn="ctr"/>
            <a:r>
              <a:rPr lang="en-US" sz="1200" b="1" dirty="0"/>
              <a:t>R</a:t>
            </a:r>
            <a:r>
              <a:rPr lang="en-US" sz="1200" b="1" baseline="-25000" dirty="0"/>
              <a:t>DIE</a:t>
            </a:r>
          </a:p>
        </p:txBody>
      </p:sp>
      <p:grpSp>
        <p:nvGrpSpPr>
          <p:cNvPr id="8" name="Group 7">
            <a:extLst>
              <a:ext uri="{FF2B5EF4-FFF2-40B4-BE49-F238E27FC236}">
                <a16:creationId xmlns:a16="http://schemas.microsoft.com/office/drawing/2014/main" id="{2B24504F-2450-EB9F-37CE-76D84F4D8378}"/>
              </a:ext>
            </a:extLst>
          </p:cNvPr>
          <p:cNvGrpSpPr/>
          <p:nvPr/>
        </p:nvGrpSpPr>
        <p:grpSpPr>
          <a:xfrm>
            <a:off x="9584376" y="539115"/>
            <a:ext cx="3336009" cy="2177305"/>
            <a:chOff x="9584376" y="539115"/>
            <a:chExt cx="3336009" cy="2177305"/>
          </a:xfrm>
        </p:grpSpPr>
        <p:pic>
          <p:nvPicPr>
            <p:cNvPr id="4" name="Picture 3">
              <a:extLst>
                <a:ext uri="{FF2B5EF4-FFF2-40B4-BE49-F238E27FC236}">
                  <a16:creationId xmlns:a16="http://schemas.microsoft.com/office/drawing/2014/main" id="{E6A3A790-1E0C-AB2C-B4B4-B787EC54A0AE}"/>
                </a:ext>
              </a:extLst>
            </p:cNvPr>
            <p:cNvPicPr>
              <a:picLocks noChangeAspect="1"/>
            </p:cNvPicPr>
            <p:nvPr/>
          </p:nvPicPr>
          <p:blipFill>
            <a:blip r:embed="rId7"/>
            <a:srcRect l="21585" r="72130"/>
            <a:stretch>
              <a:fillRect/>
            </a:stretch>
          </p:blipFill>
          <p:spPr>
            <a:xfrm>
              <a:off x="10387465" y="774314"/>
              <a:ext cx="370391" cy="1562100"/>
            </a:xfrm>
            <a:prstGeom prst="rect">
              <a:avLst/>
            </a:prstGeom>
          </p:spPr>
        </p:pic>
        <p:sp>
          <p:nvSpPr>
            <p:cNvPr id="6" name="TextBox 5">
              <a:extLst>
                <a:ext uri="{FF2B5EF4-FFF2-40B4-BE49-F238E27FC236}">
                  <a16:creationId xmlns:a16="http://schemas.microsoft.com/office/drawing/2014/main" id="{4348D215-B707-503C-39DC-38E17C3D8E80}"/>
                </a:ext>
              </a:extLst>
            </p:cNvPr>
            <p:cNvSpPr txBox="1"/>
            <p:nvPr/>
          </p:nvSpPr>
          <p:spPr>
            <a:xfrm>
              <a:off x="9584376" y="2347088"/>
              <a:ext cx="3336009" cy="369332"/>
            </a:xfrm>
            <a:prstGeom prst="rect">
              <a:avLst/>
            </a:prstGeom>
            <a:noFill/>
          </p:spPr>
          <p:txBody>
            <a:bodyPr wrap="square" rtlCol="0">
              <a:spAutoFit/>
            </a:bodyPr>
            <a:lstStyle/>
            <a:p>
              <a:r>
                <a:rPr lang="en-US" dirty="0"/>
                <a:t>Wait – what’s this RLC?</a:t>
              </a:r>
              <a:endParaRPr lang="en-US" b="1" dirty="0"/>
            </a:p>
          </p:txBody>
        </p:sp>
        <p:pic>
          <p:nvPicPr>
            <p:cNvPr id="7" name="Picture 6">
              <a:extLst>
                <a:ext uri="{FF2B5EF4-FFF2-40B4-BE49-F238E27FC236}">
                  <a16:creationId xmlns:a16="http://schemas.microsoft.com/office/drawing/2014/main" id="{7AE8DE0A-DE7B-B911-330A-41C35B56047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934338" y="539115"/>
              <a:ext cx="596455" cy="1790425"/>
            </a:xfrm>
            <a:prstGeom prst="rect">
              <a:avLst/>
            </a:prstGeom>
          </p:spPr>
        </p:pic>
      </p:grpSp>
    </p:spTree>
    <p:extLst>
      <p:ext uri="{BB962C8B-B14F-4D97-AF65-F5344CB8AC3E}">
        <p14:creationId xmlns:p14="http://schemas.microsoft.com/office/powerpoint/2010/main" val="3868216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DFAEB-249C-4306-541B-7256B701D9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071262-DFAA-4E96-2A4C-B53C7F224C5B}"/>
              </a:ext>
            </a:extLst>
          </p:cNvPr>
          <p:cNvSpPr>
            <a:spLocks noGrp="1"/>
          </p:cNvSpPr>
          <p:nvPr>
            <p:ph type="title"/>
          </p:nvPr>
        </p:nvSpPr>
        <p:spPr/>
        <p:txBody>
          <a:bodyPr/>
          <a:lstStyle/>
          <a:p>
            <a:r>
              <a:rPr lang="en-US" dirty="0"/>
              <a:t>Understanding </a:t>
            </a:r>
            <a:r>
              <a:rPr lang="en-US" dirty="0" err="1"/>
              <a:t>Decap</a:t>
            </a:r>
            <a:r>
              <a:rPr lang="en-US" dirty="0"/>
              <a:t> </a:t>
            </a:r>
            <a:r>
              <a:rPr lang="en-US" dirty="0" err="1"/>
              <a:t>Parasitics</a:t>
            </a:r>
            <a:endParaRPr lang="en-US" dirty="0"/>
          </a:p>
        </p:txBody>
      </p:sp>
      <p:sp>
        <p:nvSpPr>
          <p:cNvPr id="3" name="Content Placeholder 2">
            <a:extLst>
              <a:ext uri="{FF2B5EF4-FFF2-40B4-BE49-F238E27FC236}">
                <a16:creationId xmlns:a16="http://schemas.microsoft.com/office/drawing/2014/main" id="{6F233DC2-C026-C695-BAA8-595984465C1E}"/>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C1BE36D2-1D4D-3BE3-9F0E-593E1FD7BB64}"/>
              </a:ext>
            </a:extLst>
          </p:cNvPr>
          <p:cNvSpPr>
            <a:spLocks noGrp="1"/>
          </p:cNvSpPr>
          <p:nvPr>
            <p:ph type="sldNum" sz="quarter" idx="10"/>
          </p:nvPr>
        </p:nvSpPr>
        <p:spPr/>
        <p:txBody>
          <a:bodyPr/>
          <a:lstStyle/>
          <a:p>
            <a:fld id="{7D4E4B3C-6D75-45C2-A79F-093804AEFBBA}" type="slidenum">
              <a:rPr lang="en-US" altLang="ja-JP" smtClean="0"/>
              <a:pPr/>
              <a:t>17</a:t>
            </a:fld>
            <a:endParaRPr lang="en-US" altLang="ja-JP" dirty="0"/>
          </a:p>
        </p:txBody>
      </p:sp>
    </p:spTree>
    <p:extLst>
      <p:ext uri="{BB962C8B-B14F-4D97-AF65-F5344CB8AC3E}">
        <p14:creationId xmlns:p14="http://schemas.microsoft.com/office/powerpoint/2010/main" val="12239809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Supply Impedance – Frequency Domain</a:t>
            </a:r>
          </a:p>
        </p:txBody>
      </p:sp>
      <p:pic>
        <p:nvPicPr>
          <p:cNvPr id="6" name="Picture 5" descr="Ztot_Zvrm.png"/>
          <p:cNvPicPr>
            <a:picLocks noChangeAspect="1"/>
          </p:cNvPicPr>
          <p:nvPr/>
        </p:nvPicPr>
        <p:blipFill>
          <a:blip r:embed="rId3"/>
          <a:stretch>
            <a:fillRect/>
          </a:stretch>
        </p:blipFill>
        <p:spPr>
          <a:xfrm>
            <a:off x="2231455" y="1030422"/>
            <a:ext cx="7729090" cy="4797156"/>
          </a:xfrm>
          <a:prstGeom prst="rect">
            <a:avLst/>
          </a:prstGeom>
        </p:spPr>
      </p:pic>
      <p:grpSp>
        <p:nvGrpSpPr>
          <p:cNvPr id="3" name="Group 6"/>
          <p:cNvGrpSpPr/>
          <p:nvPr/>
        </p:nvGrpSpPr>
        <p:grpSpPr>
          <a:xfrm>
            <a:off x="1847530" y="1988842"/>
            <a:ext cx="7954787" cy="4032447"/>
            <a:chOff x="323529" y="1988841"/>
            <a:chExt cx="7954787" cy="4032447"/>
          </a:xfrm>
        </p:grpSpPr>
        <p:sp>
          <p:nvSpPr>
            <p:cNvPr id="8" name="TextBox 7"/>
            <p:cNvSpPr txBox="1"/>
            <p:nvPr/>
          </p:nvSpPr>
          <p:spPr>
            <a:xfrm>
              <a:off x="1187624" y="5373216"/>
              <a:ext cx="458780" cy="307777"/>
            </a:xfrm>
            <a:prstGeom prst="rect">
              <a:avLst/>
            </a:prstGeom>
            <a:noFill/>
          </p:spPr>
          <p:txBody>
            <a:bodyPr wrap="none" rtlCol="0">
              <a:spAutoFit/>
            </a:bodyPr>
            <a:lstStyle/>
            <a:p>
              <a:r>
                <a:rPr lang="en-GB" sz="1400" b="1" dirty="0">
                  <a:latin typeface="Calibri" pitchFamily="34" charset="0"/>
                  <a:cs typeface="Calibri" pitchFamily="34" charset="0"/>
                </a:rPr>
                <a:t>100</a:t>
              </a:r>
            </a:p>
          </p:txBody>
        </p:sp>
        <p:sp>
          <p:nvSpPr>
            <p:cNvPr id="9" name="TextBox 8"/>
            <p:cNvSpPr txBox="1"/>
            <p:nvPr/>
          </p:nvSpPr>
          <p:spPr>
            <a:xfrm>
              <a:off x="2661692" y="5383436"/>
              <a:ext cx="465192" cy="307777"/>
            </a:xfrm>
            <a:prstGeom prst="rect">
              <a:avLst/>
            </a:prstGeom>
            <a:noFill/>
          </p:spPr>
          <p:txBody>
            <a:bodyPr wrap="none" rtlCol="0">
              <a:spAutoFit/>
            </a:bodyPr>
            <a:lstStyle/>
            <a:p>
              <a:r>
                <a:rPr lang="en-GB" sz="1400" b="1" dirty="0">
                  <a:latin typeface="Calibri" pitchFamily="34" charset="0"/>
                  <a:cs typeface="Calibri" pitchFamily="34" charset="0"/>
                </a:rPr>
                <a:t>10K</a:t>
              </a:r>
            </a:p>
          </p:txBody>
        </p:sp>
        <p:sp>
          <p:nvSpPr>
            <p:cNvPr id="10" name="TextBox 9"/>
            <p:cNvSpPr txBox="1"/>
            <p:nvPr/>
          </p:nvSpPr>
          <p:spPr>
            <a:xfrm>
              <a:off x="4388800" y="5383436"/>
              <a:ext cx="433132" cy="307777"/>
            </a:xfrm>
            <a:prstGeom prst="rect">
              <a:avLst/>
            </a:prstGeom>
            <a:noFill/>
          </p:spPr>
          <p:txBody>
            <a:bodyPr wrap="none" rtlCol="0">
              <a:spAutoFit/>
            </a:bodyPr>
            <a:lstStyle/>
            <a:p>
              <a:r>
                <a:rPr lang="en-GB" sz="1400" b="1" dirty="0">
                  <a:latin typeface="Calibri" pitchFamily="34" charset="0"/>
                  <a:cs typeface="Calibri" pitchFamily="34" charset="0"/>
                </a:rPr>
                <a:t>1M</a:t>
              </a:r>
            </a:p>
          </p:txBody>
        </p:sp>
        <p:sp>
          <p:nvSpPr>
            <p:cNvPr id="11" name="TextBox 10"/>
            <p:cNvSpPr txBox="1"/>
            <p:nvPr/>
          </p:nvSpPr>
          <p:spPr>
            <a:xfrm>
              <a:off x="6046068" y="5392961"/>
              <a:ext cx="615874" cy="307777"/>
            </a:xfrm>
            <a:prstGeom prst="rect">
              <a:avLst/>
            </a:prstGeom>
            <a:noFill/>
          </p:spPr>
          <p:txBody>
            <a:bodyPr wrap="none" rtlCol="0">
              <a:spAutoFit/>
            </a:bodyPr>
            <a:lstStyle/>
            <a:p>
              <a:r>
                <a:rPr lang="en-GB" sz="1400" b="1" dirty="0">
                  <a:latin typeface="Calibri" pitchFamily="34" charset="0"/>
                  <a:cs typeface="Calibri" pitchFamily="34" charset="0"/>
                </a:rPr>
                <a:t>100M</a:t>
              </a:r>
            </a:p>
          </p:txBody>
        </p:sp>
        <p:sp>
          <p:nvSpPr>
            <p:cNvPr id="12" name="TextBox 11"/>
            <p:cNvSpPr txBox="1"/>
            <p:nvPr/>
          </p:nvSpPr>
          <p:spPr>
            <a:xfrm>
              <a:off x="7797094" y="5392961"/>
              <a:ext cx="481222" cy="307777"/>
            </a:xfrm>
            <a:prstGeom prst="rect">
              <a:avLst/>
            </a:prstGeom>
            <a:noFill/>
          </p:spPr>
          <p:txBody>
            <a:bodyPr wrap="none" rtlCol="0">
              <a:spAutoFit/>
            </a:bodyPr>
            <a:lstStyle/>
            <a:p>
              <a:r>
                <a:rPr lang="en-GB" sz="1400" b="1" dirty="0">
                  <a:latin typeface="Calibri" pitchFamily="34" charset="0"/>
                  <a:cs typeface="Calibri" pitchFamily="34" charset="0"/>
                </a:rPr>
                <a:t>10G</a:t>
              </a:r>
            </a:p>
          </p:txBody>
        </p:sp>
        <p:sp>
          <p:nvSpPr>
            <p:cNvPr id="13" name="TextBox 12"/>
            <p:cNvSpPr txBox="1"/>
            <p:nvPr/>
          </p:nvSpPr>
          <p:spPr>
            <a:xfrm rot="16200000">
              <a:off x="-684279" y="2996649"/>
              <a:ext cx="2477281" cy="461665"/>
            </a:xfrm>
            <a:prstGeom prst="rect">
              <a:avLst/>
            </a:prstGeom>
            <a:noFill/>
          </p:spPr>
          <p:txBody>
            <a:bodyPr wrap="none" rtlCol="0">
              <a:spAutoFit/>
            </a:bodyPr>
            <a:lstStyle/>
            <a:p>
              <a:r>
                <a:rPr lang="en-GB" sz="2400" b="1" dirty="0">
                  <a:latin typeface="Calibri" pitchFamily="34" charset="0"/>
                </a:rPr>
                <a:t>Impedance (</a:t>
              </a:r>
              <a:r>
                <a:rPr lang="en-GB" sz="2400" b="1" dirty="0" err="1">
                  <a:latin typeface="Calibri" pitchFamily="34" charset="0"/>
                </a:rPr>
                <a:t>dB</a:t>
              </a:r>
              <a:r>
                <a:rPr lang="en-GB" sz="2400" b="1" dirty="0" err="1">
                  <a:latin typeface="Symbol" pitchFamily="18" charset="2"/>
                </a:rPr>
                <a:t>W</a:t>
              </a:r>
              <a:r>
                <a:rPr lang="en-GB" sz="2400" b="1" dirty="0">
                  <a:latin typeface="Calibri" pitchFamily="34" charset="0"/>
                </a:rPr>
                <a:t>)</a:t>
              </a:r>
            </a:p>
          </p:txBody>
        </p:sp>
        <p:sp>
          <p:nvSpPr>
            <p:cNvPr id="14" name="TextBox 13"/>
            <p:cNvSpPr txBox="1"/>
            <p:nvPr/>
          </p:nvSpPr>
          <p:spPr>
            <a:xfrm>
              <a:off x="3707904" y="5559623"/>
              <a:ext cx="2088777" cy="461665"/>
            </a:xfrm>
            <a:prstGeom prst="rect">
              <a:avLst/>
            </a:prstGeom>
            <a:noFill/>
          </p:spPr>
          <p:txBody>
            <a:bodyPr wrap="none" rtlCol="0">
              <a:spAutoFit/>
            </a:bodyPr>
            <a:lstStyle/>
            <a:p>
              <a:r>
                <a:rPr lang="en-GB" sz="2400" b="1" dirty="0">
                  <a:latin typeface="Calibri" pitchFamily="34" charset="0"/>
                </a:rPr>
                <a:t>Frequency (Hz)</a:t>
              </a:r>
            </a:p>
          </p:txBody>
        </p:sp>
      </p:grpSp>
      <p:sp>
        <p:nvSpPr>
          <p:cNvPr id="15" name="TextBox 14"/>
          <p:cNvSpPr txBox="1"/>
          <p:nvPr/>
        </p:nvSpPr>
        <p:spPr>
          <a:xfrm>
            <a:off x="3359696" y="4437112"/>
            <a:ext cx="651140" cy="369332"/>
          </a:xfrm>
          <a:prstGeom prst="rect">
            <a:avLst/>
          </a:prstGeom>
          <a:noFill/>
        </p:spPr>
        <p:txBody>
          <a:bodyPr wrap="none" rtlCol="0">
            <a:spAutoFit/>
          </a:bodyPr>
          <a:lstStyle/>
          <a:p>
            <a:r>
              <a:rPr lang="en-GB" b="1" dirty="0" err="1">
                <a:solidFill>
                  <a:srgbClr val="FF0000"/>
                </a:solidFill>
              </a:rPr>
              <a:t>Z</a:t>
            </a:r>
            <a:r>
              <a:rPr lang="en-GB" b="1" baseline="-25000" dirty="0" err="1">
                <a:solidFill>
                  <a:srgbClr val="FF0000"/>
                </a:solidFill>
              </a:rPr>
              <a:t>total</a:t>
            </a:r>
            <a:endParaRPr lang="en-GB" b="1" baseline="-25000" dirty="0">
              <a:solidFill>
                <a:srgbClr val="FF0000"/>
              </a:solidFill>
            </a:endParaRPr>
          </a:p>
        </p:txBody>
      </p:sp>
      <p:sp>
        <p:nvSpPr>
          <p:cNvPr id="16" name="TextBox 15"/>
          <p:cNvSpPr txBox="1"/>
          <p:nvPr/>
        </p:nvSpPr>
        <p:spPr>
          <a:xfrm>
            <a:off x="3359696" y="4869160"/>
            <a:ext cx="667170" cy="369332"/>
          </a:xfrm>
          <a:prstGeom prst="rect">
            <a:avLst/>
          </a:prstGeom>
          <a:noFill/>
        </p:spPr>
        <p:txBody>
          <a:bodyPr wrap="none" rtlCol="0">
            <a:spAutoFit/>
          </a:bodyPr>
          <a:lstStyle/>
          <a:p>
            <a:r>
              <a:rPr lang="en-GB" b="1" dirty="0">
                <a:solidFill>
                  <a:srgbClr val="9DB336"/>
                </a:solidFill>
              </a:rPr>
              <a:t>Z</a:t>
            </a:r>
            <a:r>
              <a:rPr lang="en-GB" b="1" baseline="-25000" dirty="0">
                <a:solidFill>
                  <a:srgbClr val="9DB336"/>
                </a:solidFill>
              </a:rPr>
              <a:t>VRM</a:t>
            </a:r>
          </a:p>
        </p:txBody>
      </p:sp>
      <p:cxnSp>
        <p:nvCxnSpPr>
          <p:cNvPr id="17" name="Straight Connector 16"/>
          <p:cNvCxnSpPr/>
          <p:nvPr/>
        </p:nvCxnSpPr>
        <p:spPr bwMode="auto">
          <a:xfrm flipH="1">
            <a:off x="2711624" y="3304800"/>
            <a:ext cx="6840000" cy="0"/>
          </a:xfrm>
          <a:prstGeom prst="line">
            <a:avLst/>
          </a:prstGeom>
          <a:noFill/>
          <a:ln w="1905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15048535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Supply Impedance – Frequency Domain</a:t>
            </a:r>
          </a:p>
        </p:txBody>
      </p:sp>
      <p:pic>
        <p:nvPicPr>
          <p:cNvPr id="6" name="Picture 5" descr="Ztot_Zvrm_Zbulk.png"/>
          <p:cNvPicPr>
            <a:picLocks noChangeAspect="1"/>
          </p:cNvPicPr>
          <p:nvPr/>
        </p:nvPicPr>
        <p:blipFill>
          <a:blip r:embed="rId3"/>
          <a:stretch>
            <a:fillRect/>
          </a:stretch>
        </p:blipFill>
        <p:spPr>
          <a:xfrm>
            <a:off x="2231455" y="1030422"/>
            <a:ext cx="7729090" cy="4797156"/>
          </a:xfrm>
          <a:prstGeom prst="rect">
            <a:avLst/>
          </a:prstGeom>
        </p:spPr>
      </p:pic>
      <p:grpSp>
        <p:nvGrpSpPr>
          <p:cNvPr id="3" name="Group 6"/>
          <p:cNvGrpSpPr/>
          <p:nvPr/>
        </p:nvGrpSpPr>
        <p:grpSpPr>
          <a:xfrm>
            <a:off x="1847530" y="1988842"/>
            <a:ext cx="7954787" cy="4032447"/>
            <a:chOff x="323529" y="1988841"/>
            <a:chExt cx="7954787" cy="4032447"/>
          </a:xfrm>
        </p:grpSpPr>
        <p:sp>
          <p:nvSpPr>
            <p:cNvPr id="8" name="TextBox 7"/>
            <p:cNvSpPr txBox="1"/>
            <p:nvPr/>
          </p:nvSpPr>
          <p:spPr>
            <a:xfrm>
              <a:off x="1187624" y="5373216"/>
              <a:ext cx="458780" cy="307777"/>
            </a:xfrm>
            <a:prstGeom prst="rect">
              <a:avLst/>
            </a:prstGeom>
            <a:noFill/>
          </p:spPr>
          <p:txBody>
            <a:bodyPr wrap="none" rtlCol="0">
              <a:spAutoFit/>
            </a:bodyPr>
            <a:lstStyle/>
            <a:p>
              <a:r>
                <a:rPr lang="en-GB" sz="1400" b="1" dirty="0">
                  <a:latin typeface="Calibri" pitchFamily="34" charset="0"/>
                  <a:cs typeface="Calibri" pitchFamily="34" charset="0"/>
                </a:rPr>
                <a:t>100</a:t>
              </a:r>
            </a:p>
          </p:txBody>
        </p:sp>
        <p:sp>
          <p:nvSpPr>
            <p:cNvPr id="9" name="TextBox 8"/>
            <p:cNvSpPr txBox="1"/>
            <p:nvPr/>
          </p:nvSpPr>
          <p:spPr>
            <a:xfrm>
              <a:off x="2661692" y="5383436"/>
              <a:ext cx="465192" cy="307777"/>
            </a:xfrm>
            <a:prstGeom prst="rect">
              <a:avLst/>
            </a:prstGeom>
            <a:noFill/>
          </p:spPr>
          <p:txBody>
            <a:bodyPr wrap="none" rtlCol="0">
              <a:spAutoFit/>
            </a:bodyPr>
            <a:lstStyle/>
            <a:p>
              <a:r>
                <a:rPr lang="en-GB" sz="1400" b="1" dirty="0">
                  <a:latin typeface="Calibri" pitchFamily="34" charset="0"/>
                  <a:cs typeface="Calibri" pitchFamily="34" charset="0"/>
                </a:rPr>
                <a:t>10K</a:t>
              </a:r>
            </a:p>
          </p:txBody>
        </p:sp>
        <p:sp>
          <p:nvSpPr>
            <p:cNvPr id="10" name="TextBox 9"/>
            <p:cNvSpPr txBox="1"/>
            <p:nvPr/>
          </p:nvSpPr>
          <p:spPr>
            <a:xfrm>
              <a:off x="4388800" y="5383436"/>
              <a:ext cx="433132" cy="307777"/>
            </a:xfrm>
            <a:prstGeom prst="rect">
              <a:avLst/>
            </a:prstGeom>
            <a:noFill/>
          </p:spPr>
          <p:txBody>
            <a:bodyPr wrap="none" rtlCol="0">
              <a:spAutoFit/>
            </a:bodyPr>
            <a:lstStyle/>
            <a:p>
              <a:r>
                <a:rPr lang="en-GB" sz="1400" b="1" dirty="0">
                  <a:latin typeface="Calibri" pitchFamily="34" charset="0"/>
                  <a:cs typeface="Calibri" pitchFamily="34" charset="0"/>
                </a:rPr>
                <a:t>1M</a:t>
              </a:r>
            </a:p>
          </p:txBody>
        </p:sp>
        <p:sp>
          <p:nvSpPr>
            <p:cNvPr id="11" name="TextBox 10"/>
            <p:cNvSpPr txBox="1"/>
            <p:nvPr/>
          </p:nvSpPr>
          <p:spPr>
            <a:xfrm>
              <a:off x="6046068" y="5392961"/>
              <a:ext cx="615874" cy="307777"/>
            </a:xfrm>
            <a:prstGeom prst="rect">
              <a:avLst/>
            </a:prstGeom>
            <a:noFill/>
          </p:spPr>
          <p:txBody>
            <a:bodyPr wrap="none" rtlCol="0">
              <a:spAutoFit/>
            </a:bodyPr>
            <a:lstStyle/>
            <a:p>
              <a:r>
                <a:rPr lang="en-GB" sz="1400" b="1" dirty="0">
                  <a:latin typeface="Calibri" pitchFamily="34" charset="0"/>
                  <a:cs typeface="Calibri" pitchFamily="34" charset="0"/>
                </a:rPr>
                <a:t>100M</a:t>
              </a:r>
            </a:p>
          </p:txBody>
        </p:sp>
        <p:sp>
          <p:nvSpPr>
            <p:cNvPr id="12" name="TextBox 11"/>
            <p:cNvSpPr txBox="1"/>
            <p:nvPr/>
          </p:nvSpPr>
          <p:spPr>
            <a:xfrm>
              <a:off x="7797094" y="5392961"/>
              <a:ext cx="481222" cy="307777"/>
            </a:xfrm>
            <a:prstGeom prst="rect">
              <a:avLst/>
            </a:prstGeom>
            <a:noFill/>
          </p:spPr>
          <p:txBody>
            <a:bodyPr wrap="none" rtlCol="0">
              <a:spAutoFit/>
            </a:bodyPr>
            <a:lstStyle/>
            <a:p>
              <a:r>
                <a:rPr lang="en-GB" sz="1400" b="1" dirty="0">
                  <a:latin typeface="Calibri" pitchFamily="34" charset="0"/>
                  <a:cs typeface="Calibri" pitchFamily="34" charset="0"/>
                </a:rPr>
                <a:t>10G</a:t>
              </a:r>
            </a:p>
          </p:txBody>
        </p:sp>
        <p:sp>
          <p:nvSpPr>
            <p:cNvPr id="13" name="TextBox 12"/>
            <p:cNvSpPr txBox="1"/>
            <p:nvPr/>
          </p:nvSpPr>
          <p:spPr>
            <a:xfrm rot="16200000">
              <a:off x="-684279" y="2996649"/>
              <a:ext cx="2477281" cy="461665"/>
            </a:xfrm>
            <a:prstGeom prst="rect">
              <a:avLst/>
            </a:prstGeom>
            <a:noFill/>
          </p:spPr>
          <p:txBody>
            <a:bodyPr wrap="none" rtlCol="0">
              <a:spAutoFit/>
            </a:bodyPr>
            <a:lstStyle/>
            <a:p>
              <a:r>
                <a:rPr lang="en-GB" sz="2400" b="1" dirty="0">
                  <a:latin typeface="Calibri" pitchFamily="34" charset="0"/>
                </a:rPr>
                <a:t>Impedance (</a:t>
              </a:r>
              <a:r>
                <a:rPr lang="en-GB" sz="2400" b="1" dirty="0" err="1">
                  <a:latin typeface="Calibri" pitchFamily="34" charset="0"/>
                </a:rPr>
                <a:t>dB</a:t>
              </a:r>
              <a:r>
                <a:rPr lang="en-GB" sz="2400" b="1" dirty="0" err="1">
                  <a:latin typeface="Symbol" pitchFamily="18" charset="2"/>
                </a:rPr>
                <a:t>W</a:t>
              </a:r>
              <a:r>
                <a:rPr lang="en-GB" sz="2400" b="1" dirty="0">
                  <a:latin typeface="Calibri" pitchFamily="34" charset="0"/>
                </a:rPr>
                <a:t>)</a:t>
              </a:r>
            </a:p>
          </p:txBody>
        </p:sp>
        <p:sp>
          <p:nvSpPr>
            <p:cNvPr id="14" name="TextBox 13"/>
            <p:cNvSpPr txBox="1"/>
            <p:nvPr/>
          </p:nvSpPr>
          <p:spPr>
            <a:xfrm>
              <a:off x="3707904" y="5559623"/>
              <a:ext cx="2088777" cy="461665"/>
            </a:xfrm>
            <a:prstGeom prst="rect">
              <a:avLst/>
            </a:prstGeom>
            <a:noFill/>
          </p:spPr>
          <p:txBody>
            <a:bodyPr wrap="none" rtlCol="0">
              <a:spAutoFit/>
            </a:bodyPr>
            <a:lstStyle/>
            <a:p>
              <a:r>
                <a:rPr lang="en-GB" sz="2400" b="1" dirty="0">
                  <a:latin typeface="Calibri" pitchFamily="34" charset="0"/>
                </a:rPr>
                <a:t>Frequency (Hz)</a:t>
              </a:r>
            </a:p>
          </p:txBody>
        </p:sp>
      </p:grpSp>
      <p:cxnSp>
        <p:nvCxnSpPr>
          <p:cNvPr id="15" name="Straight Connector 14"/>
          <p:cNvCxnSpPr/>
          <p:nvPr/>
        </p:nvCxnSpPr>
        <p:spPr bwMode="auto">
          <a:xfrm flipH="1">
            <a:off x="2711624" y="3304800"/>
            <a:ext cx="6840000" cy="0"/>
          </a:xfrm>
          <a:prstGeom prst="line">
            <a:avLst/>
          </a:prstGeom>
          <a:noFill/>
          <a:ln w="19050" cap="flat" cmpd="sng" algn="ctr">
            <a:solidFill>
              <a:schemeClr val="tx1"/>
            </a:solidFill>
            <a:prstDash val="solid"/>
            <a:round/>
            <a:headEnd type="none" w="med" len="med"/>
            <a:tailEnd type="none" w="med" len="med"/>
          </a:ln>
          <a:effectLst/>
        </p:spPr>
      </p:cxnSp>
      <p:sp>
        <p:nvSpPr>
          <p:cNvPr id="16" name="TextBox 15"/>
          <p:cNvSpPr txBox="1"/>
          <p:nvPr/>
        </p:nvSpPr>
        <p:spPr>
          <a:xfrm>
            <a:off x="3359696" y="4437112"/>
            <a:ext cx="651140" cy="369332"/>
          </a:xfrm>
          <a:prstGeom prst="rect">
            <a:avLst/>
          </a:prstGeom>
          <a:noFill/>
        </p:spPr>
        <p:txBody>
          <a:bodyPr wrap="none" rtlCol="0">
            <a:spAutoFit/>
          </a:bodyPr>
          <a:lstStyle/>
          <a:p>
            <a:r>
              <a:rPr lang="en-GB" b="1" dirty="0" err="1">
                <a:solidFill>
                  <a:srgbClr val="FF0000"/>
                </a:solidFill>
              </a:rPr>
              <a:t>Z</a:t>
            </a:r>
            <a:r>
              <a:rPr lang="en-GB" b="1" baseline="-25000" dirty="0" err="1">
                <a:solidFill>
                  <a:srgbClr val="FF0000"/>
                </a:solidFill>
              </a:rPr>
              <a:t>total</a:t>
            </a:r>
            <a:endParaRPr lang="en-GB" b="1" baseline="-25000" dirty="0">
              <a:solidFill>
                <a:srgbClr val="FF0000"/>
              </a:solidFill>
            </a:endParaRPr>
          </a:p>
        </p:txBody>
      </p:sp>
      <p:sp>
        <p:nvSpPr>
          <p:cNvPr id="17" name="TextBox 16"/>
          <p:cNvSpPr txBox="1"/>
          <p:nvPr/>
        </p:nvSpPr>
        <p:spPr>
          <a:xfrm>
            <a:off x="3359696" y="4869160"/>
            <a:ext cx="667170" cy="369332"/>
          </a:xfrm>
          <a:prstGeom prst="rect">
            <a:avLst/>
          </a:prstGeom>
          <a:noFill/>
        </p:spPr>
        <p:txBody>
          <a:bodyPr wrap="none" rtlCol="0">
            <a:spAutoFit/>
          </a:bodyPr>
          <a:lstStyle/>
          <a:p>
            <a:r>
              <a:rPr lang="en-GB" b="1" dirty="0">
                <a:solidFill>
                  <a:srgbClr val="9DB336"/>
                </a:solidFill>
              </a:rPr>
              <a:t>Z</a:t>
            </a:r>
            <a:r>
              <a:rPr lang="en-GB" b="1" baseline="-25000" dirty="0">
                <a:solidFill>
                  <a:srgbClr val="9DB336"/>
                </a:solidFill>
              </a:rPr>
              <a:t>VRM</a:t>
            </a:r>
          </a:p>
        </p:txBody>
      </p:sp>
      <p:sp>
        <p:nvSpPr>
          <p:cNvPr id="18" name="TextBox 17"/>
          <p:cNvSpPr txBox="1"/>
          <p:nvPr/>
        </p:nvSpPr>
        <p:spPr>
          <a:xfrm>
            <a:off x="3359697" y="1835532"/>
            <a:ext cx="752129" cy="369332"/>
          </a:xfrm>
          <a:prstGeom prst="rect">
            <a:avLst/>
          </a:prstGeom>
          <a:noFill/>
        </p:spPr>
        <p:txBody>
          <a:bodyPr wrap="none" rtlCol="0">
            <a:spAutoFit/>
          </a:bodyPr>
          <a:lstStyle/>
          <a:p>
            <a:r>
              <a:rPr lang="en-GB" b="1" dirty="0">
                <a:solidFill>
                  <a:srgbClr val="0070C0"/>
                </a:solidFill>
              </a:rPr>
              <a:t>Z</a:t>
            </a:r>
            <a:r>
              <a:rPr lang="en-GB" b="1" baseline="-25000" dirty="0">
                <a:solidFill>
                  <a:srgbClr val="0070C0"/>
                </a:solidFill>
              </a:rPr>
              <a:t>BULK</a:t>
            </a:r>
          </a:p>
        </p:txBody>
      </p:sp>
    </p:spTree>
    <p:extLst>
      <p:ext uri="{BB962C8B-B14F-4D97-AF65-F5344CB8AC3E}">
        <p14:creationId xmlns:p14="http://schemas.microsoft.com/office/powerpoint/2010/main" val="31354311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Supply Impedance – Frequency Domain</a:t>
            </a:r>
          </a:p>
        </p:txBody>
      </p:sp>
      <p:pic>
        <p:nvPicPr>
          <p:cNvPr id="5" name="Picture 4" descr="Ztot_Zvrm_Zbulk_Zplane.png"/>
          <p:cNvPicPr>
            <a:picLocks noChangeAspect="1"/>
          </p:cNvPicPr>
          <p:nvPr/>
        </p:nvPicPr>
        <p:blipFill>
          <a:blip r:embed="rId3"/>
          <a:stretch>
            <a:fillRect/>
          </a:stretch>
        </p:blipFill>
        <p:spPr>
          <a:xfrm>
            <a:off x="2231455" y="1030422"/>
            <a:ext cx="7729090" cy="4797156"/>
          </a:xfrm>
          <a:prstGeom prst="rect">
            <a:avLst/>
          </a:prstGeom>
        </p:spPr>
      </p:pic>
      <p:grpSp>
        <p:nvGrpSpPr>
          <p:cNvPr id="3" name="Group 17"/>
          <p:cNvGrpSpPr/>
          <p:nvPr/>
        </p:nvGrpSpPr>
        <p:grpSpPr>
          <a:xfrm>
            <a:off x="1847530" y="1988842"/>
            <a:ext cx="7954787" cy="4032447"/>
            <a:chOff x="323529" y="1988841"/>
            <a:chExt cx="7954787" cy="4032447"/>
          </a:xfrm>
        </p:grpSpPr>
        <p:sp>
          <p:nvSpPr>
            <p:cNvPr id="19" name="TextBox 18"/>
            <p:cNvSpPr txBox="1"/>
            <p:nvPr/>
          </p:nvSpPr>
          <p:spPr>
            <a:xfrm>
              <a:off x="1187624" y="5373216"/>
              <a:ext cx="458780" cy="307777"/>
            </a:xfrm>
            <a:prstGeom prst="rect">
              <a:avLst/>
            </a:prstGeom>
            <a:noFill/>
          </p:spPr>
          <p:txBody>
            <a:bodyPr wrap="none" rtlCol="0">
              <a:spAutoFit/>
            </a:bodyPr>
            <a:lstStyle/>
            <a:p>
              <a:r>
                <a:rPr lang="en-GB" sz="1400" b="1" dirty="0">
                  <a:latin typeface="Calibri" pitchFamily="34" charset="0"/>
                  <a:cs typeface="Calibri" pitchFamily="34" charset="0"/>
                </a:rPr>
                <a:t>100</a:t>
              </a:r>
            </a:p>
          </p:txBody>
        </p:sp>
        <p:sp>
          <p:nvSpPr>
            <p:cNvPr id="20" name="TextBox 19"/>
            <p:cNvSpPr txBox="1"/>
            <p:nvPr/>
          </p:nvSpPr>
          <p:spPr>
            <a:xfrm>
              <a:off x="2661692" y="5383436"/>
              <a:ext cx="465192" cy="307777"/>
            </a:xfrm>
            <a:prstGeom prst="rect">
              <a:avLst/>
            </a:prstGeom>
            <a:noFill/>
          </p:spPr>
          <p:txBody>
            <a:bodyPr wrap="none" rtlCol="0">
              <a:spAutoFit/>
            </a:bodyPr>
            <a:lstStyle/>
            <a:p>
              <a:r>
                <a:rPr lang="en-GB" sz="1400" b="1" dirty="0">
                  <a:latin typeface="Calibri" pitchFamily="34" charset="0"/>
                  <a:cs typeface="Calibri" pitchFamily="34" charset="0"/>
                </a:rPr>
                <a:t>10K</a:t>
              </a:r>
            </a:p>
          </p:txBody>
        </p:sp>
        <p:sp>
          <p:nvSpPr>
            <p:cNvPr id="21" name="TextBox 20"/>
            <p:cNvSpPr txBox="1"/>
            <p:nvPr/>
          </p:nvSpPr>
          <p:spPr>
            <a:xfrm>
              <a:off x="4388800" y="5383436"/>
              <a:ext cx="433132" cy="307777"/>
            </a:xfrm>
            <a:prstGeom prst="rect">
              <a:avLst/>
            </a:prstGeom>
            <a:noFill/>
          </p:spPr>
          <p:txBody>
            <a:bodyPr wrap="none" rtlCol="0">
              <a:spAutoFit/>
            </a:bodyPr>
            <a:lstStyle/>
            <a:p>
              <a:r>
                <a:rPr lang="en-GB" sz="1400" b="1" dirty="0">
                  <a:latin typeface="Calibri" pitchFamily="34" charset="0"/>
                  <a:cs typeface="Calibri" pitchFamily="34" charset="0"/>
                </a:rPr>
                <a:t>1M</a:t>
              </a:r>
            </a:p>
          </p:txBody>
        </p:sp>
        <p:sp>
          <p:nvSpPr>
            <p:cNvPr id="22" name="TextBox 21"/>
            <p:cNvSpPr txBox="1"/>
            <p:nvPr/>
          </p:nvSpPr>
          <p:spPr>
            <a:xfrm>
              <a:off x="6046068" y="5392961"/>
              <a:ext cx="615874" cy="307777"/>
            </a:xfrm>
            <a:prstGeom prst="rect">
              <a:avLst/>
            </a:prstGeom>
            <a:noFill/>
          </p:spPr>
          <p:txBody>
            <a:bodyPr wrap="none" rtlCol="0">
              <a:spAutoFit/>
            </a:bodyPr>
            <a:lstStyle/>
            <a:p>
              <a:r>
                <a:rPr lang="en-GB" sz="1400" b="1" dirty="0">
                  <a:latin typeface="Calibri" pitchFamily="34" charset="0"/>
                  <a:cs typeface="Calibri" pitchFamily="34" charset="0"/>
                </a:rPr>
                <a:t>100M</a:t>
              </a:r>
            </a:p>
          </p:txBody>
        </p:sp>
        <p:sp>
          <p:nvSpPr>
            <p:cNvPr id="23" name="TextBox 22"/>
            <p:cNvSpPr txBox="1"/>
            <p:nvPr/>
          </p:nvSpPr>
          <p:spPr>
            <a:xfrm>
              <a:off x="7797094" y="5392961"/>
              <a:ext cx="481222" cy="307777"/>
            </a:xfrm>
            <a:prstGeom prst="rect">
              <a:avLst/>
            </a:prstGeom>
            <a:noFill/>
          </p:spPr>
          <p:txBody>
            <a:bodyPr wrap="none" rtlCol="0">
              <a:spAutoFit/>
            </a:bodyPr>
            <a:lstStyle/>
            <a:p>
              <a:r>
                <a:rPr lang="en-GB" sz="1400" b="1" dirty="0">
                  <a:latin typeface="Calibri" pitchFamily="34" charset="0"/>
                  <a:cs typeface="Calibri" pitchFamily="34" charset="0"/>
                </a:rPr>
                <a:t>10G</a:t>
              </a:r>
            </a:p>
          </p:txBody>
        </p:sp>
        <p:sp>
          <p:nvSpPr>
            <p:cNvPr id="24" name="TextBox 23"/>
            <p:cNvSpPr txBox="1"/>
            <p:nvPr/>
          </p:nvSpPr>
          <p:spPr>
            <a:xfrm rot="16200000">
              <a:off x="-684279" y="2996649"/>
              <a:ext cx="2477281" cy="461665"/>
            </a:xfrm>
            <a:prstGeom prst="rect">
              <a:avLst/>
            </a:prstGeom>
            <a:noFill/>
          </p:spPr>
          <p:txBody>
            <a:bodyPr wrap="none" rtlCol="0">
              <a:spAutoFit/>
            </a:bodyPr>
            <a:lstStyle/>
            <a:p>
              <a:r>
                <a:rPr lang="en-GB" sz="2400" b="1" dirty="0">
                  <a:latin typeface="Calibri" pitchFamily="34" charset="0"/>
                </a:rPr>
                <a:t>Impedance (</a:t>
              </a:r>
              <a:r>
                <a:rPr lang="en-GB" sz="2400" b="1" dirty="0" err="1">
                  <a:latin typeface="Calibri" pitchFamily="34" charset="0"/>
                </a:rPr>
                <a:t>dB</a:t>
              </a:r>
              <a:r>
                <a:rPr lang="en-GB" sz="2400" b="1" dirty="0" err="1">
                  <a:latin typeface="Symbol" pitchFamily="18" charset="2"/>
                </a:rPr>
                <a:t>W</a:t>
              </a:r>
              <a:r>
                <a:rPr lang="en-GB" sz="2400" b="1" dirty="0">
                  <a:latin typeface="Calibri" pitchFamily="34" charset="0"/>
                </a:rPr>
                <a:t>)</a:t>
              </a:r>
            </a:p>
          </p:txBody>
        </p:sp>
        <p:sp>
          <p:nvSpPr>
            <p:cNvPr id="25" name="TextBox 24"/>
            <p:cNvSpPr txBox="1"/>
            <p:nvPr/>
          </p:nvSpPr>
          <p:spPr>
            <a:xfrm>
              <a:off x="3707904" y="5559623"/>
              <a:ext cx="2088777" cy="461665"/>
            </a:xfrm>
            <a:prstGeom prst="rect">
              <a:avLst/>
            </a:prstGeom>
            <a:noFill/>
          </p:spPr>
          <p:txBody>
            <a:bodyPr wrap="none" rtlCol="0">
              <a:spAutoFit/>
            </a:bodyPr>
            <a:lstStyle/>
            <a:p>
              <a:r>
                <a:rPr lang="en-GB" sz="2400" b="1" dirty="0">
                  <a:latin typeface="Calibri" pitchFamily="34" charset="0"/>
                </a:rPr>
                <a:t>Frequency (Hz)</a:t>
              </a:r>
            </a:p>
          </p:txBody>
        </p:sp>
      </p:grpSp>
      <p:sp>
        <p:nvSpPr>
          <p:cNvPr id="26" name="TextBox 25"/>
          <p:cNvSpPr txBox="1"/>
          <p:nvPr/>
        </p:nvSpPr>
        <p:spPr>
          <a:xfrm>
            <a:off x="3359696" y="4437112"/>
            <a:ext cx="651140" cy="369332"/>
          </a:xfrm>
          <a:prstGeom prst="rect">
            <a:avLst/>
          </a:prstGeom>
          <a:noFill/>
        </p:spPr>
        <p:txBody>
          <a:bodyPr wrap="none" rtlCol="0">
            <a:spAutoFit/>
          </a:bodyPr>
          <a:lstStyle/>
          <a:p>
            <a:r>
              <a:rPr lang="en-GB" b="1" dirty="0" err="1">
                <a:solidFill>
                  <a:srgbClr val="FF0000"/>
                </a:solidFill>
              </a:rPr>
              <a:t>Z</a:t>
            </a:r>
            <a:r>
              <a:rPr lang="en-GB" b="1" baseline="-25000" dirty="0" err="1">
                <a:solidFill>
                  <a:srgbClr val="FF0000"/>
                </a:solidFill>
              </a:rPr>
              <a:t>total</a:t>
            </a:r>
            <a:endParaRPr lang="en-GB" b="1" baseline="-25000" dirty="0">
              <a:solidFill>
                <a:srgbClr val="FF0000"/>
              </a:solidFill>
            </a:endParaRPr>
          </a:p>
        </p:txBody>
      </p:sp>
      <p:sp>
        <p:nvSpPr>
          <p:cNvPr id="27" name="TextBox 26"/>
          <p:cNvSpPr txBox="1"/>
          <p:nvPr/>
        </p:nvSpPr>
        <p:spPr>
          <a:xfrm>
            <a:off x="3359696" y="4869160"/>
            <a:ext cx="667170" cy="369332"/>
          </a:xfrm>
          <a:prstGeom prst="rect">
            <a:avLst/>
          </a:prstGeom>
          <a:noFill/>
        </p:spPr>
        <p:txBody>
          <a:bodyPr wrap="none" rtlCol="0">
            <a:spAutoFit/>
          </a:bodyPr>
          <a:lstStyle/>
          <a:p>
            <a:r>
              <a:rPr lang="en-GB" b="1" dirty="0">
                <a:solidFill>
                  <a:srgbClr val="9DB336"/>
                </a:solidFill>
              </a:rPr>
              <a:t>Z</a:t>
            </a:r>
            <a:r>
              <a:rPr lang="en-GB" b="1" baseline="-25000" dirty="0">
                <a:solidFill>
                  <a:srgbClr val="9DB336"/>
                </a:solidFill>
              </a:rPr>
              <a:t>VRM</a:t>
            </a:r>
          </a:p>
        </p:txBody>
      </p:sp>
      <p:sp>
        <p:nvSpPr>
          <p:cNvPr id="28" name="TextBox 27"/>
          <p:cNvSpPr txBox="1"/>
          <p:nvPr/>
        </p:nvSpPr>
        <p:spPr>
          <a:xfrm>
            <a:off x="3359697" y="1835532"/>
            <a:ext cx="752129" cy="369332"/>
          </a:xfrm>
          <a:prstGeom prst="rect">
            <a:avLst/>
          </a:prstGeom>
          <a:noFill/>
        </p:spPr>
        <p:txBody>
          <a:bodyPr wrap="none" rtlCol="0">
            <a:spAutoFit/>
          </a:bodyPr>
          <a:lstStyle/>
          <a:p>
            <a:r>
              <a:rPr lang="en-GB" b="1" dirty="0">
                <a:solidFill>
                  <a:srgbClr val="0070C0"/>
                </a:solidFill>
              </a:rPr>
              <a:t>Z</a:t>
            </a:r>
            <a:r>
              <a:rPr lang="en-GB" b="1" baseline="-25000" dirty="0">
                <a:solidFill>
                  <a:srgbClr val="0070C0"/>
                </a:solidFill>
              </a:rPr>
              <a:t>BULK</a:t>
            </a:r>
          </a:p>
        </p:txBody>
      </p:sp>
      <p:sp>
        <p:nvSpPr>
          <p:cNvPr id="29" name="TextBox 28"/>
          <p:cNvSpPr txBox="1"/>
          <p:nvPr/>
        </p:nvSpPr>
        <p:spPr>
          <a:xfrm>
            <a:off x="5127847" y="1844824"/>
            <a:ext cx="1281120" cy="369332"/>
          </a:xfrm>
          <a:prstGeom prst="rect">
            <a:avLst/>
          </a:prstGeom>
          <a:noFill/>
        </p:spPr>
        <p:txBody>
          <a:bodyPr wrap="none" rtlCol="0">
            <a:spAutoFit/>
          </a:bodyPr>
          <a:lstStyle/>
          <a:p>
            <a:r>
              <a:rPr lang="en-GB" b="1" dirty="0">
                <a:solidFill>
                  <a:srgbClr val="C00000"/>
                </a:solidFill>
              </a:rPr>
              <a:t>Z</a:t>
            </a:r>
            <a:r>
              <a:rPr lang="en-GB" b="1" baseline="-25000" dirty="0">
                <a:solidFill>
                  <a:srgbClr val="C00000"/>
                </a:solidFill>
              </a:rPr>
              <a:t>PKG_DECAP</a:t>
            </a:r>
          </a:p>
        </p:txBody>
      </p:sp>
      <p:cxnSp>
        <p:nvCxnSpPr>
          <p:cNvPr id="30" name="Straight Connector 29"/>
          <p:cNvCxnSpPr/>
          <p:nvPr/>
        </p:nvCxnSpPr>
        <p:spPr bwMode="auto">
          <a:xfrm flipH="1">
            <a:off x="2711624" y="3304800"/>
            <a:ext cx="6840000" cy="0"/>
          </a:xfrm>
          <a:prstGeom prst="line">
            <a:avLst/>
          </a:prstGeom>
          <a:noFill/>
          <a:ln w="1905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32831519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Supply Impedance – Frequency Domain</a:t>
            </a:r>
          </a:p>
        </p:txBody>
      </p:sp>
      <p:pic>
        <p:nvPicPr>
          <p:cNvPr id="6" name="Picture 5" descr="Ztot_Zvrm_Zbulk_Zplane_Zpkg.png"/>
          <p:cNvPicPr>
            <a:picLocks noChangeAspect="1"/>
          </p:cNvPicPr>
          <p:nvPr/>
        </p:nvPicPr>
        <p:blipFill>
          <a:blip r:embed="rId3"/>
          <a:stretch>
            <a:fillRect/>
          </a:stretch>
        </p:blipFill>
        <p:spPr>
          <a:xfrm>
            <a:off x="2231455" y="1030422"/>
            <a:ext cx="7729090" cy="4797156"/>
          </a:xfrm>
          <a:prstGeom prst="rect">
            <a:avLst/>
          </a:prstGeom>
        </p:spPr>
      </p:pic>
      <p:grpSp>
        <p:nvGrpSpPr>
          <p:cNvPr id="3" name="Group 6"/>
          <p:cNvGrpSpPr/>
          <p:nvPr/>
        </p:nvGrpSpPr>
        <p:grpSpPr>
          <a:xfrm>
            <a:off x="1847530" y="1988842"/>
            <a:ext cx="7954787" cy="4032447"/>
            <a:chOff x="323529" y="1988841"/>
            <a:chExt cx="7954787" cy="4032447"/>
          </a:xfrm>
        </p:grpSpPr>
        <p:sp>
          <p:nvSpPr>
            <p:cNvPr id="8" name="TextBox 7"/>
            <p:cNvSpPr txBox="1"/>
            <p:nvPr/>
          </p:nvSpPr>
          <p:spPr>
            <a:xfrm>
              <a:off x="1187624" y="5373216"/>
              <a:ext cx="458780" cy="307777"/>
            </a:xfrm>
            <a:prstGeom prst="rect">
              <a:avLst/>
            </a:prstGeom>
            <a:noFill/>
          </p:spPr>
          <p:txBody>
            <a:bodyPr wrap="none" rtlCol="0">
              <a:spAutoFit/>
            </a:bodyPr>
            <a:lstStyle/>
            <a:p>
              <a:r>
                <a:rPr lang="en-GB" sz="1400" b="1" dirty="0">
                  <a:latin typeface="Calibri" pitchFamily="34" charset="0"/>
                  <a:cs typeface="Calibri" pitchFamily="34" charset="0"/>
                </a:rPr>
                <a:t>100</a:t>
              </a:r>
            </a:p>
          </p:txBody>
        </p:sp>
        <p:sp>
          <p:nvSpPr>
            <p:cNvPr id="9" name="TextBox 8"/>
            <p:cNvSpPr txBox="1"/>
            <p:nvPr/>
          </p:nvSpPr>
          <p:spPr>
            <a:xfrm>
              <a:off x="2661692" y="5383436"/>
              <a:ext cx="465192" cy="307777"/>
            </a:xfrm>
            <a:prstGeom prst="rect">
              <a:avLst/>
            </a:prstGeom>
            <a:noFill/>
          </p:spPr>
          <p:txBody>
            <a:bodyPr wrap="none" rtlCol="0">
              <a:spAutoFit/>
            </a:bodyPr>
            <a:lstStyle/>
            <a:p>
              <a:r>
                <a:rPr lang="en-GB" sz="1400" b="1" dirty="0">
                  <a:latin typeface="Calibri" pitchFamily="34" charset="0"/>
                  <a:cs typeface="Calibri" pitchFamily="34" charset="0"/>
                </a:rPr>
                <a:t>10K</a:t>
              </a:r>
            </a:p>
          </p:txBody>
        </p:sp>
        <p:sp>
          <p:nvSpPr>
            <p:cNvPr id="10" name="TextBox 9"/>
            <p:cNvSpPr txBox="1"/>
            <p:nvPr/>
          </p:nvSpPr>
          <p:spPr>
            <a:xfrm>
              <a:off x="4388800" y="5383436"/>
              <a:ext cx="433132" cy="307777"/>
            </a:xfrm>
            <a:prstGeom prst="rect">
              <a:avLst/>
            </a:prstGeom>
            <a:noFill/>
          </p:spPr>
          <p:txBody>
            <a:bodyPr wrap="none" rtlCol="0">
              <a:spAutoFit/>
            </a:bodyPr>
            <a:lstStyle/>
            <a:p>
              <a:r>
                <a:rPr lang="en-GB" sz="1400" b="1" dirty="0">
                  <a:latin typeface="Calibri" pitchFamily="34" charset="0"/>
                  <a:cs typeface="Calibri" pitchFamily="34" charset="0"/>
                </a:rPr>
                <a:t>1M</a:t>
              </a:r>
            </a:p>
          </p:txBody>
        </p:sp>
        <p:sp>
          <p:nvSpPr>
            <p:cNvPr id="11" name="TextBox 10"/>
            <p:cNvSpPr txBox="1"/>
            <p:nvPr/>
          </p:nvSpPr>
          <p:spPr>
            <a:xfrm>
              <a:off x="6046068" y="5392961"/>
              <a:ext cx="615874" cy="307777"/>
            </a:xfrm>
            <a:prstGeom prst="rect">
              <a:avLst/>
            </a:prstGeom>
            <a:noFill/>
          </p:spPr>
          <p:txBody>
            <a:bodyPr wrap="none" rtlCol="0">
              <a:spAutoFit/>
            </a:bodyPr>
            <a:lstStyle/>
            <a:p>
              <a:r>
                <a:rPr lang="en-GB" sz="1400" b="1" dirty="0">
                  <a:latin typeface="Calibri" pitchFamily="34" charset="0"/>
                  <a:cs typeface="Calibri" pitchFamily="34" charset="0"/>
                </a:rPr>
                <a:t>100M</a:t>
              </a:r>
            </a:p>
          </p:txBody>
        </p:sp>
        <p:sp>
          <p:nvSpPr>
            <p:cNvPr id="12" name="TextBox 11"/>
            <p:cNvSpPr txBox="1"/>
            <p:nvPr/>
          </p:nvSpPr>
          <p:spPr>
            <a:xfrm>
              <a:off x="7797094" y="5392961"/>
              <a:ext cx="481222" cy="307777"/>
            </a:xfrm>
            <a:prstGeom prst="rect">
              <a:avLst/>
            </a:prstGeom>
            <a:noFill/>
          </p:spPr>
          <p:txBody>
            <a:bodyPr wrap="none" rtlCol="0">
              <a:spAutoFit/>
            </a:bodyPr>
            <a:lstStyle/>
            <a:p>
              <a:r>
                <a:rPr lang="en-GB" sz="1400" b="1" dirty="0">
                  <a:latin typeface="Calibri" pitchFamily="34" charset="0"/>
                  <a:cs typeface="Calibri" pitchFamily="34" charset="0"/>
                </a:rPr>
                <a:t>10G</a:t>
              </a:r>
            </a:p>
          </p:txBody>
        </p:sp>
        <p:sp>
          <p:nvSpPr>
            <p:cNvPr id="13" name="TextBox 12"/>
            <p:cNvSpPr txBox="1"/>
            <p:nvPr/>
          </p:nvSpPr>
          <p:spPr>
            <a:xfrm rot="16200000">
              <a:off x="-684279" y="2996649"/>
              <a:ext cx="2477281" cy="461665"/>
            </a:xfrm>
            <a:prstGeom prst="rect">
              <a:avLst/>
            </a:prstGeom>
            <a:noFill/>
          </p:spPr>
          <p:txBody>
            <a:bodyPr wrap="none" rtlCol="0">
              <a:spAutoFit/>
            </a:bodyPr>
            <a:lstStyle/>
            <a:p>
              <a:r>
                <a:rPr lang="en-GB" sz="2400" b="1" dirty="0">
                  <a:latin typeface="Calibri" pitchFamily="34" charset="0"/>
                </a:rPr>
                <a:t>Impedance (</a:t>
              </a:r>
              <a:r>
                <a:rPr lang="en-GB" sz="2400" b="1" dirty="0" err="1">
                  <a:latin typeface="Calibri" pitchFamily="34" charset="0"/>
                </a:rPr>
                <a:t>dB</a:t>
              </a:r>
              <a:r>
                <a:rPr lang="en-GB" sz="2400" b="1" dirty="0" err="1">
                  <a:latin typeface="Symbol" pitchFamily="18" charset="2"/>
                </a:rPr>
                <a:t>W</a:t>
              </a:r>
              <a:r>
                <a:rPr lang="en-GB" sz="2400" b="1" dirty="0">
                  <a:latin typeface="Calibri" pitchFamily="34" charset="0"/>
                </a:rPr>
                <a:t>)</a:t>
              </a:r>
            </a:p>
          </p:txBody>
        </p:sp>
        <p:sp>
          <p:nvSpPr>
            <p:cNvPr id="14" name="TextBox 13"/>
            <p:cNvSpPr txBox="1"/>
            <p:nvPr/>
          </p:nvSpPr>
          <p:spPr>
            <a:xfrm>
              <a:off x="3707904" y="5559623"/>
              <a:ext cx="2088777" cy="461665"/>
            </a:xfrm>
            <a:prstGeom prst="rect">
              <a:avLst/>
            </a:prstGeom>
            <a:noFill/>
          </p:spPr>
          <p:txBody>
            <a:bodyPr wrap="none" rtlCol="0">
              <a:spAutoFit/>
            </a:bodyPr>
            <a:lstStyle/>
            <a:p>
              <a:r>
                <a:rPr lang="en-GB" sz="2400" b="1" dirty="0">
                  <a:latin typeface="Calibri" pitchFamily="34" charset="0"/>
                </a:rPr>
                <a:t>Frequency (Hz)</a:t>
              </a:r>
            </a:p>
          </p:txBody>
        </p:sp>
      </p:grpSp>
      <p:sp>
        <p:nvSpPr>
          <p:cNvPr id="15" name="TextBox 14"/>
          <p:cNvSpPr txBox="1"/>
          <p:nvPr/>
        </p:nvSpPr>
        <p:spPr>
          <a:xfrm>
            <a:off x="3359696" y="4437112"/>
            <a:ext cx="651140" cy="369332"/>
          </a:xfrm>
          <a:prstGeom prst="rect">
            <a:avLst/>
          </a:prstGeom>
          <a:noFill/>
        </p:spPr>
        <p:txBody>
          <a:bodyPr wrap="none" rtlCol="0">
            <a:spAutoFit/>
          </a:bodyPr>
          <a:lstStyle/>
          <a:p>
            <a:r>
              <a:rPr lang="en-GB" b="1" dirty="0" err="1">
                <a:solidFill>
                  <a:srgbClr val="FF0000"/>
                </a:solidFill>
              </a:rPr>
              <a:t>Z</a:t>
            </a:r>
            <a:r>
              <a:rPr lang="en-GB" b="1" baseline="-25000" dirty="0" err="1">
                <a:solidFill>
                  <a:srgbClr val="FF0000"/>
                </a:solidFill>
              </a:rPr>
              <a:t>total</a:t>
            </a:r>
            <a:endParaRPr lang="en-GB" b="1" baseline="-25000" dirty="0">
              <a:solidFill>
                <a:srgbClr val="FF0000"/>
              </a:solidFill>
            </a:endParaRPr>
          </a:p>
        </p:txBody>
      </p:sp>
      <p:sp>
        <p:nvSpPr>
          <p:cNvPr id="16" name="TextBox 15"/>
          <p:cNvSpPr txBox="1"/>
          <p:nvPr/>
        </p:nvSpPr>
        <p:spPr>
          <a:xfrm>
            <a:off x="3359696" y="4869160"/>
            <a:ext cx="667170" cy="369332"/>
          </a:xfrm>
          <a:prstGeom prst="rect">
            <a:avLst/>
          </a:prstGeom>
          <a:noFill/>
        </p:spPr>
        <p:txBody>
          <a:bodyPr wrap="none" rtlCol="0">
            <a:spAutoFit/>
          </a:bodyPr>
          <a:lstStyle/>
          <a:p>
            <a:r>
              <a:rPr lang="en-GB" b="1" dirty="0">
                <a:solidFill>
                  <a:srgbClr val="9DB336"/>
                </a:solidFill>
              </a:rPr>
              <a:t>Z</a:t>
            </a:r>
            <a:r>
              <a:rPr lang="en-GB" b="1" baseline="-25000" dirty="0">
                <a:solidFill>
                  <a:srgbClr val="9DB336"/>
                </a:solidFill>
              </a:rPr>
              <a:t>VRM</a:t>
            </a:r>
          </a:p>
        </p:txBody>
      </p:sp>
      <p:sp>
        <p:nvSpPr>
          <p:cNvPr id="17" name="TextBox 16"/>
          <p:cNvSpPr txBox="1"/>
          <p:nvPr/>
        </p:nvSpPr>
        <p:spPr>
          <a:xfrm>
            <a:off x="3359697" y="1835532"/>
            <a:ext cx="752129" cy="369332"/>
          </a:xfrm>
          <a:prstGeom prst="rect">
            <a:avLst/>
          </a:prstGeom>
          <a:noFill/>
        </p:spPr>
        <p:txBody>
          <a:bodyPr wrap="none" rtlCol="0">
            <a:spAutoFit/>
          </a:bodyPr>
          <a:lstStyle/>
          <a:p>
            <a:r>
              <a:rPr lang="en-GB" b="1" dirty="0">
                <a:solidFill>
                  <a:srgbClr val="0070C0"/>
                </a:solidFill>
              </a:rPr>
              <a:t>Z</a:t>
            </a:r>
            <a:r>
              <a:rPr lang="en-GB" b="1" baseline="-25000" dirty="0">
                <a:solidFill>
                  <a:srgbClr val="0070C0"/>
                </a:solidFill>
              </a:rPr>
              <a:t>BULK</a:t>
            </a:r>
          </a:p>
        </p:txBody>
      </p:sp>
      <p:sp>
        <p:nvSpPr>
          <p:cNvPr id="18" name="TextBox 17"/>
          <p:cNvSpPr txBox="1"/>
          <p:nvPr/>
        </p:nvSpPr>
        <p:spPr>
          <a:xfrm>
            <a:off x="5127847" y="1844824"/>
            <a:ext cx="1281120" cy="369332"/>
          </a:xfrm>
          <a:prstGeom prst="rect">
            <a:avLst/>
          </a:prstGeom>
          <a:noFill/>
        </p:spPr>
        <p:txBody>
          <a:bodyPr wrap="none" rtlCol="0">
            <a:spAutoFit/>
          </a:bodyPr>
          <a:lstStyle/>
          <a:p>
            <a:r>
              <a:rPr lang="en-GB" b="1" dirty="0">
                <a:solidFill>
                  <a:srgbClr val="C00000"/>
                </a:solidFill>
              </a:rPr>
              <a:t>Z</a:t>
            </a:r>
            <a:r>
              <a:rPr lang="en-GB" b="1" baseline="-25000" dirty="0">
                <a:solidFill>
                  <a:srgbClr val="C00000"/>
                </a:solidFill>
              </a:rPr>
              <a:t>PKG_DECAP</a:t>
            </a:r>
          </a:p>
        </p:txBody>
      </p:sp>
      <p:sp>
        <p:nvSpPr>
          <p:cNvPr id="19" name="TextBox 18"/>
          <p:cNvSpPr txBox="1"/>
          <p:nvPr/>
        </p:nvSpPr>
        <p:spPr>
          <a:xfrm>
            <a:off x="6384032" y="1412776"/>
            <a:ext cx="1814920" cy="369332"/>
          </a:xfrm>
          <a:prstGeom prst="rect">
            <a:avLst/>
          </a:prstGeom>
          <a:noFill/>
        </p:spPr>
        <p:txBody>
          <a:bodyPr wrap="none" rtlCol="0">
            <a:spAutoFit/>
          </a:bodyPr>
          <a:lstStyle/>
          <a:p>
            <a:r>
              <a:rPr lang="en-GB" b="1" dirty="0">
                <a:solidFill>
                  <a:srgbClr val="7030A8"/>
                </a:solidFill>
              </a:rPr>
              <a:t>Z</a:t>
            </a:r>
            <a:r>
              <a:rPr lang="en-GB" b="1" baseline="-25000" dirty="0">
                <a:solidFill>
                  <a:srgbClr val="7030A8"/>
                </a:solidFill>
              </a:rPr>
              <a:t>DIE_DECAP+PLANE</a:t>
            </a:r>
          </a:p>
        </p:txBody>
      </p:sp>
      <p:grpSp>
        <p:nvGrpSpPr>
          <p:cNvPr id="26" name="Group 25"/>
          <p:cNvGrpSpPr/>
          <p:nvPr/>
        </p:nvGrpSpPr>
        <p:grpSpPr>
          <a:xfrm>
            <a:off x="4314284" y="2743200"/>
            <a:ext cx="5591716" cy="2125960"/>
            <a:chOff x="2790284" y="2743200"/>
            <a:chExt cx="5591716" cy="2125960"/>
          </a:xfrm>
        </p:grpSpPr>
        <p:sp>
          <p:nvSpPr>
            <p:cNvPr id="20" name="Oval 19"/>
            <p:cNvSpPr/>
            <p:nvPr/>
          </p:nvSpPr>
          <p:spPr bwMode="auto">
            <a:xfrm>
              <a:off x="3891104" y="4191000"/>
              <a:ext cx="680896" cy="678160"/>
            </a:xfrm>
            <a:prstGeom prst="ellipse">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endParaRPr lang="en-US" sz="1400" b="1">
                <a:solidFill>
                  <a:srgbClr val="000000"/>
                </a:solidFill>
                <a:ea typeface="MS PGothic" pitchFamily="34" charset="-128"/>
              </a:endParaRPr>
            </a:p>
          </p:txBody>
        </p:sp>
        <p:sp>
          <p:nvSpPr>
            <p:cNvPr id="21" name="Oval 20"/>
            <p:cNvSpPr/>
            <p:nvPr/>
          </p:nvSpPr>
          <p:spPr bwMode="auto">
            <a:xfrm>
              <a:off x="5110304" y="3733800"/>
              <a:ext cx="680896" cy="678160"/>
            </a:xfrm>
            <a:prstGeom prst="ellipse">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endParaRPr lang="en-US" sz="1400" b="1">
                <a:solidFill>
                  <a:srgbClr val="000000"/>
                </a:solidFill>
                <a:ea typeface="MS PGothic" pitchFamily="34" charset="-128"/>
              </a:endParaRPr>
            </a:p>
          </p:txBody>
        </p:sp>
        <p:sp>
          <p:nvSpPr>
            <p:cNvPr id="22" name="Oval 21"/>
            <p:cNvSpPr/>
            <p:nvPr/>
          </p:nvSpPr>
          <p:spPr bwMode="auto">
            <a:xfrm>
              <a:off x="6313629" y="2743200"/>
              <a:ext cx="680896" cy="678160"/>
            </a:xfrm>
            <a:prstGeom prst="ellipse">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endParaRPr lang="en-US" sz="1400" b="1">
                <a:solidFill>
                  <a:srgbClr val="000000"/>
                </a:solidFill>
                <a:ea typeface="MS PGothic" pitchFamily="34" charset="-128"/>
              </a:endParaRPr>
            </a:p>
          </p:txBody>
        </p:sp>
        <p:sp>
          <p:nvSpPr>
            <p:cNvPr id="23" name="TextBox 22"/>
            <p:cNvSpPr txBox="1"/>
            <p:nvPr/>
          </p:nvSpPr>
          <p:spPr>
            <a:xfrm>
              <a:off x="2790284" y="4114800"/>
              <a:ext cx="1172116" cy="369332"/>
            </a:xfrm>
            <a:prstGeom prst="rect">
              <a:avLst/>
            </a:prstGeom>
            <a:noFill/>
          </p:spPr>
          <p:txBody>
            <a:bodyPr wrap="none" rtlCol="0">
              <a:spAutoFit/>
            </a:bodyPr>
            <a:lstStyle/>
            <a:p>
              <a:r>
                <a:rPr lang="en-US" b="1" dirty="0" err="1">
                  <a:solidFill>
                    <a:srgbClr val="FF0000"/>
                  </a:solidFill>
                </a:rPr>
                <a:t>L</a:t>
              </a:r>
              <a:r>
                <a:rPr lang="en-US" b="1" baseline="-25000" dirty="0" err="1">
                  <a:solidFill>
                    <a:srgbClr val="FF0000"/>
                  </a:solidFill>
                </a:rPr>
                <a:t>VRM</a:t>
              </a:r>
              <a:r>
                <a:rPr lang="en-US" b="1" dirty="0" err="1">
                  <a:solidFill>
                    <a:srgbClr val="FF0000"/>
                  </a:solidFill>
                </a:rPr>
                <a:t>C</a:t>
              </a:r>
              <a:r>
                <a:rPr lang="en-US" b="1" baseline="-25000" dirty="0" err="1">
                  <a:solidFill>
                    <a:srgbClr val="FF0000"/>
                  </a:solidFill>
                </a:rPr>
                <a:t>Bulk</a:t>
              </a:r>
              <a:endParaRPr lang="en-US" b="1" baseline="-25000" dirty="0">
                <a:solidFill>
                  <a:srgbClr val="FF0000"/>
                </a:solidFill>
              </a:endParaRPr>
            </a:p>
          </p:txBody>
        </p:sp>
        <p:sp>
          <p:nvSpPr>
            <p:cNvPr id="24" name="TextBox 23"/>
            <p:cNvSpPr txBox="1"/>
            <p:nvPr/>
          </p:nvSpPr>
          <p:spPr>
            <a:xfrm>
              <a:off x="4009484" y="3505200"/>
              <a:ext cx="1150751" cy="369332"/>
            </a:xfrm>
            <a:prstGeom prst="rect">
              <a:avLst/>
            </a:prstGeom>
            <a:noFill/>
          </p:spPr>
          <p:txBody>
            <a:bodyPr wrap="none" rtlCol="0">
              <a:spAutoFit/>
            </a:bodyPr>
            <a:lstStyle/>
            <a:p>
              <a:r>
                <a:rPr lang="en-US" b="1" dirty="0">
                  <a:solidFill>
                    <a:srgbClr val="FF0000"/>
                  </a:solidFill>
                </a:rPr>
                <a:t>L</a:t>
              </a:r>
              <a:r>
                <a:rPr lang="en-US" b="1" baseline="-25000" dirty="0">
                  <a:solidFill>
                    <a:srgbClr val="FF0000"/>
                  </a:solidFill>
                </a:rPr>
                <a:t>PCB</a:t>
              </a:r>
              <a:r>
                <a:rPr lang="en-US" b="1" dirty="0">
                  <a:solidFill>
                    <a:srgbClr val="FF0000"/>
                  </a:solidFill>
                </a:rPr>
                <a:t>C</a:t>
              </a:r>
              <a:r>
                <a:rPr lang="en-US" b="1" baseline="-25000" dirty="0">
                  <a:solidFill>
                    <a:srgbClr val="FF0000"/>
                  </a:solidFill>
                </a:rPr>
                <a:t>PKG</a:t>
              </a:r>
            </a:p>
          </p:txBody>
        </p:sp>
        <p:sp>
          <p:nvSpPr>
            <p:cNvPr id="25" name="TextBox 24"/>
            <p:cNvSpPr txBox="1"/>
            <p:nvPr/>
          </p:nvSpPr>
          <p:spPr>
            <a:xfrm>
              <a:off x="7299627" y="2831068"/>
              <a:ext cx="1082373" cy="369332"/>
            </a:xfrm>
            <a:prstGeom prst="rect">
              <a:avLst/>
            </a:prstGeom>
            <a:noFill/>
          </p:spPr>
          <p:txBody>
            <a:bodyPr wrap="none" rtlCol="0">
              <a:spAutoFit/>
            </a:bodyPr>
            <a:lstStyle/>
            <a:p>
              <a:r>
                <a:rPr lang="en-US" b="1" dirty="0">
                  <a:solidFill>
                    <a:srgbClr val="FF0000"/>
                  </a:solidFill>
                </a:rPr>
                <a:t>L</a:t>
              </a:r>
              <a:r>
                <a:rPr lang="en-US" b="1" baseline="-25000" dirty="0">
                  <a:solidFill>
                    <a:srgbClr val="FF0000"/>
                  </a:solidFill>
                </a:rPr>
                <a:t>PKG</a:t>
              </a:r>
              <a:r>
                <a:rPr lang="en-US" b="1" dirty="0">
                  <a:solidFill>
                    <a:srgbClr val="FF0000"/>
                  </a:solidFill>
                </a:rPr>
                <a:t>C</a:t>
              </a:r>
              <a:r>
                <a:rPr lang="en-US" b="1" baseline="-25000" dirty="0">
                  <a:solidFill>
                    <a:srgbClr val="FF0000"/>
                  </a:solidFill>
                </a:rPr>
                <a:t>DIE</a:t>
              </a:r>
            </a:p>
          </p:txBody>
        </p:sp>
      </p:grpSp>
    </p:spTree>
    <p:extLst>
      <p:ext uri="{BB962C8B-B14F-4D97-AF65-F5344CB8AC3E}">
        <p14:creationId xmlns:p14="http://schemas.microsoft.com/office/powerpoint/2010/main" val="3326810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Supply Impedance – Frequency Domain</a:t>
            </a:r>
          </a:p>
        </p:txBody>
      </p:sp>
      <p:sp>
        <p:nvSpPr>
          <p:cNvPr id="5" name="Straight Connector 4"/>
          <p:cNvSpPr/>
          <p:nvPr/>
        </p:nvSpPr>
        <p:spPr bwMode="auto">
          <a:xfrm>
            <a:off x="2711624" y="2881511"/>
            <a:ext cx="6876000" cy="0"/>
          </a:xfrm>
          <a:prstGeom prst="line">
            <a:avLst/>
          </a:prstGeom>
          <a:noFill/>
          <a:ln w="25400" cap="flat" cmpd="sng" algn="ctr">
            <a:solidFill>
              <a:srgbClr val="FF5108"/>
            </a:solidFill>
            <a:prstDash val="dash"/>
            <a:round/>
            <a:headEnd type="none" w="med" len="med"/>
            <a:tailEnd type="none" w="med" len="med"/>
          </a:ln>
          <a:effectLst/>
        </p:spPr>
        <p:txBody>
          <a:bodyPr vert="horz" wrap="none" lIns="91440" tIns="45720" rIns="91440" bIns="45720" numCol="1"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a:p>
        </p:txBody>
      </p:sp>
      <p:pic>
        <p:nvPicPr>
          <p:cNvPr id="6" name="Picture 5" descr="Ztot_Zvrm_Zbulk_Zplane_Zpkg.png"/>
          <p:cNvPicPr>
            <a:picLocks noChangeAspect="1"/>
          </p:cNvPicPr>
          <p:nvPr/>
        </p:nvPicPr>
        <p:blipFill>
          <a:blip r:embed="rId3"/>
          <a:stretch>
            <a:fillRect/>
          </a:stretch>
        </p:blipFill>
        <p:spPr>
          <a:xfrm>
            <a:off x="2231455" y="1030422"/>
            <a:ext cx="7729090" cy="4797156"/>
          </a:xfrm>
          <a:prstGeom prst="rect">
            <a:avLst/>
          </a:prstGeom>
        </p:spPr>
      </p:pic>
      <p:grpSp>
        <p:nvGrpSpPr>
          <p:cNvPr id="3" name="Group 6"/>
          <p:cNvGrpSpPr/>
          <p:nvPr/>
        </p:nvGrpSpPr>
        <p:grpSpPr>
          <a:xfrm>
            <a:off x="1847530" y="1988842"/>
            <a:ext cx="7954787" cy="4032447"/>
            <a:chOff x="323529" y="1988841"/>
            <a:chExt cx="7954787" cy="4032447"/>
          </a:xfrm>
        </p:grpSpPr>
        <p:sp>
          <p:nvSpPr>
            <p:cNvPr id="8" name="TextBox 7"/>
            <p:cNvSpPr txBox="1"/>
            <p:nvPr/>
          </p:nvSpPr>
          <p:spPr>
            <a:xfrm>
              <a:off x="1187624" y="5373216"/>
              <a:ext cx="458780" cy="307777"/>
            </a:xfrm>
            <a:prstGeom prst="rect">
              <a:avLst/>
            </a:prstGeom>
            <a:noFill/>
          </p:spPr>
          <p:txBody>
            <a:bodyPr wrap="none" rtlCol="0">
              <a:spAutoFit/>
            </a:bodyPr>
            <a:lstStyle/>
            <a:p>
              <a:r>
                <a:rPr lang="en-GB" sz="1400" b="1" dirty="0">
                  <a:latin typeface="Calibri" pitchFamily="34" charset="0"/>
                  <a:cs typeface="Calibri" pitchFamily="34" charset="0"/>
                </a:rPr>
                <a:t>100</a:t>
              </a:r>
            </a:p>
          </p:txBody>
        </p:sp>
        <p:sp>
          <p:nvSpPr>
            <p:cNvPr id="9" name="TextBox 8"/>
            <p:cNvSpPr txBox="1"/>
            <p:nvPr/>
          </p:nvSpPr>
          <p:spPr>
            <a:xfrm>
              <a:off x="2661692" y="5383436"/>
              <a:ext cx="465192" cy="307777"/>
            </a:xfrm>
            <a:prstGeom prst="rect">
              <a:avLst/>
            </a:prstGeom>
            <a:noFill/>
          </p:spPr>
          <p:txBody>
            <a:bodyPr wrap="none" rtlCol="0">
              <a:spAutoFit/>
            </a:bodyPr>
            <a:lstStyle/>
            <a:p>
              <a:r>
                <a:rPr lang="en-GB" sz="1400" b="1" dirty="0">
                  <a:latin typeface="Calibri" pitchFamily="34" charset="0"/>
                  <a:cs typeface="Calibri" pitchFamily="34" charset="0"/>
                </a:rPr>
                <a:t>10K</a:t>
              </a:r>
            </a:p>
          </p:txBody>
        </p:sp>
        <p:sp>
          <p:nvSpPr>
            <p:cNvPr id="10" name="TextBox 9"/>
            <p:cNvSpPr txBox="1"/>
            <p:nvPr/>
          </p:nvSpPr>
          <p:spPr>
            <a:xfrm>
              <a:off x="4388800" y="5383436"/>
              <a:ext cx="433132" cy="307777"/>
            </a:xfrm>
            <a:prstGeom prst="rect">
              <a:avLst/>
            </a:prstGeom>
            <a:noFill/>
          </p:spPr>
          <p:txBody>
            <a:bodyPr wrap="none" rtlCol="0">
              <a:spAutoFit/>
            </a:bodyPr>
            <a:lstStyle/>
            <a:p>
              <a:r>
                <a:rPr lang="en-GB" sz="1400" b="1" dirty="0">
                  <a:latin typeface="Calibri" pitchFamily="34" charset="0"/>
                  <a:cs typeface="Calibri" pitchFamily="34" charset="0"/>
                </a:rPr>
                <a:t>1M</a:t>
              </a:r>
            </a:p>
          </p:txBody>
        </p:sp>
        <p:sp>
          <p:nvSpPr>
            <p:cNvPr id="11" name="TextBox 10"/>
            <p:cNvSpPr txBox="1"/>
            <p:nvPr/>
          </p:nvSpPr>
          <p:spPr>
            <a:xfrm>
              <a:off x="6046068" y="5392961"/>
              <a:ext cx="615874" cy="307777"/>
            </a:xfrm>
            <a:prstGeom prst="rect">
              <a:avLst/>
            </a:prstGeom>
            <a:noFill/>
          </p:spPr>
          <p:txBody>
            <a:bodyPr wrap="none" rtlCol="0">
              <a:spAutoFit/>
            </a:bodyPr>
            <a:lstStyle/>
            <a:p>
              <a:r>
                <a:rPr lang="en-GB" sz="1400" b="1" dirty="0">
                  <a:latin typeface="Calibri" pitchFamily="34" charset="0"/>
                  <a:cs typeface="Calibri" pitchFamily="34" charset="0"/>
                </a:rPr>
                <a:t>100M</a:t>
              </a:r>
            </a:p>
          </p:txBody>
        </p:sp>
        <p:sp>
          <p:nvSpPr>
            <p:cNvPr id="12" name="TextBox 11"/>
            <p:cNvSpPr txBox="1"/>
            <p:nvPr/>
          </p:nvSpPr>
          <p:spPr>
            <a:xfrm>
              <a:off x="7797094" y="5392961"/>
              <a:ext cx="481222" cy="307777"/>
            </a:xfrm>
            <a:prstGeom prst="rect">
              <a:avLst/>
            </a:prstGeom>
            <a:noFill/>
          </p:spPr>
          <p:txBody>
            <a:bodyPr wrap="none" rtlCol="0">
              <a:spAutoFit/>
            </a:bodyPr>
            <a:lstStyle/>
            <a:p>
              <a:r>
                <a:rPr lang="en-GB" sz="1400" b="1" dirty="0">
                  <a:latin typeface="Calibri" pitchFamily="34" charset="0"/>
                  <a:cs typeface="Calibri" pitchFamily="34" charset="0"/>
                </a:rPr>
                <a:t>10G</a:t>
              </a:r>
            </a:p>
          </p:txBody>
        </p:sp>
        <p:sp>
          <p:nvSpPr>
            <p:cNvPr id="13" name="TextBox 12"/>
            <p:cNvSpPr txBox="1"/>
            <p:nvPr/>
          </p:nvSpPr>
          <p:spPr>
            <a:xfrm rot="16200000">
              <a:off x="-684279" y="2996649"/>
              <a:ext cx="2477281" cy="461665"/>
            </a:xfrm>
            <a:prstGeom prst="rect">
              <a:avLst/>
            </a:prstGeom>
            <a:noFill/>
          </p:spPr>
          <p:txBody>
            <a:bodyPr wrap="none" rtlCol="0">
              <a:spAutoFit/>
            </a:bodyPr>
            <a:lstStyle/>
            <a:p>
              <a:r>
                <a:rPr lang="en-GB" sz="2400" b="1" dirty="0">
                  <a:latin typeface="Calibri" pitchFamily="34" charset="0"/>
                </a:rPr>
                <a:t>Impedance (</a:t>
              </a:r>
              <a:r>
                <a:rPr lang="en-GB" sz="2400" b="1" dirty="0" err="1">
                  <a:latin typeface="Calibri" pitchFamily="34" charset="0"/>
                </a:rPr>
                <a:t>dB</a:t>
              </a:r>
              <a:r>
                <a:rPr lang="en-GB" sz="2400" b="1" dirty="0" err="1">
                  <a:latin typeface="Symbol" pitchFamily="18" charset="2"/>
                </a:rPr>
                <a:t>W</a:t>
              </a:r>
              <a:r>
                <a:rPr lang="en-GB" sz="2400" b="1" dirty="0">
                  <a:latin typeface="Calibri" pitchFamily="34" charset="0"/>
                </a:rPr>
                <a:t>)</a:t>
              </a:r>
            </a:p>
          </p:txBody>
        </p:sp>
        <p:sp>
          <p:nvSpPr>
            <p:cNvPr id="14" name="TextBox 13"/>
            <p:cNvSpPr txBox="1"/>
            <p:nvPr/>
          </p:nvSpPr>
          <p:spPr>
            <a:xfrm>
              <a:off x="3707904" y="5559623"/>
              <a:ext cx="2088777" cy="461665"/>
            </a:xfrm>
            <a:prstGeom prst="rect">
              <a:avLst/>
            </a:prstGeom>
            <a:noFill/>
          </p:spPr>
          <p:txBody>
            <a:bodyPr wrap="none" rtlCol="0">
              <a:spAutoFit/>
            </a:bodyPr>
            <a:lstStyle/>
            <a:p>
              <a:r>
                <a:rPr lang="en-GB" sz="2400" b="1" dirty="0">
                  <a:latin typeface="Calibri" pitchFamily="34" charset="0"/>
                </a:rPr>
                <a:t>Frequency (Hz)</a:t>
              </a:r>
            </a:p>
          </p:txBody>
        </p:sp>
      </p:grpSp>
      <p:sp>
        <p:nvSpPr>
          <p:cNvPr id="15" name="TextBox 14"/>
          <p:cNvSpPr txBox="1"/>
          <p:nvPr/>
        </p:nvSpPr>
        <p:spPr>
          <a:xfrm>
            <a:off x="3359696" y="4437112"/>
            <a:ext cx="651140" cy="369332"/>
          </a:xfrm>
          <a:prstGeom prst="rect">
            <a:avLst/>
          </a:prstGeom>
          <a:noFill/>
        </p:spPr>
        <p:txBody>
          <a:bodyPr wrap="none" rtlCol="0">
            <a:spAutoFit/>
          </a:bodyPr>
          <a:lstStyle/>
          <a:p>
            <a:r>
              <a:rPr lang="en-GB" b="1" dirty="0" err="1">
                <a:solidFill>
                  <a:srgbClr val="FF0000"/>
                </a:solidFill>
              </a:rPr>
              <a:t>Z</a:t>
            </a:r>
            <a:r>
              <a:rPr lang="en-GB" b="1" baseline="-25000" dirty="0" err="1">
                <a:solidFill>
                  <a:srgbClr val="FF0000"/>
                </a:solidFill>
              </a:rPr>
              <a:t>total</a:t>
            </a:r>
            <a:endParaRPr lang="en-GB" b="1" baseline="-25000" dirty="0">
              <a:solidFill>
                <a:srgbClr val="FF0000"/>
              </a:solidFill>
            </a:endParaRPr>
          </a:p>
        </p:txBody>
      </p:sp>
      <p:sp>
        <p:nvSpPr>
          <p:cNvPr id="16" name="TextBox 15"/>
          <p:cNvSpPr txBox="1"/>
          <p:nvPr/>
        </p:nvSpPr>
        <p:spPr>
          <a:xfrm>
            <a:off x="3359696" y="4869160"/>
            <a:ext cx="667170" cy="369332"/>
          </a:xfrm>
          <a:prstGeom prst="rect">
            <a:avLst/>
          </a:prstGeom>
          <a:noFill/>
        </p:spPr>
        <p:txBody>
          <a:bodyPr wrap="none" rtlCol="0">
            <a:spAutoFit/>
          </a:bodyPr>
          <a:lstStyle/>
          <a:p>
            <a:r>
              <a:rPr lang="en-GB" b="1" dirty="0">
                <a:solidFill>
                  <a:srgbClr val="9DB336"/>
                </a:solidFill>
              </a:rPr>
              <a:t>Z</a:t>
            </a:r>
            <a:r>
              <a:rPr lang="en-GB" b="1" baseline="-25000" dirty="0">
                <a:solidFill>
                  <a:srgbClr val="9DB336"/>
                </a:solidFill>
              </a:rPr>
              <a:t>VRM</a:t>
            </a:r>
          </a:p>
        </p:txBody>
      </p:sp>
      <p:sp>
        <p:nvSpPr>
          <p:cNvPr id="17" name="TextBox 16"/>
          <p:cNvSpPr txBox="1"/>
          <p:nvPr/>
        </p:nvSpPr>
        <p:spPr>
          <a:xfrm>
            <a:off x="3359697" y="1835532"/>
            <a:ext cx="752129" cy="369332"/>
          </a:xfrm>
          <a:prstGeom prst="rect">
            <a:avLst/>
          </a:prstGeom>
          <a:noFill/>
        </p:spPr>
        <p:txBody>
          <a:bodyPr wrap="none" rtlCol="0">
            <a:spAutoFit/>
          </a:bodyPr>
          <a:lstStyle/>
          <a:p>
            <a:r>
              <a:rPr lang="en-GB" b="1" dirty="0">
                <a:solidFill>
                  <a:srgbClr val="0070C0"/>
                </a:solidFill>
              </a:rPr>
              <a:t>Z</a:t>
            </a:r>
            <a:r>
              <a:rPr lang="en-GB" b="1" baseline="-25000" dirty="0">
                <a:solidFill>
                  <a:srgbClr val="0070C0"/>
                </a:solidFill>
              </a:rPr>
              <a:t>BULK</a:t>
            </a:r>
          </a:p>
        </p:txBody>
      </p:sp>
      <p:sp>
        <p:nvSpPr>
          <p:cNvPr id="18" name="TextBox 17"/>
          <p:cNvSpPr txBox="1"/>
          <p:nvPr/>
        </p:nvSpPr>
        <p:spPr>
          <a:xfrm>
            <a:off x="5127847" y="1844824"/>
            <a:ext cx="1281120" cy="369332"/>
          </a:xfrm>
          <a:prstGeom prst="rect">
            <a:avLst/>
          </a:prstGeom>
          <a:noFill/>
        </p:spPr>
        <p:txBody>
          <a:bodyPr wrap="none" rtlCol="0">
            <a:spAutoFit/>
          </a:bodyPr>
          <a:lstStyle/>
          <a:p>
            <a:r>
              <a:rPr lang="en-GB" b="1" dirty="0">
                <a:solidFill>
                  <a:srgbClr val="C00000"/>
                </a:solidFill>
              </a:rPr>
              <a:t>Z</a:t>
            </a:r>
            <a:r>
              <a:rPr lang="en-GB" b="1" baseline="-25000" dirty="0">
                <a:solidFill>
                  <a:srgbClr val="C00000"/>
                </a:solidFill>
              </a:rPr>
              <a:t>PKG_DECAP</a:t>
            </a:r>
          </a:p>
        </p:txBody>
      </p:sp>
      <p:sp>
        <p:nvSpPr>
          <p:cNvPr id="19" name="TextBox 18"/>
          <p:cNvSpPr txBox="1"/>
          <p:nvPr/>
        </p:nvSpPr>
        <p:spPr>
          <a:xfrm>
            <a:off x="6384032" y="1412776"/>
            <a:ext cx="1814920" cy="369332"/>
          </a:xfrm>
          <a:prstGeom prst="rect">
            <a:avLst/>
          </a:prstGeom>
          <a:noFill/>
        </p:spPr>
        <p:txBody>
          <a:bodyPr wrap="none" rtlCol="0">
            <a:spAutoFit/>
          </a:bodyPr>
          <a:lstStyle/>
          <a:p>
            <a:r>
              <a:rPr lang="en-GB" b="1" dirty="0">
                <a:solidFill>
                  <a:srgbClr val="7030A8"/>
                </a:solidFill>
              </a:rPr>
              <a:t>Z</a:t>
            </a:r>
            <a:r>
              <a:rPr lang="en-GB" b="1" baseline="-25000" dirty="0">
                <a:solidFill>
                  <a:srgbClr val="7030A8"/>
                </a:solidFill>
              </a:rPr>
              <a:t>DIE_DECAP+PLANE</a:t>
            </a:r>
          </a:p>
        </p:txBody>
      </p:sp>
      <p:sp>
        <p:nvSpPr>
          <p:cNvPr id="20" name="TextBox 19"/>
          <p:cNvSpPr txBox="1"/>
          <p:nvPr/>
        </p:nvSpPr>
        <p:spPr>
          <a:xfrm>
            <a:off x="9321094" y="2512179"/>
            <a:ext cx="615874" cy="369332"/>
          </a:xfrm>
          <a:prstGeom prst="rect">
            <a:avLst/>
          </a:prstGeom>
          <a:noFill/>
        </p:spPr>
        <p:txBody>
          <a:bodyPr wrap="none" rtlCol="0">
            <a:spAutoFit/>
          </a:bodyPr>
          <a:lstStyle/>
          <a:p>
            <a:r>
              <a:rPr lang="en-GB" b="1" dirty="0" err="1">
                <a:solidFill>
                  <a:srgbClr val="FF5108"/>
                </a:solidFill>
              </a:rPr>
              <a:t>Z</a:t>
            </a:r>
            <a:r>
              <a:rPr lang="en-GB" b="1" baseline="-25000" dirty="0" err="1">
                <a:solidFill>
                  <a:srgbClr val="FF5108"/>
                </a:solidFill>
              </a:rPr>
              <a:t>targ</a:t>
            </a:r>
            <a:endParaRPr lang="en-GB" b="1" baseline="-25000" dirty="0">
              <a:solidFill>
                <a:srgbClr val="FF5108"/>
              </a:solidFill>
            </a:endParaRPr>
          </a:p>
        </p:txBody>
      </p:sp>
    </p:spTree>
    <p:extLst>
      <p:ext uri="{BB962C8B-B14F-4D97-AF65-F5344CB8AC3E}">
        <p14:creationId xmlns:p14="http://schemas.microsoft.com/office/powerpoint/2010/main" val="14021196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Supply Impedance – Time Domain</a:t>
            </a:r>
          </a:p>
        </p:txBody>
      </p:sp>
      <p:grpSp>
        <p:nvGrpSpPr>
          <p:cNvPr id="14" name="Group 13"/>
          <p:cNvGrpSpPr>
            <a:grpSpLocks noChangeAspect="1"/>
          </p:cNvGrpSpPr>
          <p:nvPr/>
        </p:nvGrpSpPr>
        <p:grpSpPr>
          <a:xfrm>
            <a:off x="2258671" y="873357"/>
            <a:ext cx="7318218" cy="5456814"/>
            <a:chOff x="2223900" y="1870669"/>
            <a:chExt cx="4065676" cy="3031563"/>
          </a:xfrm>
        </p:grpSpPr>
        <p:pic>
          <p:nvPicPr>
            <p:cNvPr id="4" name="Picture 3"/>
            <p:cNvPicPr>
              <a:picLocks noChangeAspect="1"/>
            </p:cNvPicPr>
            <p:nvPr/>
          </p:nvPicPr>
          <p:blipFill>
            <a:blip r:embed="rId2"/>
            <a:stretch>
              <a:fillRect/>
            </a:stretch>
          </p:blipFill>
          <p:spPr>
            <a:xfrm>
              <a:off x="2555776" y="1870669"/>
              <a:ext cx="3733800" cy="2844800"/>
            </a:xfrm>
            <a:prstGeom prst="rect">
              <a:avLst/>
            </a:prstGeom>
          </p:spPr>
        </p:pic>
        <p:sp>
          <p:nvSpPr>
            <p:cNvPr id="5" name="TextBox 4"/>
            <p:cNvSpPr txBox="1"/>
            <p:nvPr/>
          </p:nvSpPr>
          <p:spPr>
            <a:xfrm rot="16200000">
              <a:off x="1806941" y="3086466"/>
              <a:ext cx="1158793" cy="324876"/>
            </a:xfrm>
            <a:prstGeom prst="rect">
              <a:avLst/>
            </a:prstGeom>
            <a:noFill/>
          </p:spPr>
          <p:txBody>
            <a:bodyPr wrap="none" rtlCol="0">
              <a:spAutoFit/>
            </a:bodyPr>
            <a:lstStyle/>
            <a:p>
              <a:r>
                <a:rPr lang="en-GB" sz="3200" b="1" dirty="0">
                  <a:latin typeface="Calibri" pitchFamily="34" charset="0"/>
                </a:rPr>
                <a:t>Voltage (V)</a:t>
              </a:r>
            </a:p>
          </p:txBody>
        </p:sp>
        <p:sp>
          <p:nvSpPr>
            <p:cNvPr id="6" name="TextBox 5"/>
            <p:cNvSpPr txBox="1"/>
            <p:nvPr/>
          </p:nvSpPr>
          <p:spPr>
            <a:xfrm>
              <a:off x="3986241" y="4577356"/>
              <a:ext cx="978567" cy="324876"/>
            </a:xfrm>
            <a:prstGeom prst="rect">
              <a:avLst/>
            </a:prstGeom>
            <a:noFill/>
          </p:spPr>
          <p:txBody>
            <a:bodyPr wrap="none" rtlCol="0">
              <a:spAutoFit/>
            </a:bodyPr>
            <a:lstStyle/>
            <a:p>
              <a:r>
                <a:rPr lang="en-GB" sz="3200" b="1" dirty="0">
                  <a:latin typeface="Calibri" pitchFamily="34" charset="0"/>
                </a:rPr>
                <a:t>Time (ns)</a:t>
              </a:r>
            </a:p>
          </p:txBody>
        </p:sp>
        <p:sp>
          <p:nvSpPr>
            <p:cNvPr id="7" name="TextBox 6"/>
            <p:cNvSpPr txBox="1"/>
            <p:nvPr/>
          </p:nvSpPr>
          <p:spPr>
            <a:xfrm>
              <a:off x="4561384" y="2221417"/>
              <a:ext cx="1185621" cy="256481"/>
            </a:xfrm>
            <a:prstGeom prst="rect">
              <a:avLst/>
            </a:prstGeom>
            <a:noFill/>
          </p:spPr>
          <p:txBody>
            <a:bodyPr wrap="none" rtlCol="0">
              <a:spAutoFit/>
            </a:bodyPr>
            <a:lstStyle/>
            <a:p>
              <a:r>
                <a:rPr lang="en-US" sz="2400" b="1" dirty="0">
                  <a:solidFill>
                    <a:srgbClr val="0000FF"/>
                  </a:solidFill>
                </a:rPr>
                <a:t>Nominal VDD</a:t>
              </a:r>
              <a:endParaRPr lang="en-US" sz="2400" b="1" baseline="-25000" dirty="0">
                <a:solidFill>
                  <a:srgbClr val="0000FF"/>
                </a:solidFill>
              </a:endParaRPr>
            </a:p>
          </p:txBody>
        </p:sp>
        <p:sp>
          <p:nvSpPr>
            <p:cNvPr id="8" name="TextBox 7"/>
            <p:cNvSpPr txBox="1"/>
            <p:nvPr/>
          </p:nvSpPr>
          <p:spPr>
            <a:xfrm>
              <a:off x="3415834" y="3692355"/>
              <a:ext cx="1819586" cy="256481"/>
            </a:xfrm>
            <a:prstGeom prst="rect">
              <a:avLst/>
            </a:prstGeom>
            <a:noFill/>
          </p:spPr>
          <p:txBody>
            <a:bodyPr wrap="none" rtlCol="0">
              <a:spAutoFit/>
            </a:bodyPr>
            <a:lstStyle/>
            <a:p>
              <a:r>
                <a:rPr lang="en-US" sz="2400" b="1" dirty="0">
                  <a:solidFill>
                    <a:srgbClr val="0000FF"/>
                  </a:solidFill>
                </a:rPr>
                <a:t>1</a:t>
              </a:r>
              <a:r>
                <a:rPr lang="en-US" sz="2400" b="1" baseline="30000" dirty="0">
                  <a:solidFill>
                    <a:srgbClr val="0000FF"/>
                  </a:solidFill>
                </a:rPr>
                <a:t>st</a:t>
              </a:r>
              <a:r>
                <a:rPr lang="en-US" sz="2400" b="1" dirty="0">
                  <a:solidFill>
                    <a:srgbClr val="0000FF"/>
                  </a:solidFill>
                </a:rPr>
                <a:t> Order Resonance </a:t>
              </a:r>
              <a:endParaRPr lang="en-US" sz="2400" b="1" baseline="-25000" dirty="0">
                <a:solidFill>
                  <a:srgbClr val="0000FF"/>
                </a:solidFill>
              </a:endParaRPr>
            </a:p>
          </p:txBody>
        </p:sp>
        <p:cxnSp>
          <p:nvCxnSpPr>
            <p:cNvPr id="9" name="Straight Arrow Connector 8"/>
            <p:cNvCxnSpPr/>
            <p:nvPr/>
          </p:nvCxnSpPr>
          <p:spPr bwMode="auto">
            <a:xfrm flipH="1">
              <a:off x="2977208" y="3896185"/>
              <a:ext cx="438626" cy="0"/>
            </a:xfrm>
            <a:prstGeom prst="straightConnector1">
              <a:avLst/>
            </a:prstGeom>
            <a:noFill/>
            <a:ln w="25400" cap="flat" cmpd="sng" algn="ctr">
              <a:solidFill>
                <a:srgbClr val="0000FF"/>
              </a:solidFill>
              <a:prstDash val="solid"/>
              <a:round/>
              <a:headEnd type="none" w="med" len="med"/>
              <a:tailEnd type="arrow"/>
            </a:ln>
            <a:effectLst/>
          </p:spPr>
        </p:cxnSp>
        <p:cxnSp>
          <p:nvCxnSpPr>
            <p:cNvPr id="10" name="Straight Arrow Connector 9"/>
            <p:cNvCxnSpPr/>
            <p:nvPr/>
          </p:nvCxnSpPr>
          <p:spPr bwMode="auto">
            <a:xfrm>
              <a:off x="3193232" y="2590749"/>
              <a:ext cx="0" cy="381661"/>
            </a:xfrm>
            <a:prstGeom prst="straightConnector1">
              <a:avLst/>
            </a:prstGeom>
            <a:noFill/>
            <a:ln w="25400" cap="flat" cmpd="sng" algn="ctr">
              <a:solidFill>
                <a:srgbClr val="0000FF"/>
              </a:solidFill>
              <a:prstDash val="solid"/>
              <a:round/>
              <a:headEnd type="none" w="med" len="med"/>
              <a:tailEnd type="arrow"/>
            </a:ln>
            <a:effectLst/>
          </p:spPr>
        </p:cxnSp>
        <p:sp>
          <p:nvSpPr>
            <p:cNvPr id="11" name="TextBox 10"/>
            <p:cNvSpPr txBox="1"/>
            <p:nvPr/>
          </p:nvSpPr>
          <p:spPr>
            <a:xfrm>
              <a:off x="3048060" y="3022797"/>
              <a:ext cx="1657340" cy="461665"/>
            </a:xfrm>
            <a:prstGeom prst="rect">
              <a:avLst/>
            </a:prstGeom>
            <a:noFill/>
          </p:spPr>
          <p:txBody>
            <a:bodyPr wrap="square" rtlCol="0">
              <a:spAutoFit/>
            </a:bodyPr>
            <a:lstStyle/>
            <a:p>
              <a:r>
                <a:rPr lang="en-US" sz="2400" b="1" dirty="0">
                  <a:solidFill>
                    <a:srgbClr val="0000FF"/>
                  </a:solidFill>
                </a:rPr>
                <a:t>2</a:t>
              </a:r>
              <a:r>
                <a:rPr lang="en-US" sz="2400" b="1" baseline="30000" dirty="0">
                  <a:solidFill>
                    <a:srgbClr val="0000FF"/>
                  </a:solidFill>
                </a:rPr>
                <a:t>nd</a:t>
              </a:r>
              <a:r>
                <a:rPr lang="en-US" sz="2400" b="1" dirty="0">
                  <a:solidFill>
                    <a:srgbClr val="0000FF"/>
                  </a:solidFill>
                </a:rPr>
                <a:t> Order Resonance </a:t>
              </a:r>
              <a:endParaRPr lang="en-US" sz="2400" b="1" baseline="-25000" dirty="0">
                <a:solidFill>
                  <a:srgbClr val="0000FF"/>
                </a:solidFill>
              </a:endParaRPr>
            </a:p>
          </p:txBody>
        </p:sp>
        <p:cxnSp>
          <p:nvCxnSpPr>
            <p:cNvPr id="12" name="Straight Arrow Connector 11"/>
            <p:cNvCxnSpPr/>
            <p:nvPr/>
          </p:nvCxnSpPr>
          <p:spPr bwMode="auto">
            <a:xfrm>
              <a:off x="4633392" y="2615407"/>
              <a:ext cx="0" cy="191366"/>
            </a:xfrm>
            <a:prstGeom prst="straightConnector1">
              <a:avLst/>
            </a:prstGeom>
            <a:noFill/>
            <a:ln w="25400" cap="flat" cmpd="sng" algn="ctr">
              <a:solidFill>
                <a:srgbClr val="0000FF"/>
              </a:solidFill>
              <a:prstDash val="solid"/>
              <a:round/>
              <a:headEnd type="none" w="med" len="med"/>
              <a:tailEnd type="arrow"/>
            </a:ln>
            <a:effectLst/>
          </p:spPr>
        </p:cxnSp>
        <p:sp>
          <p:nvSpPr>
            <p:cNvPr id="13" name="TextBox 12"/>
            <p:cNvSpPr txBox="1"/>
            <p:nvPr/>
          </p:nvSpPr>
          <p:spPr>
            <a:xfrm>
              <a:off x="4129336" y="2797481"/>
              <a:ext cx="1816915" cy="256481"/>
            </a:xfrm>
            <a:prstGeom prst="rect">
              <a:avLst/>
            </a:prstGeom>
            <a:noFill/>
          </p:spPr>
          <p:txBody>
            <a:bodyPr wrap="none" rtlCol="0">
              <a:spAutoFit/>
            </a:bodyPr>
            <a:lstStyle/>
            <a:p>
              <a:r>
                <a:rPr lang="en-US" sz="2400" b="1" dirty="0">
                  <a:solidFill>
                    <a:srgbClr val="0000FF"/>
                  </a:solidFill>
                </a:rPr>
                <a:t>3</a:t>
              </a:r>
              <a:r>
                <a:rPr lang="en-US" sz="2400" b="1" baseline="30000" dirty="0">
                  <a:solidFill>
                    <a:srgbClr val="0000FF"/>
                  </a:solidFill>
                </a:rPr>
                <a:t>rd</a:t>
              </a:r>
              <a:r>
                <a:rPr lang="en-US" sz="2400" b="1" dirty="0">
                  <a:solidFill>
                    <a:srgbClr val="0000FF"/>
                  </a:solidFill>
                </a:rPr>
                <a:t> Order Resonance</a:t>
              </a:r>
              <a:r>
                <a:rPr lang="en-US" sz="1600" b="1" dirty="0">
                  <a:solidFill>
                    <a:srgbClr val="0000FF"/>
                  </a:solidFill>
                </a:rPr>
                <a:t> </a:t>
              </a:r>
              <a:endParaRPr lang="en-US" sz="1600" b="1" baseline="-25000" dirty="0">
                <a:solidFill>
                  <a:srgbClr val="0000FF"/>
                </a:solidFill>
              </a:endParaRPr>
            </a:p>
          </p:txBody>
        </p:sp>
      </p:grpSp>
    </p:spTree>
    <p:extLst>
      <p:ext uri="{BB962C8B-B14F-4D97-AF65-F5344CB8AC3E}">
        <p14:creationId xmlns:p14="http://schemas.microsoft.com/office/powerpoint/2010/main" val="34204783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744072"/>
            <a:ext cx="6781800" cy="3747837"/>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a:t>The Power Supply Noise Problem</a:t>
            </a:r>
          </a:p>
        </p:txBody>
      </p:sp>
      <p:sp>
        <p:nvSpPr>
          <p:cNvPr id="3" name="Content Placeholder 2"/>
          <p:cNvSpPr>
            <a:spLocks noGrp="1"/>
          </p:cNvSpPr>
          <p:nvPr>
            <p:ph idx="1"/>
          </p:nvPr>
        </p:nvSpPr>
        <p:spPr>
          <a:xfrm>
            <a:off x="1676400" y="4491909"/>
            <a:ext cx="8839200" cy="2097151"/>
          </a:xfrm>
        </p:spPr>
        <p:txBody>
          <a:bodyPr/>
          <a:lstStyle/>
          <a:p>
            <a:r>
              <a:rPr lang="en-US" dirty="0"/>
              <a:t>Resistive Droop (fast, more localized)</a:t>
            </a:r>
          </a:p>
          <a:p>
            <a:r>
              <a:rPr lang="en-US" dirty="0" err="1"/>
              <a:t>LdI</a:t>
            </a:r>
            <a:r>
              <a:rPr lang="en-US" dirty="0"/>
              <a:t>/</a:t>
            </a:r>
            <a:r>
              <a:rPr lang="en-US" dirty="0" err="1"/>
              <a:t>dt</a:t>
            </a:r>
            <a:r>
              <a:rPr lang="en-US" dirty="0"/>
              <a:t> droop (slower, not-localized)</a:t>
            </a:r>
          </a:p>
          <a:p>
            <a:pPr lvl="1"/>
            <a:r>
              <a:rPr lang="en-US" dirty="0"/>
              <a:t>Multiple modes (1</a:t>
            </a:r>
            <a:r>
              <a:rPr lang="en-US" baseline="30000" dirty="0"/>
              <a:t>st</a:t>
            </a:r>
            <a:r>
              <a:rPr lang="en-US" dirty="0"/>
              <a:t>, 2</a:t>
            </a:r>
            <a:r>
              <a:rPr lang="en-US" baseline="30000" dirty="0"/>
              <a:t>nd</a:t>
            </a:r>
            <a:r>
              <a:rPr lang="en-US" dirty="0"/>
              <a:t> and 3</a:t>
            </a:r>
            <a:r>
              <a:rPr lang="en-US" baseline="30000" dirty="0"/>
              <a:t>rd</a:t>
            </a:r>
            <a:r>
              <a:rPr lang="en-US" dirty="0"/>
              <a:t> droops)</a:t>
            </a:r>
          </a:p>
          <a:p>
            <a:pPr lvl="1"/>
            <a:r>
              <a:rPr lang="en-US" dirty="0"/>
              <a:t>1</a:t>
            </a:r>
            <a:r>
              <a:rPr lang="en-US" baseline="30000" dirty="0"/>
              <a:t>st</a:t>
            </a:r>
            <a:r>
              <a:rPr lang="en-US" dirty="0"/>
              <a:t> and 2</a:t>
            </a:r>
            <a:r>
              <a:rPr lang="en-US" baseline="30000" dirty="0"/>
              <a:t>nd</a:t>
            </a:r>
            <a:r>
              <a:rPr lang="en-US" dirty="0"/>
              <a:t> droops typically dominant</a:t>
            </a:r>
          </a:p>
          <a:p>
            <a:pPr lvl="1"/>
            <a:r>
              <a:rPr lang="en-US" dirty="0"/>
              <a:t>Sufficiently slow to enable mitigation</a:t>
            </a:r>
          </a:p>
          <a:p>
            <a:pPr marL="457200" lvl="1" indent="0">
              <a:buNone/>
            </a:pPr>
            <a:endParaRPr lang="en-US" dirty="0"/>
          </a:p>
        </p:txBody>
      </p:sp>
      <p:sp>
        <p:nvSpPr>
          <p:cNvPr id="4" name="Slide Number Placeholder 3"/>
          <p:cNvSpPr>
            <a:spLocks noGrp="1"/>
          </p:cNvSpPr>
          <p:nvPr>
            <p:ph type="sldNum" sz="quarter" idx="10"/>
          </p:nvPr>
        </p:nvSpPr>
        <p:spPr/>
        <p:txBody>
          <a:bodyPr/>
          <a:lstStyle/>
          <a:p>
            <a:fld id="{7D4E4B3C-6D75-45C2-A79F-093804AEFBBA}" type="slidenum">
              <a:rPr lang="en-US" altLang="ja-JP" smtClean="0"/>
              <a:pPr/>
              <a:t>24</a:t>
            </a:fld>
            <a:endParaRPr lang="en-US" altLang="ja-JP" dirty="0"/>
          </a:p>
        </p:txBody>
      </p:sp>
      <p:sp>
        <p:nvSpPr>
          <p:cNvPr id="6" name="TextBox 5"/>
          <p:cNvSpPr txBox="1"/>
          <p:nvPr/>
        </p:nvSpPr>
        <p:spPr>
          <a:xfrm>
            <a:off x="8090647" y="5315635"/>
            <a:ext cx="1556836" cy="646331"/>
          </a:xfrm>
          <a:prstGeom prst="rect">
            <a:avLst/>
          </a:prstGeom>
          <a:noFill/>
        </p:spPr>
        <p:txBody>
          <a:bodyPr wrap="none" rtlCol="0">
            <a:spAutoFit/>
          </a:bodyPr>
          <a:lstStyle/>
          <a:p>
            <a:r>
              <a:rPr lang="en-US" dirty="0">
                <a:solidFill>
                  <a:srgbClr val="FF0000"/>
                </a:solidFill>
              </a:rPr>
              <a:t>Focus of this </a:t>
            </a:r>
          </a:p>
          <a:p>
            <a:r>
              <a:rPr lang="en-US" dirty="0">
                <a:solidFill>
                  <a:srgbClr val="FF0000"/>
                </a:solidFill>
              </a:rPr>
              <a:t>tutorial</a:t>
            </a:r>
          </a:p>
        </p:txBody>
      </p:sp>
      <p:cxnSp>
        <p:nvCxnSpPr>
          <p:cNvPr id="9" name="Straight Arrow Connector 8"/>
          <p:cNvCxnSpPr/>
          <p:nvPr/>
        </p:nvCxnSpPr>
        <p:spPr>
          <a:xfrm flipH="1">
            <a:off x="6858000" y="5638801"/>
            <a:ext cx="1219200" cy="323165"/>
          </a:xfrm>
          <a:prstGeom prst="straightConnector1">
            <a:avLst/>
          </a:prstGeom>
          <a:ln w="31750">
            <a:solidFill>
              <a:srgbClr val="FF3300"/>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0850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Supply Noise: Stimulus and Response</a:t>
            </a:r>
          </a:p>
        </p:txBody>
      </p:sp>
      <p:sp>
        <p:nvSpPr>
          <p:cNvPr id="3" name="Content Placeholder 2"/>
          <p:cNvSpPr>
            <a:spLocks noGrp="1"/>
          </p:cNvSpPr>
          <p:nvPr>
            <p:ph idx="1"/>
          </p:nvPr>
        </p:nvSpPr>
        <p:spPr>
          <a:xfrm>
            <a:off x="1676400" y="5585200"/>
            <a:ext cx="8839200" cy="1044199"/>
          </a:xfrm>
        </p:spPr>
        <p:txBody>
          <a:bodyPr/>
          <a:lstStyle/>
          <a:p>
            <a:r>
              <a:rPr lang="en-US" dirty="0"/>
              <a:t>Step response to current ramp</a:t>
            </a:r>
          </a:p>
          <a:p>
            <a:r>
              <a:rPr lang="en-US" dirty="0"/>
              <a:t>Faster Ramp </a:t>
            </a:r>
            <a:r>
              <a:rPr lang="en-US" dirty="0">
                <a:sym typeface="Wingdings" panose="05000000000000000000" pitchFamily="2" charset="2"/>
              </a:rPr>
              <a:t> Higher first droop</a:t>
            </a:r>
          </a:p>
        </p:txBody>
      </p:sp>
      <p:sp>
        <p:nvSpPr>
          <p:cNvPr id="4" name="Slide Number Placeholder 3"/>
          <p:cNvSpPr>
            <a:spLocks noGrp="1"/>
          </p:cNvSpPr>
          <p:nvPr>
            <p:ph type="sldNum" sz="quarter" idx="10"/>
          </p:nvPr>
        </p:nvSpPr>
        <p:spPr/>
        <p:txBody>
          <a:bodyPr/>
          <a:lstStyle/>
          <a:p>
            <a:fld id="{7D4E4B3C-6D75-45C2-A79F-093804AEFBBA}" type="slidenum">
              <a:rPr lang="en-US" altLang="ja-JP" smtClean="0"/>
              <a:pPr/>
              <a:t>25</a:t>
            </a:fld>
            <a:endParaRPr lang="en-US" altLang="ja-JP" dirty="0"/>
          </a:p>
        </p:txBody>
      </p:sp>
      <p:pic>
        <p:nvPicPr>
          <p:cNvPr id="7" name="Picture 6"/>
          <p:cNvPicPr>
            <a:picLocks noChangeAspect="1"/>
          </p:cNvPicPr>
          <p:nvPr/>
        </p:nvPicPr>
        <p:blipFill>
          <a:blip r:embed="rId2"/>
          <a:stretch>
            <a:fillRect/>
          </a:stretch>
        </p:blipFill>
        <p:spPr>
          <a:xfrm>
            <a:off x="1524000" y="762000"/>
            <a:ext cx="9047022" cy="4922000"/>
          </a:xfrm>
          <a:prstGeom prst="rect">
            <a:avLst/>
          </a:prstGeom>
        </p:spPr>
      </p:pic>
    </p:spTree>
    <p:extLst>
      <p:ext uri="{BB962C8B-B14F-4D97-AF65-F5344CB8AC3E}">
        <p14:creationId xmlns:p14="http://schemas.microsoft.com/office/powerpoint/2010/main" val="31228728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152400"/>
            <a:ext cx="8991600" cy="609600"/>
          </a:xfrm>
        </p:spPr>
        <p:txBody>
          <a:bodyPr/>
          <a:lstStyle/>
          <a:p>
            <a:r>
              <a:rPr lang="en-US" dirty="0"/>
              <a:t>Power Delivery Network: Frequency Response</a:t>
            </a:r>
          </a:p>
        </p:txBody>
      </p:sp>
      <p:sp>
        <p:nvSpPr>
          <p:cNvPr id="3" name="Content Placeholder 2"/>
          <p:cNvSpPr>
            <a:spLocks noGrp="1"/>
          </p:cNvSpPr>
          <p:nvPr>
            <p:ph idx="1"/>
          </p:nvPr>
        </p:nvSpPr>
        <p:spPr>
          <a:xfrm>
            <a:off x="1676400" y="5410200"/>
            <a:ext cx="8839200" cy="1143000"/>
          </a:xfrm>
        </p:spPr>
        <p:txBody>
          <a:bodyPr/>
          <a:lstStyle/>
          <a:p>
            <a:r>
              <a:rPr lang="en-US" dirty="0"/>
              <a:t>Droops correspond to LC resonance with different passives in the network</a:t>
            </a:r>
          </a:p>
        </p:txBody>
      </p:sp>
      <p:sp>
        <p:nvSpPr>
          <p:cNvPr id="4" name="Slide Number Placeholder 3"/>
          <p:cNvSpPr>
            <a:spLocks noGrp="1"/>
          </p:cNvSpPr>
          <p:nvPr>
            <p:ph type="sldNum" sz="quarter" idx="10"/>
          </p:nvPr>
        </p:nvSpPr>
        <p:spPr/>
        <p:txBody>
          <a:bodyPr/>
          <a:lstStyle/>
          <a:p>
            <a:fld id="{7D4E4B3C-6D75-45C2-A79F-093804AEFBBA}" type="slidenum">
              <a:rPr lang="en-US" altLang="ja-JP" smtClean="0"/>
              <a:pPr/>
              <a:t>26</a:t>
            </a:fld>
            <a:endParaRPr lang="en-US" altLang="ja-JP" dirty="0"/>
          </a:p>
        </p:txBody>
      </p:sp>
      <p:pic>
        <p:nvPicPr>
          <p:cNvPr id="5" name="Picture 4"/>
          <p:cNvPicPr>
            <a:picLocks noChangeAspect="1"/>
          </p:cNvPicPr>
          <p:nvPr/>
        </p:nvPicPr>
        <p:blipFill>
          <a:blip r:embed="rId2"/>
          <a:stretch>
            <a:fillRect/>
          </a:stretch>
        </p:blipFill>
        <p:spPr>
          <a:xfrm>
            <a:off x="1752600" y="843682"/>
            <a:ext cx="8686800" cy="4566518"/>
          </a:xfrm>
          <a:prstGeom prst="rect">
            <a:avLst/>
          </a:prstGeom>
        </p:spPr>
      </p:pic>
    </p:spTree>
    <p:extLst>
      <p:ext uri="{BB962C8B-B14F-4D97-AF65-F5344CB8AC3E}">
        <p14:creationId xmlns:p14="http://schemas.microsoft.com/office/powerpoint/2010/main" val="12385526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152400"/>
            <a:ext cx="8991600" cy="609600"/>
          </a:xfrm>
        </p:spPr>
        <p:txBody>
          <a:bodyPr/>
          <a:lstStyle/>
          <a:p>
            <a:r>
              <a:rPr lang="en-US" dirty="0"/>
              <a:t>Side-note High-density </a:t>
            </a:r>
            <a:r>
              <a:rPr lang="en-US" dirty="0" err="1"/>
              <a:t>Decap</a:t>
            </a:r>
            <a:endParaRPr lang="en-US" dirty="0"/>
          </a:p>
        </p:txBody>
      </p:sp>
      <p:sp>
        <p:nvSpPr>
          <p:cNvPr id="3" name="Content Placeholder 2"/>
          <p:cNvSpPr>
            <a:spLocks noGrp="1"/>
          </p:cNvSpPr>
          <p:nvPr>
            <p:ph idx="1"/>
          </p:nvPr>
        </p:nvSpPr>
        <p:spPr>
          <a:xfrm>
            <a:off x="1676400" y="5410200"/>
            <a:ext cx="8839200" cy="1143000"/>
          </a:xfrm>
        </p:spPr>
        <p:txBody>
          <a:bodyPr/>
          <a:lstStyle/>
          <a:p>
            <a:r>
              <a:rPr lang="en-US" dirty="0"/>
              <a:t>Droops correspond to LC resonance with different passives in the network</a:t>
            </a:r>
          </a:p>
        </p:txBody>
      </p:sp>
      <p:sp>
        <p:nvSpPr>
          <p:cNvPr id="4" name="Slide Number Placeholder 3"/>
          <p:cNvSpPr>
            <a:spLocks noGrp="1"/>
          </p:cNvSpPr>
          <p:nvPr>
            <p:ph type="sldNum" sz="quarter" idx="10"/>
          </p:nvPr>
        </p:nvSpPr>
        <p:spPr/>
        <p:txBody>
          <a:bodyPr/>
          <a:lstStyle/>
          <a:p>
            <a:fld id="{7D4E4B3C-6D75-45C2-A79F-093804AEFBBA}" type="slidenum">
              <a:rPr lang="en-US" altLang="ja-JP" smtClean="0"/>
              <a:pPr/>
              <a:t>27</a:t>
            </a:fld>
            <a:endParaRPr lang="en-US" altLang="ja-JP" dirty="0"/>
          </a:p>
        </p:txBody>
      </p:sp>
      <p:pic>
        <p:nvPicPr>
          <p:cNvPr id="7" name="Picture 6"/>
          <p:cNvPicPr>
            <a:picLocks noChangeAspect="1"/>
          </p:cNvPicPr>
          <p:nvPr/>
        </p:nvPicPr>
        <p:blipFill>
          <a:blip r:embed="rId2"/>
          <a:stretch>
            <a:fillRect/>
          </a:stretch>
        </p:blipFill>
        <p:spPr>
          <a:xfrm>
            <a:off x="1665383" y="776690"/>
            <a:ext cx="8715376" cy="4581541"/>
          </a:xfrm>
          <a:prstGeom prst="rect">
            <a:avLst/>
          </a:prstGeom>
        </p:spPr>
      </p:pic>
      <p:pic>
        <p:nvPicPr>
          <p:cNvPr id="5" name="Picture 4"/>
          <p:cNvPicPr>
            <a:picLocks noChangeAspect="1"/>
          </p:cNvPicPr>
          <p:nvPr/>
        </p:nvPicPr>
        <p:blipFill>
          <a:blip r:embed="rId3"/>
          <a:stretch>
            <a:fillRect/>
          </a:stretch>
        </p:blipFill>
        <p:spPr>
          <a:xfrm>
            <a:off x="1670304" y="777240"/>
            <a:ext cx="8714622" cy="4581144"/>
          </a:xfrm>
          <a:prstGeom prst="rect">
            <a:avLst/>
          </a:prstGeom>
        </p:spPr>
      </p:pic>
    </p:spTree>
    <p:extLst>
      <p:ext uri="{BB962C8B-B14F-4D97-AF65-F5344CB8AC3E}">
        <p14:creationId xmlns:p14="http://schemas.microsoft.com/office/powerpoint/2010/main" val="2229269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1600200" y="874486"/>
            <a:ext cx="4476000" cy="3316514"/>
          </a:xfrm>
          <a:prstGeom prst="rect">
            <a:avLst/>
          </a:prstGeom>
        </p:spPr>
      </p:pic>
      <p:sp>
        <p:nvSpPr>
          <p:cNvPr id="2" name="Title 1"/>
          <p:cNvSpPr>
            <a:spLocks noGrp="1"/>
          </p:cNvSpPr>
          <p:nvPr>
            <p:ph type="title"/>
          </p:nvPr>
        </p:nvSpPr>
        <p:spPr/>
        <p:txBody>
          <a:bodyPr/>
          <a:lstStyle/>
          <a:p>
            <a:r>
              <a:rPr lang="en-US" dirty="0"/>
              <a:t>High-density </a:t>
            </a:r>
            <a:r>
              <a:rPr lang="en-US" dirty="0" err="1"/>
              <a:t>Decap</a:t>
            </a:r>
            <a:endParaRPr lang="en-US" dirty="0"/>
          </a:p>
        </p:txBody>
      </p:sp>
      <p:sp>
        <p:nvSpPr>
          <p:cNvPr id="3" name="Content Placeholder 2"/>
          <p:cNvSpPr>
            <a:spLocks noGrp="1"/>
          </p:cNvSpPr>
          <p:nvPr>
            <p:ph idx="1"/>
          </p:nvPr>
        </p:nvSpPr>
        <p:spPr>
          <a:xfrm>
            <a:off x="1676400" y="5621923"/>
            <a:ext cx="8839200" cy="931277"/>
          </a:xfrm>
        </p:spPr>
        <p:txBody>
          <a:bodyPr/>
          <a:lstStyle/>
          <a:p>
            <a:r>
              <a:rPr lang="en-US" dirty="0"/>
              <a:t>Makes 1</a:t>
            </a:r>
            <a:r>
              <a:rPr lang="en-US" baseline="30000" dirty="0"/>
              <a:t>st</a:t>
            </a:r>
            <a:r>
              <a:rPr lang="en-US" dirty="0"/>
              <a:t> droop slower, less significant</a:t>
            </a:r>
          </a:p>
          <a:p>
            <a:pPr lvl="1"/>
            <a:r>
              <a:rPr lang="en-US" dirty="0"/>
              <a:t>2</a:t>
            </a:r>
            <a:r>
              <a:rPr lang="en-US" baseline="30000" dirty="0"/>
              <a:t>nd</a:t>
            </a:r>
            <a:r>
              <a:rPr lang="en-US" dirty="0"/>
              <a:t> droop can be significant but easier to manage</a:t>
            </a:r>
          </a:p>
        </p:txBody>
      </p:sp>
      <p:sp>
        <p:nvSpPr>
          <p:cNvPr id="4" name="Slide Number Placeholder 3"/>
          <p:cNvSpPr>
            <a:spLocks noGrp="1"/>
          </p:cNvSpPr>
          <p:nvPr>
            <p:ph type="sldNum" sz="quarter" idx="10"/>
          </p:nvPr>
        </p:nvSpPr>
        <p:spPr/>
        <p:txBody>
          <a:bodyPr/>
          <a:lstStyle/>
          <a:p>
            <a:fld id="{7D4E4B3C-6D75-45C2-A79F-093804AEFBBA}" type="slidenum">
              <a:rPr lang="en-US" altLang="ja-JP" smtClean="0"/>
              <a:pPr/>
              <a:t>28</a:t>
            </a:fld>
            <a:endParaRPr lang="en-US" altLang="ja-JP" dirty="0"/>
          </a:p>
        </p:txBody>
      </p:sp>
      <p:sp>
        <p:nvSpPr>
          <p:cNvPr id="6" name="Text Box 9"/>
          <p:cNvSpPr txBox="1">
            <a:spLocks noChangeArrowheads="1"/>
          </p:cNvSpPr>
          <p:nvPr/>
        </p:nvSpPr>
        <p:spPr bwMode="auto">
          <a:xfrm>
            <a:off x="6756628" y="5197464"/>
            <a:ext cx="3758973" cy="3385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1600" b="1" dirty="0">
                <a:solidFill>
                  <a:srgbClr val="000000"/>
                </a:solidFill>
                <a:latin typeface="Arial" pitchFamily="34" charset="0"/>
                <a:cs typeface="Arial" pitchFamily="34" charset="0"/>
              </a:rPr>
              <a:t>[7] C. </a:t>
            </a:r>
            <a:r>
              <a:rPr lang="en-US" sz="1600" b="1" dirty="0" err="1">
                <a:solidFill>
                  <a:srgbClr val="000000"/>
                </a:solidFill>
                <a:latin typeface="Arial" pitchFamily="34" charset="0"/>
                <a:cs typeface="Arial" pitchFamily="34" charset="0"/>
              </a:rPr>
              <a:t>Auth</a:t>
            </a:r>
            <a:r>
              <a:rPr lang="en-US" sz="1600" b="1" dirty="0">
                <a:solidFill>
                  <a:srgbClr val="000000"/>
                </a:solidFill>
                <a:latin typeface="Arial" pitchFamily="34" charset="0"/>
                <a:cs typeface="Arial" pitchFamily="34" charset="0"/>
              </a:rPr>
              <a:t>, et al., VLSI Tech. </a:t>
            </a:r>
            <a:r>
              <a:rPr lang="en-US" sz="1600" b="1" i="1" dirty="0">
                <a:solidFill>
                  <a:srgbClr val="000000"/>
                </a:solidFill>
                <a:latin typeface="Arial" pitchFamily="34" charset="0"/>
                <a:cs typeface="Arial" pitchFamily="34" charset="0"/>
              </a:rPr>
              <a:t>2012</a:t>
            </a:r>
            <a:r>
              <a:rPr lang="en-US" sz="1600" b="1" dirty="0">
                <a:solidFill>
                  <a:srgbClr val="000000"/>
                </a:solidFill>
                <a:latin typeface="Arial" pitchFamily="34" charset="0"/>
                <a:cs typeface="Arial" pitchFamily="34" charset="0"/>
              </a:rPr>
              <a:t>.</a:t>
            </a:r>
          </a:p>
        </p:txBody>
      </p:sp>
      <p:pic>
        <p:nvPicPr>
          <p:cNvPr id="8" name="Picture 7"/>
          <p:cNvPicPr>
            <a:picLocks noChangeAspect="1"/>
          </p:cNvPicPr>
          <p:nvPr/>
        </p:nvPicPr>
        <p:blipFill>
          <a:blip r:embed="rId3"/>
          <a:stretch>
            <a:fillRect/>
          </a:stretch>
        </p:blipFill>
        <p:spPr>
          <a:xfrm>
            <a:off x="5871764" y="304800"/>
            <a:ext cx="4861953" cy="4713682"/>
          </a:xfrm>
          <a:prstGeom prst="rect">
            <a:avLst/>
          </a:prstGeom>
        </p:spPr>
      </p:pic>
      <p:sp>
        <p:nvSpPr>
          <p:cNvPr id="10" name="Text Box 9"/>
          <p:cNvSpPr txBox="1">
            <a:spLocks noChangeArrowheads="1"/>
          </p:cNvSpPr>
          <p:nvPr/>
        </p:nvSpPr>
        <p:spPr bwMode="auto">
          <a:xfrm>
            <a:off x="1777814" y="5197464"/>
            <a:ext cx="3758973" cy="3385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1600" b="1" dirty="0">
                <a:solidFill>
                  <a:srgbClr val="000000"/>
                </a:solidFill>
                <a:latin typeface="Arial" pitchFamily="34" charset="0"/>
                <a:cs typeface="Arial" pitchFamily="34" charset="0"/>
              </a:rPr>
              <a:t>[7] B. </a:t>
            </a:r>
            <a:r>
              <a:rPr lang="en-US" sz="1600" b="1" dirty="0" err="1">
                <a:solidFill>
                  <a:srgbClr val="000000"/>
                </a:solidFill>
                <a:latin typeface="Arial" pitchFamily="34" charset="0"/>
                <a:cs typeface="Arial" pitchFamily="34" charset="0"/>
              </a:rPr>
              <a:t>Jayaraman</a:t>
            </a:r>
            <a:r>
              <a:rPr lang="en-US" sz="1600" b="1" dirty="0">
                <a:solidFill>
                  <a:srgbClr val="000000"/>
                </a:solidFill>
                <a:latin typeface="Arial" pitchFamily="34" charset="0"/>
                <a:cs typeface="Arial" pitchFamily="34" charset="0"/>
              </a:rPr>
              <a:t>, et al., ICICDT </a:t>
            </a:r>
            <a:r>
              <a:rPr lang="en-US" sz="1600" b="1" i="1" dirty="0">
                <a:solidFill>
                  <a:srgbClr val="000000"/>
                </a:solidFill>
                <a:latin typeface="Arial" pitchFamily="34" charset="0"/>
                <a:cs typeface="Arial" pitchFamily="34" charset="0"/>
              </a:rPr>
              <a:t>2012</a:t>
            </a:r>
            <a:r>
              <a:rPr lang="en-US" sz="1600" b="1" dirty="0">
                <a:solidFill>
                  <a:srgbClr val="000000"/>
                </a:solidFill>
                <a:latin typeface="Arial" pitchFamily="34" charset="0"/>
                <a:cs typeface="Arial" pitchFamily="34" charset="0"/>
              </a:rPr>
              <a:t>.</a:t>
            </a:r>
          </a:p>
        </p:txBody>
      </p:sp>
    </p:spTree>
    <p:extLst>
      <p:ext uri="{BB962C8B-B14F-4D97-AF65-F5344CB8AC3E}">
        <p14:creationId xmlns:p14="http://schemas.microsoft.com/office/powerpoint/2010/main" val="13092146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F58F6-3D81-8897-5FE5-639FCCC8AB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EB7823-0CA4-DE9D-0D2B-B3A61124C6E2}"/>
              </a:ext>
            </a:extLst>
          </p:cNvPr>
          <p:cNvSpPr>
            <a:spLocks noGrp="1"/>
          </p:cNvSpPr>
          <p:nvPr>
            <p:ph type="title"/>
          </p:nvPr>
        </p:nvSpPr>
        <p:spPr/>
        <p:txBody>
          <a:bodyPr/>
          <a:lstStyle/>
          <a:p>
            <a:r>
              <a:rPr lang="en-US" dirty="0"/>
              <a:t>High-density </a:t>
            </a:r>
            <a:r>
              <a:rPr lang="en-US" dirty="0" err="1"/>
              <a:t>Decap</a:t>
            </a:r>
            <a:endParaRPr lang="en-US" dirty="0"/>
          </a:p>
        </p:txBody>
      </p:sp>
      <p:sp>
        <p:nvSpPr>
          <p:cNvPr id="3" name="Content Placeholder 2">
            <a:extLst>
              <a:ext uri="{FF2B5EF4-FFF2-40B4-BE49-F238E27FC236}">
                <a16:creationId xmlns:a16="http://schemas.microsoft.com/office/drawing/2014/main" id="{592D6974-D8DF-1224-1D58-DEB7EAB5CFB3}"/>
              </a:ext>
            </a:extLst>
          </p:cNvPr>
          <p:cNvSpPr>
            <a:spLocks noGrp="1"/>
          </p:cNvSpPr>
          <p:nvPr>
            <p:ph idx="1"/>
          </p:nvPr>
        </p:nvSpPr>
        <p:spPr>
          <a:xfrm>
            <a:off x="1676400" y="5621923"/>
            <a:ext cx="8839200" cy="931277"/>
          </a:xfrm>
        </p:spPr>
        <p:txBody>
          <a:bodyPr/>
          <a:lstStyle/>
          <a:p>
            <a:r>
              <a:rPr lang="en-US" dirty="0"/>
              <a:t>MIM cap @500f/um</a:t>
            </a:r>
            <a:r>
              <a:rPr lang="en-US" baseline="30000" dirty="0"/>
              <a:t>2 </a:t>
            </a:r>
            <a:r>
              <a:rPr lang="en-US" dirty="0"/>
              <a:t>enabled by Hi-K Dielectrics</a:t>
            </a:r>
          </a:p>
          <a:p>
            <a:r>
              <a:rPr lang="en-US" dirty="0"/>
              <a:t>Significant ESR</a:t>
            </a:r>
          </a:p>
        </p:txBody>
      </p:sp>
      <p:sp>
        <p:nvSpPr>
          <p:cNvPr id="4" name="Slide Number Placeholder 3">
            <a:extLst>
              <a:ext uri="{FF2B5EF4-FFF2-40B4-BE49-F238E27FC236}">
                <a16:creationId xmlns:a16="http://schemas.microsoft.com/office/drawing/2014/main" id="{096A1AD3-617A-2560-6F51-7A67B4AC053D}"/>
              </a:ext>
            </a:extLst>
          </p:cNvPr>
          <p:cNvSpPr>
            <a:spLocks noGrp="1"/>
          </p:cNvSpPr>
          <p:nvPr>
            <p:ph type="sldNum" sz="quarter" idx="10"/>
          </p:nvPr>
        </p:nvSpPr>
        <p:spPr/>
        <p:txBody>
          <a:bodyPr/>
          <a:lstStyle/>
          <a:p>
            <a:fld id="{7D4E4B3C-6D75-45C2-A79F-093804AEFBBA}" type="slidenum">
              <a:rPr lang="en-US" altLang="ja-JP" smtClean="0"/>
              <a:pPr/>
              <a:t>29</a:t>
            </a:fld>
            <a:endParaRPr lang="en-US" altLang="ja-JP" dirty="0"/>
          </a:p>
        </p:txBody>
      </p:sp>
      <p:pic>
        <p:nvPicPr>
          <p:cNvPr id="7" name="Picture 6" descr="A diagram of a diagram of a diagram&#10;&#10;AI-generated content may be incorrect.">
            <a:extLst>
              <a:ext uri="{FF2B5EF4-FFF2-40B4-BE49-F238E27FC236}">
                <a16:creationId xmlns:a16="http://schemas.microsoft.com/office/drawing/2014/main" id="{549CF996-9053-9B45-DB86-C96D9963F8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799563"/>
            <a:ext cx="11049000" cy="4480102"/>
          </a:xfrm>
          <a:prstGeom prst="rect">
            <a:avLst/>
          </a:prstGeom>
        </p:spPr>
      </p:pic>
    </p:spTree>
    <p:extLst>
      <p:ext uri="{BB962C8B-B14F-4D97-AF65-F5344CB8AC3E}">
        <p14:creationId xmlns:p14="http://schemas.microsoft.com/office/powerpoint/2010/main" val="14680135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Mitigating Droop: Microarchitecture</a:t>
            </a:r>
          </a:p>
        </p:txBody>
      </p:sp>
      <p:sp>
        <p:nvSpPr>
          <p:cNvPr id="3" name="Content Placeholder 2"/>
          <p:cNvSpPr>
            <a:spLocks noGrp="1"/>
          </p:cNvSpPr>
          <p:nvPr>
            <p:ph idx="1"/>
          </p:nvPr>
        </p:nvSpPr>
        <p:spPr>
          <a:xfrm>
            <a:off x="1676400" y="4800600"/>
            <a:ext cx="8839200" cy="2057400"/>
          </a:xfrm>
        </p:spPr>
        <p:txBody>
          <a:bodyPr/>
          <a:lstStyle/>
          <a:p>
            <a:r>
              <a:rPr lang="en-US" dirty="0"/>
              <a:t>Instruction throttling</a:t>
            </a:r>
          </a:p>
          <a:p>
            <a:pPr lvl="1"/>
            <a:r>
              <a:rPr lang="en-US" dirty="0"/>
              <a:t>Gradually fill compute pipeline (e.g. after a cache miss). </a:t>
            </a:r>
          </a:p>
          <a:p>
            <a:pPr lvl="1"/>
            <a:r>
              <a:rPr lang="en-US" dirty="0"/>
              <a:t>Slow ramp-up </a:t>
            </a:r>
            <a:r>
              <a:rPr lang="en-US" dirty="0">
                <a:sym typeface="Wingdings" panose="05000000000000000000" pitchFamily="2" charset="2"/>
              </a:rPr>
              <a:t> Slow current build-up</a:t>
            </a:r>
            <a:endParaRPr lang="en-US" dirty="0"/>
          </a:p>
          <a:p>
            <a:pPr lvl="1"/>
            <a:r>
              <a:rPr lang="en-US" dirty="0"/>
              <a:t>Strongly diminishes 1</a:t>
            </a:r>
            <a:r>
              <a:rPr lang="en-US" baseline="30000" dirty="0"/>
              <a:t>st</a:t>
            </a:r>
            <a:r>
              <a:rPr lang="en-US" dirty="0"/>
              <a:t> droop</a:t>
            </a:r>
          </a:p>
          <a:p>
            <a:pPr lvl="1"/>
            <a:r>
              <a:rPr lang="en-US" dirty="0"/>
              <a:t>Minor performance impact </a:t>
            </a:r>
          </a:p>
        </p:txBody>
      </p:sp>
      <p:sp>
        <p:nvSpPr>
          <p:cNvPr id="4" name="Slide Number Placeholder 3"/>
          <p:cNvSpPr>
            <a:spLocks noGrp="1"/>
          </p:cNvSpPr>
          <p:nvPr>
            <p:ph type="sldNum" sz="quarter" idx="10"/>
          </p:nvPr>
        </p:nvSpPr>
        <p:spPr/>
        <p:txBody>
          <a:bodyPr/>
          <a:lstStyle/>
          <a:p>
            <a:fld id="{7D4E4B3C-6D75-45C2-A79F-093804AEFBBA}" type="slidenum">
              <a:rPr lang="en-US" altLang="ja-JP" smtClean="0"/>
              <a:pPr/>
              <a:t>30</a:t>
            </a:fld>
            <a:endParaRPr lang="en-US" altLang="ja-JP" dirty="0"/>
          </a:p>
        </p:txBody>
      </p:sp>
      <p:pic>
        <p:nvPicPr>
          <p:cNvPr id="5" name="Picture 4"/>
          <p:cNvPicPr>
            <a:picLocks noChangeAspect="1"/>
          </p:cNvPicPr>
          <p:nvPr/>
        </p:nvPicPr>
        <p:blipFill>
          <a:blip r:embed="rId2"/>
          <a:stretch>
            <a:fillRect/>
          </a:stretch>
        </p:blipFill>
        <p:spPr>
          <a:xfrm>
            <a:off x="2057400" y="762000"/>
            <a:ext cx="7696200" cy="4021204"/>
          </a:xfrm>
          <a:prstGeom prst="rect">
            <a:avLst/>
          </a:prstGeom>
        </p:spPr>
      </p:pic>
    </p:spTree>
    <p:extLst>
      <p:ext uri="{BB962C8B-B14F-4D97-AF65-F5344CB8AC3E}">
        <p14:creationId xmlns:p14="http://schemas.microsoft.com/office/powerpoint/2010/main" val="1472150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Limitations of Throttling</a:t>
            </a:r>
          </a:p>
        </p:txBody>
      </p:sp>
      <p:sp>
        <p:nvSpPr>
          <p:cNvPr id="3" name="Content Placeholder 2"/>
          <p:cNvSpPr>
            <a:spLocks noGrp="1"/>
          </p:cNvSpPr>
          <p:nvPr>
            <p:ph idx="1"/>
          </p:nvPr>
        </p:nvSpPr>
        <p:spPr>
          <a:xfrm>
            <a:off x="1676400" y="4953000"/>
            <a:ext cx="8839200" cy="1752600"/>
          </a:xfrm>
        </p:spPr>
        <p:txBody>
          <a:bodyPr/>
          <a:lstStyle/>
          <a:p>
            <a:r>
              <a:rPr lang="en-US" dirty="0"/>
              <a:t>Throttling for 2</a:t>
            </a:r>
            <a:r>
              <a:rPr lang="en-US" baseline="30000" dirty="0"/>
              <a:t>nd</a:t>
            </a:r>
            <a:r>
              <a:rPr lang="en-US" dirty="0"/>
              <a:t> droop requires slow performance ramp-up (to control current ramp )</a:t>
            </a:r>
            <a:endParaRPr lang="en-US" dirty="0">
              <a:sym typeface="Wingdings" panose="05000000000000000000" pitchFamily="2" charset="2"/>
            </a:endParaRPr>
          </a:p>
          <a:p>
            <a:r>
              <a:rPr lang="en-US" dirty="0"/>
              <a:t>Significant performance loss. May be ill-suited to some applications</a:t>
            </a:r>
          </a:p>
        </p:txBody>
      </p:sp>
      <p:sp>
        <p:nvSpPr>
          <p:cNvPr id="4" name="Slide Number Placeholder 3"/>
          <p:cNvSpPr>
            <a:spLocks noGrp="1"/>
          </p:cNvSpPr>
          <p:nvPr>
            <p:ph type="sldNum" sz="quarter" idx="10"/>
          </p:nvPr>
        </p:nvSpPr>
        <p:spPr/>
        <p:txBody>
          <a:bodyPr/>
          <a:lstStyle/>
          <a:p>
            <a:fld id="{7D4E4B3C-6D75-45C2-A79F-093804AEFBBA}" type="slidenum">
              <a:rPr lang="en-US" altLang="ja-JP" smtClean="0"/>
              <a:pPr/>
              <a:t>31</a:t>
            </a:fld>
            <a:endParaRPr lang="en-US" altLang="ja-JP" dirty="0"/>
          </a:p>
        </p:txBody>
      </p:sp>
      <p:pic>
        <p:nvPicPr>
          <p:cNvPr id="6" name="Picture 5"/>
          <p:cNvPicPr>
            <a:picLocks noChangeAspect="1"/>
          </p:cNvPicPr>
          <p:nvPr/>
        </p:nvPicPr>
        <p:blipFill>
          <a:blip r:embed="rId2"/>
          <a:stretch>
            <a:fillRect/>
          </a:stretch>
        </p:blipFill>
        <p:spPr>
          <a:xfrm>
            <a:off x="1695450" y="685801"/>
            <a:ext cx="8591550" cy="4489017"/>
          </a:xfrm>
          <a:prstGeom prst="rect">
            <a:avLst/>
          </a:prstGeom>
        </p:spPr>
      </p:pic>
    </p:spTree>
    <p:extLst>
      <p:ext uri="{BB962C8B-B14F-4D97-AF65-F5344CB8AC3E}">
        <p14:creationId xmlns:p14="http://schemas.microsoft.com/office/powerpoint/2010/main" val="24020690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Doing Better (Worse) than a Step</a:t>
            </a:r>
          </a:p>
        </p:txBody>
      </p:sp>
      <p:sp>
        <p:nvSpPr>
          <p:cNvPr id="3" name="Content Placeholder 2"/>
          <p:cNvSpPr>
            <a:spLocks noGrp="1"/>
          </p:cNvSpPr>
          <p:nvPr>
            <p:ph idx="1"/>
          </p:nvPr>
        </p:nvSpPr>
        <p:spPr>
          <a:xfrm>
            <a:off x="1676400" y="5257800"/>
            <a:ext cx="8839200" cy="1295400"/>
          </a:xfrm>
        </p:spPr>
        <p:txBody>
          <a:bodyPr/>
          <a:lstStyle/>
          <a:p>
            <a:r>
              <a:rPr lang="en-US" dirty="0"/>
              <a:t>Step load does not cause worst case droop</a:t>
            </a:r>
          </a:p>
          <a:p>
            <a:r>
              <a:rPr lang="en-US" dirty="0"/>
              <a:t>Pulsed load can result in ↑ margin requirement </a:t>
            </a:r>
          </a:p>
          <a:p>
            <a:pPr lvl="1"/>
            <a:r>
              <a:rPr lang="en-US" dirty="0"/>
              <a:t>Especially if 1</a:t>
            </a:r>
            <a:r>
              <a:rPr lang="en-US" baseline="30000" dirty="0"/>
              <a:t>st</a:t>
            </a:r>
            <a:r>
              <a:rPr lang="en-US" dirty="0"/>
              <a:t> droop dominates</a:t>
            </a:r>
          </a:p>
        </p:txBody>
      </p:sp>
      <p:sp>
        <p:nvSpPr>
          <p:cNvPr id="4" name="Slide Number Placeholder 3"/>
          <p:cNvSpPr>
            <a:spLocks noGrp="1"/>
          </p:cNvSpPr>
          <p:nvPr>
            <p:ph type="sldNum" sz="quarter" idx="10"/>
          </p:nvPr>
        </p:nvSpPr>
        <p:spPr/>
        <p:txBody>
          <a:bodyPr/>
          <a:lstStyle/>
          <a:p>
            <a:fld id="{7D4E4B3C-6D75-45C2-A79F-093804AEFBBA}" type="slidenum">
              <a:rPr lang="en-US" altLang="ja-JP" smtClean="0"/>
              <a:pPr/>
              <a:t>32</a:t>
            </a:fld>
            <a:endParaRPr lang="en-US" altLang="ja-JP" dirty="0"/>
          </a:p>
        </p:txBody>
      </p:sp>
      <p:pic>
        <p:nvPicPr>
          <p:cNvPr id="7" name="Picture 6"/>
          <p:cNvPicPr>
            <a:picLocks noChangeAspect="1"/>
          </p:cNvPicPr>
          <p:nvPr/>
        </p:nvPicPr>
        <p:blipFill>
          <a:blip r:embed="rId2"/>
          <a:stretch>
            <a:fillRect/>
          </a:stretch>
        </p:blipFill>
        <p:spPr>
          <a:xfrm>
            <a:off x="2057400" y="914401"/>
            <a:ext cx="7620000" cy="4501571"/>
          </a:xfrm>
          <a:prstGeom prst="rect">
            <a:avLst/>
          </a:prstGeom>
        </p:spPr>
      </p:pic>
    </p:spTree>
    <p:extLst>
      <p:ext uri="{BB962C8B-B14F-4D97-AF65-F5344CB8AC3E}">
        <p14:creationId xmlns:p14="http://schemas.microsoft.com/office/powerpoint/2010/main" val="956729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Worst-case Supply Noise : Step vs. Pulse</a:t>
            </a:r>
          </a:p>
        </p:txBody>
      </p:sp>
      <p:pic>
        <p:nvPicPr>
          <p:cNvPr id="5" name="Content Placeholder 4"/>
          <p:cNvPicPr>
            <a:picLocks noGrp="1" noChangeAspect="1"/>
          </p:cNvPicPr>
          <p:nvPr>
            <p:ph idx="1"/>
          </p:nvPr>
        </p:nvPicPr>
        <p:blipFill>
          <a:blip r:embed="rId2"/>
          <a:stretch>
            <a:fillRect/>
          </a:stretch>
        </p:blipFill>
        <p:spPr>
          <a:xfrm>
            <a:off x="1581150" y="1447800"/>
            <a:ext cx="9045628" cy="4114800"/>
          </a:xfrm>
          <a:prstGeom prst="rect">
            <a:avLst/>
          </a:prstGeom>
        </p:spPr>
      </p:pic>
      <p:sp>
        <p:nvSpPr>
          <p:cNvPr id="4" name="Slide Number Placeholder 3"/>
          <p:cNvSpPr>
            <a:spLocks noGrp="1"/>
          </p:cNvSpPr>
          <p:nvPr>
            <p:ph type="sldNum" sz="quarter" idx="10"/>
          </p:nvPr>
        </p:nvSpPr>
        <p:spPr/>
        <p:txBody>
          <a:bodyPr/>
          <a:lstStyle/>
          <a:p>
            <a:fld id="{7D4E4B3C-6D75-45C2-A79F-093804AEFBBA}" type="slidenum">
              <a:rPr lang="en-US" altLang="ja-JP" smtClean="0"/>
              <a:pPr/>
              <a:t>33</a:t>
            </a:fld>
            <a:endParaRPr lang="en-US" altLang="ja-JP" dirty="0"/>
          </a:p>
        </p:txBody>
      </p:sp>
    </p:spTree>
    <p:extLst>
      <p:ext uri="{BB962C8B-B14F-4D97-AF65-F5344CB8AC3E}">
        <p14:creationId xmlns:p14="http://schemas.microsoft.com/office/powerpoint/2010/main" val="33136651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2438400" y="609600"/>
            <a:ext cx="7239000" cy="4383296"/>
          </a:xfrm>
          <a:prstGeom prst="rect">
            <a:avLst/>
          </a:prstGeom>
        </p:spPr>
      </p:pic>
      <p:sp>
        <p:nvSpPr>
          <p:cNvPr id="2" name="Title 1"/>
          <p:cNvSpPr>
            <a:spLocks noGrp="1"/>
          </p:cNvSpPr>
          <p:nvPr>
            <p:ph type="title"/>
          </p:nvPr>
        </p:nvSpPr>
        <p:spPr/>
        <p:txBody>
          <a:bodyPr/>
          <a:lstStyle/>
          <a:p>
            <a:r>
              <a:rPr lang="en-US" dirty="0"/>
              <a:t>Persistent Pulsing ….</a:t>
            </a:r>
          </a:p>
        </p:txBody>
      </p:sp>
      <p:sp>
        <p:nvSpPr>
          <p:cNvPr id="3" name="Content Placeholder 2"/>
          <p:cNvSpPr>
            <a:spLocks noGrp="1"/>
          </p:cNvSpPr>
          <p:nvPr>
            <p:ph idx="1"/>
          </p:nvPr>
        </p:nvSpPr>
        <p:spPr>
          <a:xfrm>
            <a:off x="1676400" y="4800600"/>
            <a:ext cx="8915400" cy="1752600"/>
          </a:xfrm>
        </p:spPr>
        <p:txBody>
          <a:bodyPr/>
          <a:lstStyle/>
          <a:p>
            <a:r>
              <a:rPr lang="en-US" dirty="0"/>
              <a:t>Taking the idea further </a:t>
            </a:r>
            <a:r>
              <a:rPr lang="en-US" dirty="0">
                <a:sym typeface="Wingdings" panose="05000000000000000000" pitchFamily="2" charset="2"/>
              </a:rPr>
              <a:t> </a:t>
            </a:r>
            <a:r>
              <a:rPr lang="en-US" dirty="0"/>
              <a:t>package resonance!</a:t>
            </a:r>
          </a:p>
          <a:p>
            <a:pPr lvl="1"/>
            <a:r>
              <a:rPr lang="en-US" dirty="0"/>
              <a:t>Can be caused by loops in code</a:t>
            </a:r>
          </a:p>
          <a:p>
            <a:pPr lvl="1"/>
            <a:r>
              <a:rPr lang="en-US" dirty="0"/>
              <a:t>High reliability and robustness impact</a:t>
            </a:r>
          </a:p>
        </p:txBody>
      </p:sp>
      <p:sp>
        <p:nvSpPr>
          <p:cNvPr id="4" name="Slide Number Placeholder 3"/>
          <p:cNvSpPr>
            <a:spLocks noGrp="1"/>
          </p:cNvSpPr>
          <p:nvPr>
            <p:ph type="sldNum" sz="quarter" idx="10"/>
          </p:nvPr>
        </p:nvSpPr>
        <p:spPr/>
        <p:txBody>
          <a:bodyPr/>
          <a:lstStyle/>
          <a:p>
            <a:fld id="{7D4E4B3C-6D75-45C2-A79F-093804AEFBBA}" type="slidenum">
              <a:rPr lang="en-US" altLang="ja-JP" smtClean="0"/>
              <a:pPr/>
              <a:t>34</a:t>
            </a:fld>
            <a:endParaRPr lang="en-US" altLang="ja-JP" dirty="0"/>
          </a:p>
        </p:txBody>
      </p:sp>
      <p:sp>
        <p:nvSpPr>
          <p:cNvPr id="6" name="Text Box 9"/>
          <p:cNvSpPr txBox="1">
            <a:spLocks noChangeArrowheads="1"/>
          </p:cNvSpPr>
          <p:nvPr/>
        </p:nvSpPr>
        <p:spPr bwMode="auto">
          <a:xfrm>
            <a:off x="1531117" y="6290846"/>
            <a:ext cx="3758973" cy="3385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1600" b="1" dirty="0">
                <a:solidFill>
                  <a:srgbClr val="000000"/>
                </a:solidFill>
                <a:latin typeface="Arial" pitchFamily="34" charset="0"/>
                <a:cs typeface="Arial" pitchFamily="34" charset="0"/>
              </a:rPr>
              <a:t>[8] Xu et al, ISSCC 2009</a:t>
            </a:r>
          </a:p>
        </p:txBody>
      </p:sp>
    </p:spTree>
    <p:extLst>
      <p:ext uri="{BB962C8B-B14F-4D97-AF65-F5344CB8AC3E}">
        <p14:creationId xmlns:p14="http://schemas.microsoft.com/office/powerpoint/2010/main" val="13989466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Integrated Voltage Regulation (IVR)</a:t>
            </a:r>
          </a:p>
        </p:txBody>
      </p:sp>
      <p:sp>
        <p:nvSpPr>
          <p:cNvPr id="3" name="Content Placeholder 2"/>
          <p:cNvSpPr txBox="1">
            <a:spLocks/>
          </p:cNvSpPr>
          <p:nvPr/>
        </p:nvSpPr>
        <p:spPr>
          <a:xfrm>
            <a:off x="1574800" y="4343400"/>
            <a:ext cx="9067800" cy="2323668"/>
          </a:xfrm>
          <a:prstGeom prst="rect">
            <a:avLst/>
          </a:prstGeom>
        </p:spPr>
        <p:txBody>
          <a:bodyPr/>
          <a:lstStyle>
            <a:lvl1pPr marL="342900" indent="-342900" algn="l" rtl="0" eaLnBrk="1" fontAlgn="base" hangingPunct="1">
              <a:spcBef>
                <a:spcPct val="20000"/>
              </a:spcBef>
              <a:spcAft>
                <a:spcPct val="0"/>
              </a:spcAft>
              <a:buFont typeface="Arial" charset="0"/>
              <a:buChar char="•"/>
              <a:defRPr sz="2800" kern="1200">
                <a:solidFill>
                  <a:srgbClr val="002060"/>
                </a:solidFill>
                <a:latin typeface="Calibri" pitchFamily="34" charset="0"/>
                <a:ea typeface="+mn-ea"/>
                <a:cs typeface="Calibri" pitchFamily="34" charset="0"/>
              </a:defRPr>
            </a:lvl1pPr>
            <a:lvl2pPr marL="742950" indent="-285750" algn="l" rtl="0" eaLnBrk="1" fontAlgn="base" hangingPunct="1">
              <a:spcBef>
                <a:spcPct val="20000"/>
              </a:spcBef>
              <a:spcAft>
                <a:spcPct val="0"/>
              </a:spcAft>
              <a:buFont typeface="Arial" charset="0"/>
              <a:buChar char="–"/>
              <a:defRPr sz="2400" kern="1200">
                <a:solidFill>
                  <a:srgbClr val="002060"/>
                </a:solidFill>
                <a:latin typeface="Calibri" pitchFamily="34" charset="0"/>
                <a:ea typeface="+mn-ea"/>
                <a:cs typeface="Calibri" pitchFamily="34" charset="0"/>
              </a:defRPr>
            </a:lvl2pPr>
            <a:lvl3pPr marL="11430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3pPr>
            <a:lvl4pPr marL="16002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4pPr>
            <a:lvl5pPr marL="20574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
            </a:pPr>
            <a:r>
              <a:rPr lang="en-US" dirty="0"/>
              <a:t>Energy-efficiency demand </a:t>
            </a:r>
            <a:r>
              <a:rPr lang="en-US" dirty="0">
                <a:sym typeface="Wingdings" panose="05000000000000000000" pitchFamily="2" charset="2"/>
              </a:rPr>
              <a:t> ↑ </a:t>
            </a:r>
            <a:r>
              <a:rPr lang="en-US" dirty="0" err="1"/>
              <a:t>spatio</a:t>
            </a:r>
            <a:r>
              <a:rPr lang="en-US" dirty="0"/>
              <a:t>-temporal V</a:t>
            </a:r>
            <a:r>
              <a:rPr lang="en-US" baseline="-25000" dirty="0"/>
              <a:t>dd </a:t>
            </a:r>
            <a:r>
              <a:rPr lang="en-US" dirty="0"/>
              <a:t>scaling</a:t>
            </a:r>
          </a:p>
          <a:p>
            <a:pPr>
              <a:buFont typeface="Wingdings" panose="05000000000000000000" pitchFamily="2" charset="2"/>
              <a:buChar char="§"/>
            </a:pPr>
            <a:r>
              <a:rPr lang="en-US" dirty="0"/>
              <a:t>Off-chip regulators overwhelmingly in use today </a:t>
            </a:r>
          </a:p>
          <a:p>
            <a:pPr lvl="1">
              <a:buFont typeface="Wingdings" panose="05000000000000000000" pitchFamily="2" charset="2"/>
              <a:buChar char="§"/>
            </a:pPr>
            <a:r>
              <a:rPr lang="en-US" dirty="0"/>
              <a:t>Area-cost </a:t>
            </a:r>
          </a:p>
          <a:p>
            <a:pPr lvl="1">
              <a:buFont typeface="Wingdings" panose="05000000000000000000" pitchFamily="2" charset="2"/>
              <a:buChar char="§"/>
            </a:pPr>
            <a:r>
              <a:rPr lang="en-US" dirty="0"/>
              <a:t>PDN degradation (per-domain)</a:t>
            </a:r>
          </a:p>
          <a:p>
            <a:pPr lvl="1">
              <a:buFont typeface="Wingdings" panose="05000000000000000000" pitchFamily="2" charset="2"/>
              <a:buChar char="§"/>
            </a:pPr>
            <a:r>
              <a:rPr lang="en-US" dirty="0"/>
              <a:t>Slow transient response (Control far away from load)</a:t>
            </a:r>
          </a:p>
        </p:txBody>
      </p:sp>
      <p:pic>
        <p:nvPicPr>
          <p:cNvPr id="10" name="Picture 9"/>
          <p:cNvPicPr>
            <a:picLocks noChangeAspect="1"/>
          </p:cNvPicPr>
          <p:nvPr/>
        </p:nvPicPr>
        <p:blipFill>
          <a:blip r:embed="rId2"/>
          <a:stretch>
            <a:fillRect/>
          </a:stretch>
        </p:blipFill>
        <p:spPr>
          <a:xfrm>
            <a:off x="1600352" y="990600"/>
            <a:ext cx="4419449" cy="3200400"/>
          </a:xfrm>
          <a:prstGeom prst="rect">
            <a:avLst/>
          </a:prstGeom>
        </p:spPr>
      </p:pic>
    </p:spTree>
    <p:extLst>
      <p:ext uri="{BB962C8B-B14F-4D97-AF65-F5344CB8AC3E}">
        <p14:creationId xmlns:p14="http://schemas.microsoft.com/office/powerpoint/2010/main" val="19819349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Integrated Voltage Regulation (IVR)</a:t>
            </a:r>
          </a:p>
        </p:txBody>
      </p:sp>
      <p:sp>
        <p:nvSpPr>
          <p:cNvPr id="3" name="Content Placeholder 2"/>
          <p:cNvSpPr txBox="1">
            <a:spLocks/>
          </p:cNvSpPr>
          <p:nvPr/>
        </p:nvSpPr>
        <p:spPr>
          <a:xfrm>
            <a:off x="1574800" y="4343400"/>
            <a:ext cx="9067800" cy="2323668"/>
          </a:xfrm>
          <a:prstGeom prst="rect">
            <a:avLst/>
          </a:prstGeom>
        </p:spPr>
        <p:txBody>
          <a:bodyPr/>
          <a:lstStyle>
            <a:lvl1pPr marL="342900" indent="-342900" algn="l" rtl="0" eaLnBrk="1" fontAlgn="base" hangingPunct="1">
              <a:spcBef>
                <a:spcPct val="20000"/>
              </a:spcBef>
              <a:spcAft>
                <a:spcPct val="0"/>
              </a:spcAft>
              <a:buFont typeface="Arial" charset="0"/>
              <a:buChar char="•"/>
              <a:defRPr sz="2800" kern="1200">
                <a:solidFill>
                  <a:srgbClr val="002060"/>
                </a:solidFill>
                <a:latin typeface="Calibri" pitchFamily="34" charset="0"/>
                <a:ea typeface="+mn-ea"/>
                <a:cs typeface="Calibri" pitchFamily="34" charset="0"/>
              </a:defRPr>
            </a:lvl1pPr>
            <a:lvl2pPr marL="742950" indent="-285750" algn="l" rtl="0" eaLnBrk="1" fontAlgn="base" hangingPunct="1">
              <a:spcBef>
                <a:spcPct val="20000"/>
              </a:spcBef>
              <a:spcAft>
                <a:spcPct val="0"/>
              </a:spcAft>
              <a:buFont typeface="Arial" charset="0"/>
              <a:buChar char="–"/>
              <a:defRPr sz="2400" kern="1200">
                <a:solidFill>
                  <a:srgbClr val="002060"/>
                </a:solidFill>
                <a:latin typeface="Calibri" pitchFamily="34" charset="0"/>
                <a:ea typeface="+mn-ea"/>
                <a:cs typeface="Calibri" pitchFamily="34" charset="0"/>
              </a:defRPr>
            </a:lvl2pPr>
            <a:lvl3pPr marL="11430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3pPr>
            <a:lvl4pPr marL="16002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4pPr>
            <a:lvl5pPr marL="20574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
            </a:pPr>
            <a:r>
              <a:rPr lang="en-US" dirty="0"/>
              <a:t>Integrated Voltage Regulation is a key enabler </a:t>
            </a:r>
          </a:p>
          <a:p>
            <a:pPr lvl="1">
              <a:buFont typeface="Wingdings" panose="05000000000000000000" pitchFamily="2" charset="2"/>
              <a:buChar char="§"/>
            </a:pPr>
            <a:r>
              <a:rPr lang="en-US" dirty="0"/>
              <a:t>Buck</a:t>
            </a:r>
          </a:p>
          <a:p>
            <a:pPr lvl="1">
              <a:buFont typeface="Wingdings" panose="05000000000000000000" pitchFamily="2" charset="2"/>
              <a:buChar char="§"/>
            </a:pPr>
            <a:r>
              <a:rPr lang="en-US" dirty="0"/>
              <a:t>Low-Dropout Regulators (LDO)</a:t>
            </a:r>
          </a:p>
          <a:p>
            <a:pPr lvl="1">
              <a:buFont typeface="Wingdings" panose="05000000000000000000" pitchFamily="2" charset="2"/>
              <a:buChar char="§"/>
            </a:pPr>
            <a:r>
              <a:rPr lang="en-US" dirty="0"/>
              <a:t>Switched-Capacitor (SC) </a:t>
            </a:r>
          </a:p>
          <a:p>
            <a:pPr>
              <a:buFont typeface="Wingdings" panose="05000000000000000000" pitchFamily="2" charset="2"/>
              <a:buChar char="§"/>
            </a:pPr>
            <a:r>
              <a:rPr lang="en-US" dirty="0"/>
              <a:t>Advantages in resolution, speed, pin-count, board-area</a:t>
            </a:r>
          </a:p>
        </p:txBody>
      </p:sp>
      <p:pic>
        <p:nvPicPr>
          <p:cNvPr id="5" name="Picture 4"/>
          <p:cNvPicPr>
            <a:picLocks noChangeAspect="1"/>
          </p:cNvPicPr>
          <p:nvPr/>
        </p:nvPicPr>
        <p:blipFill>
          <a:blip r:embed="rId2"/>
          <a:stretch>
            <a:fillRect/>
          </a:stretch>
        </p:blipFill>
        <p:spPr>
          <a:xfrm>
            <a:off x="1600352" y="990600"/>
            <a:ext cx="4419449" cy="3200400"/>
          </a:xfrm>
          <a:prstGeom prst="rect">
            <a:avLst/>
          </a:prstGeom>
        </p:spPr>
      </p:pic>
      <p:sp>
        <p:nvSpPr>
          <p:cNvPr id="8" name="Rounded Rectangle 7"/>
          <p:cNvSpPr/>
          <p:nvPr/>
        </p:nvSpPr>
        <p:spPr>
          <a:xfrm>
            <a:off x="1600200" y="776183"/>
            <a:ext cx="4495800" cy="3581400"/>
          </a:xfrm>
          <a:prstGeom prst="roundRect">
            <a:avLst/>
          </a:prstGeom>
          <a:solidFill>
            <a:schemeClr val="bg1">
              <a:lumMod val="75000"/>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3"/>
          <a:stretch>
            <a:fillRect/>
          </a:stretch>
        </p:blipFill>
        <p:spPr>
          <a:xfrm>
            <a:off x="6263260" y="776182"/>
            <a:ext cx="4265040" cy="3719618"/>
          </a:xfrm>
          <a:prstGeom prst="rect">
            <a:avLst/>
          </a:prstGeom>
        </p:spPr>
      </p:pic>
      <p:cxnSp>
        <p:nvCxnSpPr>
          <p:cNvPr id="6" name="Straight Arrow Connector 5"/>
          <p:cNvCxnSpPr/>
          <p:nvPr/>
        </p:nvCxnSpPr>
        <p:spPr>
          <a:xfrm>
            <a:off x="6477000" y="5105400"/>
            <a:ext cx="609600" cy="0"/>
          </a:xfrm>
          <a:prstGeom prst="straightConnector1">
            <a:avLst/>
          </a:prstGeom>
          <a:ln w="57150">
            <a:solidFill>
              <a:srgbClr val="FF33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6477000" y="5562600"/>
            <a:ext cx="609600" cy="0"/>
          </a:xfrm>
          <a:prstGeom prst="straightConnector1">
            <a:avLst/>
          </a:prstGeom>
          <a:ln w="57150">
            <a:solidFill>
              <a:srgbClr val="FF33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7108124" y="4951519"/>
            <a:ext cx="3407476" cy="1015663"/>
          </a:xfrm>
          <a:prstGeom prst="rect">
            <a:avLst/>
          </a:prstGeom>
          <a:noFill/>
        </p:spPr>
        <p:txBody>
          <a:bodyPr wrap="square" rtlCol="0">
            <a:spAutoFit/>
          </a:bodyPr>
          <a:lstStyle/>
          <a:p>
            <a:r>
              <a:rPr lang="en-US" sz="2000" dirty="0">
                <a:solidFill>
                  <a:srgbClr val="FF0000"/>
                </a:solidFill>
              </a:rPr>
              <a:t>Focus on advantages and trends. Elementary (cursory) introduction provided. </a:t>
            </a:r>
          </a:p>
        </p:txBody>
      </p:sp>
    </p:spTree>
    <p:extLst>
      <p:ext uri="{BB962C8B-B14F-4D97-AF65-F5344CB8AC3E}">
        <p14:creationId xmlns:p14="http://schemas.microsoft.com/office/powerpoint/2010/main" val="2711764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IVR – Improved </a:t>
            </a:r>
            <a:r>
              <a:rPr lang="en-US" dirty="0" err="1"/>
              <a:t>Spatio</a:t>
            </a:r>
            <a:r>
              <a:rPr lang="en-US" dirty="0"/>
              <a:t>-Temporal Resolution</a:t>
            </a:r>
          </a:p>
        </p:txBody>
      </p:sp>
      <p:pic>
        <p:nvPicPr>
          <p:cNvPr id="3" name="Picture 2"/>
          <p:cNvPicPr>
            <a:picLocks noChangeAspect="1"/>
          </p:cNvPicPr>
          <p:nvPr/>
        </p:nvPicPr>
        <p:blipFill>
          <a:blip r:embed="rId2"/>
          <a:stretch>
            <a:fillRect/>
          </a:stretch>
        </p:blipFill>
        <p:spPr>
          <a:xfrm>
            <a:off x="1582404" y="1219200"/>
            <a:ext cx="8944083" cy="3505200"/>
          </a:xfrm>
          <a:prstGeom prst="rect">
            <a:avLst/>
          </a:prstGeom>
        </p:spPr>
      </p:pic>
      <p:sp>
        <p:nvSpPr>
          <p:cNvPr id="4" name="Content Placeholder 2"/>
          <p:cNvSpPr txBox="1">
            <a:spLocks/>
          </p:cNvSpPr>
          <p:nvPr/>
        </p:nvSpPr>
        <p:spPr>
          <a:xfrm>
            <a:off x="1574800" y="4572000"/>
            <a:ext cx="9067800" cy="2095068"/>
          </a:xfrm>
          <a:prstGeom prst="rect">
            <a:avLst/>
          </a:prstGeom>
        </p:spPr>
        <p:txBody>
          <a:bodyPr/>
          <a:lstStyle>
            <a:lvl1pPr marL="342900" indent="-342900" algn="l" rtl="0" eaLnBrk="1" fontAlgn="base" hangingPunct="1">
              <a:spcBef>
                <a:spcPct val="20000"/>
              </a:spcBef>
              <a:spcAft>
                <a:spcPct val="0"/>
              </a:spcAft>
              <a:buFont typeface="Arial" charset="0"/>
              <a:buChar char="•"/>
              <a:defRPr sz="2800" kern="1200">
                <a:solidFill>
                  <a:srgbClr val="002060"/>
                </a:solidFill>
                <a:latin typeface="Calibri" pitchFamily="34" charset="0"/>
                <a:ea typeface="+mn-ea"/>
                <a:cs typeface="Calibri" pitchFamily="34" charset="0"/>
              </a:defRPr>
            </a:lvl1pPr>
            <a:lvl2pPr marL="742950" indent="-285750" algn="l" rtl="0" eaLnBrk="1" fontAlgn="base" hangingPunct="1">
              <a:spcBef>
                <a:spcPct val="20000"/>
              </a:spcBef>
              <a:spcAft>
                <a:spcPct val="0"/>
              </a:spcAft>
              <a:buFont typeface="Arial" charset="0"/>
              <a:buChar char="–"/>
              <a:defRPr sz="2400" kern="1200">
                <a:solidFill>
                  <a:srgbClr val="002060"/>
                </a:solidFill>
                <a:latin typeface="Calibri" pitchFamily="34" charset="0"/>
                <a:ea typeface="+mn-ea"/>
                <a:cs typeface="Calibri" pitchFamily="34" charset="0"/>
              </a:defRPr>
            </a:lvl2pPr>
            <a:lvl3pPr marL="11430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3pPr>
            <a:lvl4pPr marL="16002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4pPr>
            <a:lvl5pPr marL="20574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
            </a:pPr>
            <a:r>
              <a:rPr lang="en-US" dirty="0"/>
              <a:t>Integrated Voltage Regulation is a key enabler </a:t>
            </a:r>
          </a:p>
          <a:p>
            <a:pPr lvl="1">
              <a:buFont typeface="Wingdings" panose="05000000000000000000" pitchFamily="2" charset="2"/>
              <a:buChar char="§"/>
            </a:pPr>
            <a:r>
              <a:rPr lang="en-US" dirty="0"/>
              <a:t>Buck</a:t>
            </a:r>
          </a:p>
          <a:p>
            <a:pPr lvl="1">
              <a:buFont typeface="Wingdings" panose="05000000000000000000" pitchFamily="2" charset="2"/>
              <a:buChar char="§"/>
            </a:pPr>
            <a:r>
              <a:rPr lang="en-US" dirty="0"/>
              <a:t>Low-Dropout Regulators (LDO)</a:t>
            </a:r>
          </a:p>
          <a:p>
            <a:pPr lvl="1">
              <a:buFont typeface="Wingdings" panose="05000000000000000000" pitchFamily="2" charset="2"/>
              <a:buChar char="§"/>
            </a:pPr>
            <a:r>
              <a:rPr lang="en-US" dirty="0"/>
              <a:t>Switched-Capacitor (SC) </a:t>
            </a:r>
          </a:p>
          <a:p>
            <a:pPr>
              <a:buFont typeface="Wingdings" panose="05000000000000000000" pitchFamily="2" charset="2"/>
              <a:buChar char="§"/>
            </a:pPr>
            <a:r>
              <a:rPr lang="en-US" dirty="0"/>
              <a:t>Advantages in speed, pin-count, board-area and resolution</a:t>
            </a:r>
          </a:p>
        </p:txBody>
      </p:sp>
      <p:sp>
        <p:nvSpPr>
          <p:cNvPr id="6" name="TextBox 5"/>
          <p:cNvSpPr txBox="1"/>
          <p:nvPr/>
        </p:nvSpPr>
        <p:spPr>
          <a:xfrm>
            <a:off x="3276600" y="3962400"/>
            <a:ext cx="3194144" cy="369332"/>
          </a:xfrm>
          <a:prstGeom prst="rect">
            <a:avLst/>
          </a:prstGeom>
          <a:noFill/>
        </p:spPr>
        <p:txBody>
          <a:bodyPr wrap="none" rtlCol="0">
            <a:spAutoFit/>
          </a:bodyPr>
          <a:lstStyle/>
          <a:p>
            <a:r>
              <a:rPr lang="en-US" dirty="0"/>
              <a:t>Adapted from </a:t>
            </a:r>
            <a:r>
              <a:rPr lang="en-US" dirty="0" err="1"/>
              <a:t>Wonyoung</a:t>
            </a:r>
            <a:r>
              <a:rPr lang="en-US" dirty="0"/>
              <a:t> Kim</a:t>
            </a:r>
          </a:p>
        </p:txBody>
      </p:sp>
    </p:spTree>
    <p:extLst>
      <p:ext uri="{BB962C8B-B14F-4D97-AF65-F5344CB8AC3E}">
        <p14:creationId xmlns:p14="http://schemas.microsoft.com/office/powerpoint/2010/main" val="24778076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Integrated Voltage Regulation (Buck)</a:t>
            </a:r>
          </a:p>
        </p:txBody>
      </p:sp>
      <p:graphicFrame>
        <p:nvGraphicFramePr>
          <p:cNvPr id="3" name="Table 2"/>
          <p:cNvGraphicFramePr>
            <a:graphicFrameLocks noGrp="1"/>
          </p:cNvGraphicFramePr>
          <p:nvPr/>
        </p:nvGraphicFramePr>
        <p:xfrm>
          <a:off x="1968500" y="4800600"/>
          <a:ext cx="8255000" cy="1483360"/>
        </p:xfrm>
        <a:graphic>
          <a:graphicData uri="http://schemas.openxmlformats.org/drawingml/2006/table">
            <a:tbl>
              <a:tblPr firstRow="1" bandRow="1">
                <a:tableStyleId>{073A0DAA-6AF3-43AB-8588-CEC1D06C72B9}</a:tableStyleId>
              </a:tblPr>
              <a:tblGrid>
                <a:gridCol w="4002424">
                  <a:extLst>
                    <a:ext uri="{9D8B030D-6E8A-4147-A177-3AD203B41FA5}">
                      <a16:colId xmlns:a16="http://schemas.microsoft.com/office/drawing/2014/main" val="1706983401"/>
                    </a:ext>
                  </a:extLst>
                </a:gridCol>
                <a:gridCol w="4252576">
                  <a:extLst>
                    <a:ext uri="{9D8B030D-6E8A-4147-A177-3AD203B41FA5}">
                      <a16:colId xmlns:a16="http://schemas.microsoft.com/office/drawing/2014/main" val="2359900131"/>
                    </a:ext>
                  </a:extLst>
                </a:gridCol>
              </a:tblGrid>
              <a:tr h="370840">
                <a:tc>
                  <a:txBody>
                    <a:bodyPr/>
                    <a:lstStyle/>
                    <a:p>
                      <a:r>
                        <a:rPr lang="en-US" dirty="0"/>
                        <a:t>Advantages</a:t>
                      </a:r>
                    </a:p>
                  </a:txBody>
                  <a:tcPr/>
                </a:tc>
                <a:tc>
                  <a:txBody>
                    <a:bodyPr/>
                    <a:lstStyle/>
                    <a:p>
                      <a:r>
                        <a:rPr lang="en-US" dirty="0"/>
                        <a:t>Disadvantages/Challenges</a:t>
                      </a:r>
                    </a:p>
                  </a:txBody>
                  <a:tcPr/>
                </a:tc>
                <a:extLst>
                  <a:ext uri="{0D108BD9-81ED-4DB2-BD59-A6C34878D82A}">
                    <a16:rowId xmlns:a16="http://schemas.microsoft.com/office/drawing/2014/main" val="4117403634"/>
                  </a:ext>
                </a:extLst>
              </a:tr>
              <a:tr h="370840">
                <a:tc>
                  <a:txBody>
                    <a:bodyPr/>
                    <a:lstStyle/>
                    <a:p>
                      <a:r>
                        <a:rPr lang="en-US" dirty="0"/>
                        <a:t>Enhanced DVFS</a:t>
                      </a:r>
                      <a:r>
                        <a:rPr lang="en-US" baseline="0" dirty="0"/>
                        <a:t> (</a:t>
                      </a:r>
                      <a:r>
                        <a:rPr lang="en-US" baseline="0" dirty="0" err="1"/>
                        <a:t>spatio</a:t>
                      </a:r>
                      <a:r>
                        <a:rPr lang="en-US" baseline="0" dirty="0"/>
                        <a:t>-temporal)</a:t>
                      </a:r>
                      <a:endParaRPr lang="en-US" dirty="0"/>
                    </a:p>
                  </a:txBody>
                  <a:tcPr/>
                </a:tc>
                <a:tc>
                  <a:txBody>
                    <a:bodyPr/>
                    <a:lstStyle/>
                    <a:p>
                      <a:r>
                        <a:rPr lang="en-US" dirty="0"/>
                        <a:t>2-stage converter</a:t>
                      </a:r>
                      <a:r>
                        <a:rPr lang="en-US" baseline="0" dirty="0"/>
                        <a:t> </a:t>
                      </a:r>
                      <a:r>
                        <a:rPr lang="en-US" dirty="0"/>
                        <a:t>for Li-cell</a:t>
                      </a:r>
                      <a:r>
                        <a:rPr lang="en-US" baseline="0" dirty="0"/>
                        <a:t> </a:t>
                      </a:r>
                      <a:r>
                        <a:rPr lang="en-US" dirty="0"/>
                        <a:t>devices</a:t>
                      </a:r>
                    </a:p>
                  </a:txBody>
                  <a:tcPr/>
                </a:tc>
                <a:extLst>
                  <a:ext uri="{0D108BD9-81ED-4DB2-BD59-A6C34878D82A}">
                    <a16:rowId xmlns:a16="http://schemas.microsoft.com/office/drawing/2014/main" val="8868443"/>
                  </a:ext>
                </a:extLst>
              </a:tr>
              <a:tr h="370840">
                <a:tc>
                  <a:txBody>
                    <a:bodyPr/>
                    <a:lstStyle/>
                    <a:p>
                      <a:r>
                        <a:rPr lang="en-US" baseline="0" dirty="0"/>
                        <a:t>Board size/cost reduction </a:t>
                      </a:r>
                    </a:p>
                  </a:txBody>
                  <a:tcPr/>
                </a:tc>
                <a:tc>
                  <a:txBody>
                    <a:bodyPr/>
                    <a:lstStyle/>
                    <a:p>
                      <a:r>
                        <a:rPr lang="en-US" dirty="0"/>
                        <a:t>Lower converter efficiency</a:t>
                      </a:r>
                    </a:p>
                  </a:txBody>
                  <a:tcPr/>
                </a:tc>
                <a:extLst>
                  <a:ext uri="{0D108BD9-81ED-4DB2-BD59-A6C34878D82A}">
                    <a16:rowId xmlns:a16="http://schemas.microsoft.com/office/drawing/2014/main" val="3516733784"/>
                  </a:ext>
                </a:extLst>
              </a:tr>
              <a:tr h="370840">
                <a:tc>
                  <a:txBody>
                    <a:bodyPr/>
                    <a:lstStyle/>
                    <a:p>
                      <a:r>
                        <a:rPr lang="en-US" dirty="0"/>
                        <a:t>Lower</a:t>
                      </a:r>
                      <a:r>
                        <a:rPr lang="en-US" baseline="0" dirty="0"/>
                        <a:t> input current draw</a:t>
                      </a:r>
                      <a:endParaRPr lang="en-US" dirty="0"/>
                    </a:p>
                  </a:txBody>
                  <a:tcPr/>
                </a:tc>
                <a:tc>
                  <a:txBody>
                    <a:bodyPr/>
                    <a:lstStyle/>
                    <a:p>
                      <a:r>
                        <a:rPr lang="en-US" dirty="0"/>
                        <a:t>Line-side supply-noise</a:t>
                      </a:r>
                    </a:p>
                  </a:txBody>
                  <a:tcPr/>
                </a:tc>
                <a:extLst>
                  <a:ext uri="{0D108BD9-81ED-4DB2-BD59-A6C34878D82A}">
                    <a16:rowId xmlns:a16="http://schemas.microsoft.com/office/drawing/2014/main" val="2407303938"/>
                  </a:ext>
                </a:extLst>
              </a:tr>
            </a:tbl>
          </a:graphicData>
        </a:graphic>
      </p:graphicFrame>
      <p:pic>
        <p:nvPicPr>
          <p:cNvPr id="8" name="Picture 7"/>
          <p:cNvPicPr>
            <a:picLocks noChangeAspect="1"/>
          </p:cNvPicPr>
          <p:nvPr/>
        </p:nvPicPr>
        <p:blipFill>
          <a:blip r:embed="rId2"/>
          <a:stretch>
            <a:fillRect/>
          </a:stretch>
        </p:blipFill>
        <p:spPr>
          <a:xfrm>
            <a:off x="1856015" y="985082"/>
            <a:ext cx="8479971" cy="3592436"/>
          </a:xfrm>
          <a:prstGeom prst="rect">
            <a:avLst/>
          </a:prstGeom>
        </p:spPr>
      </p:pic>
    </p:spTree>
    <p:extLst>
      <p:ext uri="{BB962C8B-B14F-4D97-AF65-F5344CB8AC3E}">
        <p14:creationId xmlns:p14="http://schemas.microsoft.com/office/powerpoint/2010/main" val="40796209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601" y="650070"/>
            <a:ext cx="7131731" cy="4379131"/>
          </a:xfrm>
          <a:prstGeom prst="rect">
            <a:avLst/>
          </a:prstGeom>
        </p:spPr>
      </p:pic>
      <p:sp>
        <p:nvSpPr>
          <p:cNvPr id="2" name="Title 1"/>
          <p:cNvSpPr>
            <a:spLocks noGrp="1"/>
          </p:cNvSpPr>
          <p:nvPr>
            <p:ph type="title"/>
          </p:nvPr>
        </p:nvSpPr>
        <p:spPr/>
        <p:txBody>
          <a:bodyPr/>
          <a:lstStyle/>
          <a:p>
            <a:r>
              <a:rPr lang="en-US" dirty="0"/>
              <a:t>FIVR(Intel </a:t>
            </a:r>
            <a:r>
              <a:rPr lang="en-US" dirty="0" err="1"/>
              <a:t>Haswell</a:t>
            </a:r>
            <a:r>
              <a:rPr lang="en-US" dirty="0"/>
              <a:t>)</a:t>
            </a:r>
          </a:p>
        </p:txBody>
      </p:sp>
      <p:sp>
        <p:nvSpPr>
          <p:cNvPr id="3" name="Content Placeholder 2"/>
          <p:cNvSpPr txBox="1">
            <a:spLocks/>
          </p:cNvSpPr>
          <p:nvPr/>
        </p:nvSpPr>
        <p:spPr>
          <a:xfrm>
            <a:off x="1676400" y="4876800"/>
            <a:ext cx="8839200" cy="1524000"/>
          </a:xfrm>
          <a:prstGeom prst="rect">
            <a:avLst/>
          </a:prstGeom>
        </p:spPr>
        <p:txBody>
          <a:bodyPr/>
          <a:lstStyle>
            <a:lvl1pPr marL="342900" indent="-342900" algn="l" rtl="0" eaLnBrk="1" fontAlgn="base" hangingPunct="1">
              <a:spcBef>
                <a:spcPct val="20000"/>
              </a:spcBef>
              <a:spcAft>
                <a:spcPct val="0"/>
              </a:spcAft>
              <a:buFont typeface="Arial" charset="0"/>
              <a:buChar char="•"/>
              <a:defRPr sz="2800" kern="1200">
                <a:solidFill>
                  <a:srgbClr val="002060"/>
                </a:solidFill>
                <a:latin typeface="Calibri" pitchFamily="34" charset="0"/>
                <a:ea typeface="+mn-ea"/>
                <a:cs typeface="Calibri" pitchFamily="34" charset="0"/>
              </a:defRPr>
            </a:lvl1pPr>
            <a:lvl2pPr marL="742950" indent="-285750" algn="l" rtl="0" eaLnBrk="1" fontAlgn="base" hangingPunct="1">
              <a:spcBef>
                <a:spcPct val="20000"/>
              </a:spcBef>
              <a:spcAft>
                <a:spcPct val="0"/>
              </a:spcAft>
              <a:buFont typeface="Arial" charset="0"/>
              <a:buChar char="–"/>
              <a:defRPr sz="2400" kern="1200">
                <a:solidFill>
                  <a:srgbClr val="002060"/>
                </a:solidFill>
                <a:latin typeface="Calibri" pitchFamily="34" charset="0"/>
                <a:ea typeface="+mn-ea"/>
                <a:cs typeface="Calibri" pitchFamily="34" charset="0"/>
              </a:defRPr>
            </a:lvl2pPr>
            <a:lvl3pPr marL="11430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3pPr>
            <a:lvl4pPr marL="16002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4pPr>
            <a:lvl5pPr marL="20574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
            </a:pPr>
            <a:r>
              <a:rPr lang="en-US" dirty="0"/>
              <a:t>2-stage regulator</a:t>
            </a:r>
          </a:p>
          <a:p>
            <a:pPr>
              <a:buFont typeface="Wingdings" panose="05000000000000000000" pitchFamily="2" charset="2"/>
              <a:buChar char="§"/>
            </a:pPr>
            <a:r>
              <a:rPr lang="en-US" dirty="0"/>
              <a:t>Inductors built on package layer</a:t>
            </a:r>
          </a:p>
          <a:p>
            <a:pPr>
              <a:buFont typeface="Wingdings" panose="05000000000000000000" pitchFamily="2" charset="2"/>
              <a:buChar char="§"/>
            </a:pPr>
            <a:r>
              <a:rPr lang="en-US" dirty="0" err="1"/>
              <a:t>Decap</a:t>
            </a:r>
            <a:r>
              <a:rPr lang="en-US" dirty="0"/>
              <a:t> offered by on-chip MIMCAP</a:t>
            </a:r>
          </a:p>
        </p:txBody>
      </p:sp>
      <p:sp>
        <p:nvSpPr>
          <p:cNvPr id="5" name="Text Box 9"/>
          <p:cNvSpPr txBox="1">
            <a:spLocks noChangeArrowheads="1"/>
          </p:cNvSpPr>
          <p:nvPr/>
        </p:nvSpPr>
        <p:spPr bwMode="auto">
          <a:xfrm>
            <a:off x="1672772" y="6443246"/>
            <a:ext cx="3758973" cy="3385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1600" b="1" dirty="0">
                <a:solidFill>
                  <a:srgbClr val="000000"/>
                </a:solidFill>
                <a:latin typeface="Arial" pitchFamily="34" charset="0"/>
                <a:cs typeface="Arial" pitchFamily="34" charset="0"/>
              </a:rPr>
              <a:t>[9] E. Burton, et al., APEC </a:t>
            </a:r>
            <a:r>
              <a:rPr lang="en-US" sz="1600" b="1" i="1" dirty="0">
                <a:solidFill>
                  <a:srgbClr val="000000"/>
                </a:solidFill>
                <a:latin typeface="Arial" pitchFamily="34" charset="0"/>
                <a:cs typeface="Arial" pitchFamily="34" charset="0"/>
              </a:rPr>
              <a:t>2014</a:t>
            </a:r>
            <a:r>
              <a:rPr lang="en-US" sz="1600" b="1" dirty="0">
                <a:solidFill>
                  <a:srgbClr val="000000"/>
                </a:solidFill>
                <a:latin typeface="Arial" pitchFamily="34" charset="0"/>
                <a:cs typeface="Arial" pitchFamily="34" charset="0"/>
              </a:rPr>
              <a:t>.</a:t>
            </a:r>
          </a:p>
        </p:txBody>
      </p:sp>
    </p:spTree>
    <p:extLst>
      <p:ext uri="{BB962C8B-B14F-4D97-AF65-F5344CB8AC3E}">
        <p14:creationId xmlns:p14="http://schemas.microsoft.com/office/powerpoint/2010/main" val="620578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FIVR(Intel </a:t>
            </a:r>
            <a:r>
              <a:rPr lang="en-US" dirty="0" err="1"/>
              <a:t>Haswell</a:t>
            </a:r>
            <a:r>
              <a:rPr lang="en-US" dirty="0"/>
              <a:t>)</a:t>
            </a:r>
          </a:p>
        </p:txBody>
      </p:sp>
      <p:sp>
        <p:nvSpPr>
          <p:cNvPr id="3" name="Content Placeholder 2"/>
          <p:cNvSpPr txBox="1">
            <a:spLocks/>
          </p:cNvSpPr>
          <p:nvPr/>
        </p:nvSpPr>
        <p:spPr>
          <a:xfrm>
            <a:off x="1676400" y="4631605"/>
            <a:ext cx="8839200" cy="1769195"/>
          </a:xfrm>
          <a:prstGeom prst="rect">
            <a:avLst/>
          </a:prstGeom>
        </p:spPr>
        <p:txBody>
          <a:bodyPr/>
          <a:lstStyle>
            <a:lvl1pPr marL="342900" indent="-342900" algn="l" rtl="0" eaLnBrk="1" fontAlgn="base" hangingPunct="1">
              <a:spcBef>
                <a:spcPct val="20000"/>
              </a:spcBef>
              <a:spcAft>
                <a:spcPct val="0"/>
              </a:spcAft>
              <a:buFont typeface="Arial" charset="0"/>
              <a:buChar char="•"/>
              <a:defRPr sz="2800" kern="1200">
                <a:solidFill>
                  <a:srgbClr val="002060"/>
                </a:solidFill>
                <a:latin typeface="Calibri" pitchFamily="34" charset="0"/>
                <a:ea typeface="+mn-ea"/>
                <a:cs typeface="Calibri" pitchFamily="34" charset="0"/>
              </a:defRPr>
            </a:lvl1pPr>
            <a:lvl2pPr marL="742950" indent="-285750" algn="l" rtl="0" eaLnBrk="1" fontAlgn="base" hangingPunct="1">
              <a:spcBef>
                <a:spcPct val="20000"/>
              </a:spcBef>
              <a:spcAft>
                <a:spcPct val="0"/>
              </a:spcAft>
              <a:buFont typeface="Arial" charset="0"/>
              <a:buChar char="–"/>
              <a:defRPr sz="2400" kern="1200">
                <a:solidFill>
                  <a:srgbClr val="002060"/>
                </a:solidFill>
                <a:latin typeface="Calibri" pitchFamily="34" charset="0"/>
                <a:ea typeface="+mn-ea"/>
                <a:cs typeface="Calibri" pitchFamily="34" charset="0"/>
              </a:defRPr>
            </a:lvl2pPr>
            <a:lvl3pPr marL="11430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3pPr>
            <a:lvl4pPr marL="16002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4pPr>
            <a:lvl5pPr marL="20574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
            </a:pPr>
            <a:r>
              <a:rPr lang="en-US" dirty="0"/>
              <a:t>16-phase operation, 140MHz switching frequency</a:t>
            </a:r>
          </a:p>
          <a:p>
            <a:pPr>
              <a:buFont typeface="Wingdings" panose="05000000000000000000" pitchFamily="2" charset="2"/>
              <a:buChar char="§"/>
            </a:pPr>
            <a:r>
              <a:rPr lang="en-US" dirty="0"/>
              <a:t>Phase-shedding to optimize efficiency across load</a:t>
            </a:r>
          </a:p>
          <a:p>
            <a:pPr>
              <a:buFont typeface="Wingdings" panose="05000000000000000000" pitchFamily="2" charset="2"/>
              <a:buChar char="§"/>
            </a:pPr>
            <a:r>
              <a:rPr lang="en-US" dirty="0" err="1"/>
              <a:t>Decap</a:t>
            </a:r>
            <a:r>
              <a:rPr lang="en-US" dirty="0"/>
              <a:t> offered by on-chip MIMCAP</a:t>
            </a:r>
          </a:p>
        </p:txBody>
      </p:sp>
      <p:sp>
        <p:nvSpPr>
          <p:cNvPr id="5" name="Text Box 9"/>
          <p:cNvSpPr txBox="1">
            <a:spLocks noChangeArrowheads="1"/>
          </p:cNvSpPr>
          <p:nvPr/>
        </p:nvSpPr>
        <p:spPr bwMode="auto">
          <a:xfrm>
            <a:off x="1672772" y="6443246"/>
            <a:ext cx="3758973" cy="3385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1600" b="1" dirty="0">
                <a:solidFill>
                  <a:srgbClr val="000000"/>
                </a:solidFill>
                <a:latin typeface="Arial" pitchFamily="34" charset="0"/>
                <a:cs typeface="Arial" pitchFamily="34" charset="0"/>
              </a:rPr>
              <a:t>[9] E. Burton, et al., APEC </a:t>
            </a:r>
            <a:r>
              <a:rPr lang="en-US" sz="1600" b="1" i="1" dirty="0">
                <a:solidFill>
                  <a:srgbClr val="000000"/>
                </a:solidFill>
                <a:latin typeface="Arial" pitchFamily="34" charset="0"/>
                <a:cs typeface="Arial" pitchFamily="34" charset="0"/>
              </a:rPr>
              <a:t>2014</a:t>
            </a:r>
            <a:r>
              <a:rPr lang="en-US" sz="1600" b="1" dirty="0">
                <a:solidFill>
                  <a:srgbClr val="000000"/>
                </a:solidFill>
                <a:latin typeface="Arial" pitchFamily="34" charset="0"/>
                <a:cs typeface="Arial" pitchFamily="34" charset="0"/>
              </a:rPr>
              <a:t>.</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0" y="772887"/>
            <a:ext cx="6629400" cy="3847833"/>
          </a:xfrm>
          <a:prstGeom prst="rect">
            <a:avLst/>
          </a:prstGeom>
        </p:spPr>
      </p:pic>
    </p:spTree>
    <p:extLst>
      <p:ext uri="{BB962C8B-B14F-4D97-AF65-F5344CB8AC3E}">
        <p14:creationId xmlns:p14="http://schemas.microsoft.com/office/powerpoint/2010/main" val="94841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Inductor Integration</a:t>
            </a:r>
          </a:p>
        </p:txBody>
      </p:sp>
      <p:sp>
        <p:nvSpPr>
          <p:cNvPr id="3" name="Content Placeholder 2"/>
          <p:cNvSpPr txBox="1">
            <a:spLocks/>
          </p:cNvSpPr>
          <p:nvPr/>
        </p:nvSpPr>
        <p:spPr>
          <a:xfrm>
            <a:off x="1676400" y="4227041"/>
            <a:ext cx="8839200" cy="2173759"/>
          </a:xfrm>
          <a:prstGeom prst="rect">
            <a:avLst/>
          </a:prstGeom>
        </p:spPr>
        <p:txBody>
          <a:bodyPr/>
          <a:lstStyle>
            <a:lvl1pPr marL="342900" indent="-342900" algn="l" rtl="0" eaLnBrk="1" fontAlgn="base" hangingPunct="1">
              <a:spcBef>
                <a:spcPct val="20000"/>
              </a:spcBef>
              <a:spcAft>
                <a:spcPct val="0"/>
              </a:spcAft>
              <a:buFont typeface="Arial" charset="0"/>
              <a:buChar char="•"/>
              <a:defRPr sz="2800" kern="1200">
                <a:solidFill>
                  <a:srgbClr val="002060"/>
                </a:solidFill>
                <a:latin typeface="Calibri" pitchFamily="34" charset="0"/>
                <a:ea typeface="+mn-ea"/>
                <a:cs typeface="Calibri" pitchFamily="34" charset="0"/>
              </a:defRPr>
            </a:lvl1pPr>
            <a:lvl2pPr marL="742950" indent="-285750" algn="l" rtl="0" eaLnBrk="1" fontAlgn="base" hangingPunct="1">
              <a:spcBef>
                <a:spcPct val="20000"/>
              </a:spcBef>
              <a:spcAft>
                <a:spcPct val="0"/>
              </a:spcAft>
              <a:buFont typeface="Arial" charset="0"/>
              <a:buChar char="–"/>
              <a:defRPr sz="2400" kern="1200">
                <a:solidFill>
                  <a:srgbClr val="002060"/>
                </a:solidFill>
                <a:latin typeface="Calibri" pitchFamily="34" charset="0"/>
                <a:ea typeface="+mn-ea"/>
                <a:cs typeface="Calibri" pitchFamily="34" charset="0"/>
              </a:defRPr>
            </a:lvl2pPr>
            <a:lvl3pPr marL="11430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3pPr>
            <a:lvl4pPr marL="16002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4pPr>
            <a:lvl5pPr marL="20574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
            </a:pPr>
            <a:r>
              <a:rPr lang="en-US" dirty="0"/>
              <a:t>Inductor windings distributed over individual voltage domains</a:t>
            </a:r>
          </a:p>
          <a:p>
            <a:pPr lvl="1">
              <a:buFont typeface="Wingdings" panose="05000000000000000000" pitchFamily="2" charset="2"/>
              <a:buChar char="§"/>
            </a:pPr>
            <a:r>
              <a:rPr lang="en-US" dirty="0"/>
              <a:t>Improved granularity</a:t>
            </a:r>
          </a:p>
          <a:p>
            <a:pPr lvl="1">
              <a:buFont typeface="Wingdings" panose="05000000000000000000" pitchFamily="2" charset="2"/>
              <a:buChar char="§"/>
            </a:pPr>
            <a:r>
              <a:rPr lang="en-US" dirty="0"/>
              <a:t>Relief in bump current density</a:t>
            </a:r>
          </a:p>
          <a:p>
            <a:pPr lvl="1">
              <a:buFont typeface="Wingdings" panose="05000000000000000000" pitchFamily="2" charset="2"/>
              <a:buChar char="§"/>
            </a:pPr>
            <a:r>
              <a:rPr lang="en-US" dirty="0"/>
              <a:t>Winding orientation to exploit mutual inductance</a:t>
            </a:r>
          </a:p>
        </p:txBody>
      </p:sp>
      <p:sp>
        <p:nvSpPr>
          <p:cNvPr id="5" name="Text Box 9"/>
          <p:cNvSpPr txBox="1">
            <a:spLocks noChangeArrowheads="1"/>
          </p:cNvSpPr>
          <p:nvPr/>
        </p:nvSpPr>
        <p:spPr bwMode="auto">
          <a:xfrm>
            <a:off x="1672772" y="6443246"/>
            <a:ext cx="3758973" cy="3385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1600" b="1" dirty="0">
                <a:solidFill>
                  <a:srgbClr val="000000"/>
                </a:solidFill>
                <a:latin typeface="Arial" pitchFamily="34" charset="0"/>
                <a:cs typeface="Arial" pitchFamily="34" charset="0"/>
              </a:rPr>
              <a:t>[9] E. Burton, et al., APEC </a:t>
            </a:r>
            <a:r>
              <a:rPr lang="en-US" sz="1600" b="1" i="1" dirty="0">
                <a:solidFill>
                  <a:srgbClr val="000000"/>
                </a:solidFill>
                <a:latin typeface="Arial" pitchFamily="34" charset="0"/>
                <a:cs typeface="Arial" pitchFamily="34" charset="0"/>
              </a:rPr>
              <a:t>2014</a:t>
            </a:r>
            <a:r>
              <a:rPr lang="en-US" sz="1600" b="1" dirty="0">
                <a:solidFill>
                  <a:srgbClr val="000000"/>
                </a:solidFill>
                <a:latin typeface="Arial" pitchFamily="34" charset="0"/>
                <a:cs typeface="Arial" pitchFamily="34" charset="0"/>
              </a:rPr>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0" y="874240"/>
            <a:ext cx="8260973" cy="3240560"/>
          </a:xfrm>
          <a:prstGeom prst="rect">
            <a:avLst/>
          </a:prstGeom>
        </p:spPr>
      </p:pic>
    </p:spTree>
    <p:extLst>
      <p:ext uri="{BB962C8B-B14F-4D97-AF65-F5344CB8AC3E}">
        <p14:creationId xmlns:p14="http://schemas.microsoft.com/office/powerpoint/2010/main" val="36197071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3048000" y="609600"/>
            <a:ext cx="5486400" cy="3813252"/>
          </a:xfrm>
          <a:prstGeom prst="rect">
            <a:avLst/>
          </a:prstGeom>
        </p:spPr>
      </p:pic>
      <p:sp>
        <p:nvSpPr>
          <p:cNvPr id="2" name="Title 1"/>
          <p:cNvSpPr>
            <a:spLocks noGrp="1"/>
          </p:cNvSpPr>
          <p:nvPr>
            <p:ph type="title"/>
          </p:nvPr>
        </p:nvSpPr>
        <p:spPr/>
        <p:txBody>
          <a:bodyPr/>
          <a:lstStyle/>
          <a:p>
            <a:r>
              <a:rPr lang="en-US" dirty="0"/>
              <a:t>Phase Shedding</a:t>
            </a:r>
          </a:p>
        </p:txBody>
      </p:sp>
      <p:sp>
        <p:nvSpPr>
          <p:cNvPr id="3" name="Content Placeholder 2"/>
          <p:cNvSpPr txBox="1">
            <a:spLocks/>
          </p:cNvSpPr>
          <p:nvPr/>
        </p:nvSpPr>
        <p:spPr>
          <a:xfrm>
            <a:off x="1676400" y="4422853"/>
            <a:ext cx="8839200" cy="1977947"/>
          </a:xfrm>
          <a:prstGeom prst="rect">
            <a:avLst/>
          </a:prstGeom>
        </p:spPr>
        <p:txBody>
          <a:bodyPr/>
          <a:lstStyle>
            <a:lvl1pPr marL="342900" indent="-342900" algn="l" rtl="0" eaLnBrk="1" fontAlgn="base" hangingPunct="1">
              <a:spcBef>
                <a:spcPct val="20000"/>
              </a:spcBef>
              <a:spcAft>
                <a:spcPct val="0"/>
              </a:spcAft>
              <a:buFont typeface="Arial" charset="0"/>
              <a:buChar char="•"/>
              <a:defRPr sz="2800" kern="1200">
                <a:solidFill>
                  <a:srgbClr val="002060"/>
                </a:solidFill>
                <a:latin typeface="Calibri" pitchFamily="34" charset="0"/>
                <a:ea typeface="+mn-ea"/>
                <a:cs typeface="Calibri" pitchFamily="34" charset="0"/>
              </a:defRPr>
            </a:lvl1pPr>
            <a:lvl2pPr marL="742950" indent="-285750" algn="l" rtl="0" eaLnBrk="1" fontAlgn="base" hangingPunct="1">
              <a:spcBef>
                <a:spcPct val="20000"/>
              </a:spcBef>
              <a:spcAft>
                <a:spcPct val="0"/>
              </a:spcAft>
              <a:buFont typeface="Arial" charset="0"/>
              <a:buChar char="–"/>
              <a:defRPr sz="2400" kern="1200">
                <a:solidFill>
                  <a:srgbClr val="002060"/>
                </a:solidFill>
                <a:latin typeface="Calibri" pitchFamily="34" charset="0"/>
                <a:ea typeface="+mn-ea"/>
                <a:cs typeface="Calibri" pitchFamily="34" charset="0"/>
              </a:defRPr>
            </a:lvl2pPr>
            <a:lvl3pPr marL="11430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3pPr>
            <a:lvl4pPr marL="16002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4pPr>
            <a:lvl5pPr marL="20574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
            </a:pPr>
            <a:r>
              <a:rPr lang="en-US" dirty="0"/>
              <a:t>Processors feature large dynamic current range</a:t>
            </a:r>
          </a:p>
          <a:p>
            <a:pPr>
              <a:buFont typeface="Wingdings" panose="05000000000000000000" pitchFamily="2" charset="2"/>
              <a:buChar char="§"/>
            </a:pPr>
            <a:r>
              <a:rPr lang="en-US" dirty="0"/>
              <a:t>Dynamic phase-shedding to achieve optimal efficiency across load-range</a:t>
            </a:r>
          </a:p>
          <a:p>
            <a:pPr>
              <a:buFont typeface="Wingdings" panose="05000000000000000000" pitchFamily="2" charset="2"/>
              <a:buChar char="§"/>
            </a:pPr>
            <a:r>
              <a:rPr lang="en-US" dirty="0"/>
              <a:t>Peak efficiency of ~90% @ 0.75A/phase</a:t>
            </a:r>
          </a:p>
        </p:txBody>
      </p:sp>
      <p:sp>
        <p:nvSpPr>
          <p:cNvPr id="5" name="Text Box 9"/>
          <p:cNvSpPr txBox="1">
            <a:spLocks noChangeArrowheads="1"/>
          </p:cNvSpPr>
          <p:nvPr/>
        </p:nvSpPr>
        <p:spPr bwMode="auto">
          <a:xfrm>
            <a:off x="1672772" y="6443246"/>
            <a:ext cx="3758973" cy="3385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1600" b="1" dirty="0">
                <a:solidFill>
                  <a:srgbClr val="000000"/>
                </a:solidFill>
                <a:latin typeface="Arial" pitchFamily="34" charset="0"/>
                <a:cs typeface="Arial" pitchFamily="34" charset="0"/>
              </a:rPr>
              <a:t>[9] E. Burton, et al., APEC </a:t>
            </a:r>
            <a:r>
              <a:rPr lang="en-US" sz="1600" b="1" i="1" dirty="0">
                <a:solidFill>
                  <a:srgbClr val="000000"/>
                </a:solidFill>
                <a:latin typeface="Arial" pitchFamily="34" charset="0"/>
                <a:cs typeface="Arial" pitchFamily="34" charset="0"/>
              </a:rPr>
              <a:t>2014</a:t>
            </a:r>
            <a:r>
              <a:rPr lang="en-US" sz="1600" b="1" dirty="0">
                <a:solidFill>
                  <a:srgbClr val="000000"/>
                </a:solidFill>
                <a:latin typeface="Arial" pitchFamily="34" charset="0"/>
                <a:cs typeface="Arial" pitchFamily="34" charset="0"/>
              </a:rPr>
              <a:t>.</a:t>
            </a:r>
          </a:p>
        </p:txBody>
      </p:sp>
    </p:spTree>
    <p:extLst>
      <p:ext uri="{BB962C8B-B14F-4D97-AF65-F5344CB8AC3E}">
        <p14:creationId xmlns:p14="http://schemas.microsoft.com/office/powerpoint/2010/main" val="42779151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Regulators (Low Dropout)</a:t>
            </a:r>
          </a:p>
        </p:txBody>
      </p:sp>
      <p:sp>
        <p:nvSpPr>
          <p:cNvPr id="4" name="Content Placeholder 2"/>
          <p:cNvSpPr txBox="1">
            <a:spLocks/>
          </p:cNvSpPr>
          <p:nvPr/>
        </p:nvSpPr>
        <p:spPr>
          <a:xfrm>
            <a:off x="1676400" y="4267200"/>
            <a:ext cx="8839200" cy="2362200"/>
          </a:xfrm>
          <a:prstGeom prst="rect">
            <a:avLst/>
          </a:prstGeom>
        </p:spPr>
        <p:txBody>
          <a:bodyPr/>
          <a:lstStyle>
            <a:lvl1pPr marL="342900" indent="-342900" algn="l" rtl="0" eaLnBrk="1" fontAlgn="base" hangingPunct="1">
              <a:spcBef>
                <a:spcPct val="20000"/>
              </a:spcBef>
              <a:spcAft>
                <a:spcPct val="0"/>
              </a:spcAft>
              <a:buFont typeface="Arial" charset="0"/>
              <a:buChar char="•"/>
              <a:defRPr sz="2800" kern="1200">
                <a:solidFill>
                  <a:srgbClr val="002060"/>
                </a:solidFill>
                <a:latin typeface="Calibri" pitchFamily="34" charset="0"/>
                <a:ea typeface="+mn-ea"/>
                <a:cs typeface="Calibri" pitchFamily="34" charset="0"/>
              </a:defRPr>
            </a:lvl1pPr>
            <a:lvl2pPr marL="742950" indent="-285750" algn="l" rtl="0" eaLnBrk="1" fontAlgn="base" hangingPunct="1">
              <a:spcBef>
                <a:spcPct val="20000"/>
              </a:spcBef>
              <a:spcAft>
                <a:spcPct val="0"/>
              </a:spcAft>
              <a:buFont typeface="Arial" charset="0"/>
              <a:buChar char="–"/>
              <a:defRPr sz="2400" kern="1200">
                <a:solidFill>
                  <a:srgbClr val="002060"/>
                </a:solidFill>
                <a:latin typeface="Calibri" pitchFamily="34" charset="0"/>
                <a:ea typeface="+mn-ea"/>
                <a:cs typeface="Calibri" pitchFamily="34" charset="0"/>
              </a:defRPr>
            </a:lvl2pPr>
            <a:lvl3pPr marL="11430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3pPr>
            <a:lvl4pPr marL="16002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4pPr>
            <a:lvl5pPr marL="20574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
            </a:pPr>
            <a:r>
              <a:rPr lang="en-US" dirty="0"/>
              <a:t>Efficiency drops linearly with output voltage*</a:t>
            </a:r>
          </a:p>
          <a:p>
            <a:pPr>
              <a:buFont typeface="Wingdings" panose="05000000000000000000" pitchFamily="2" charset="2"/>
              <a:buChar char="§"/>
            </a:pPr>
            <a:r>
              <a:rPr lang="en-US" dirty="0"/>
              <a:t>Typical use: Voltage control for smaller modules</a:t>
            </a:r>
          </a:p>
          <a:p>
            <a:pPr lvl="1">
              <a:buFont typeface="Wingdings" panose="05000000000000000000" pitchFamily="2" charset="2"/>
              <a:buChar char="§"/>
            </a:pPr>
            <a:r>
              <a:rPr lang="en-US" dirty="0"/>
              <a:t>Fast regulation</a:t>
            </a:r>
          </a:p>
          <a:p>
            <a:pPr lvl="1">
              <a:buFont typeface="Wingdings" panose="05000000000000000000" pitchFamily="2" charset="2"/>
              <a:buChar char="§"/>
            </a:pPr>
            <a:r>
              <a:rPr lang="en-US" dirty="0"/>
              <a:t>Low area overhead</a:t>
            </a:r>
          </a:p>
          <a:p>
            <a:pPr>
              <a:buFont typeface="Wingdings" panose="05000000000000000000" pitchFamily="2" charset="2"/>
              <a:buChar char="§"/>
            </a:pPr>
            <a:r>
              <a:rPr lang="en-US" dirty="0"/>
              <a:t>Low-dropout (Low voltage drop across PMOS device)</a:t>
            </a:r>
          </a:p>
        </p:txBody>
      </p:sp>
      <p:pic>
        <p:nvPicPr>
          <p:cNvPr id="5" name="Picture 4"/>
          <p:cNvPicPr>
            <a:picLocks noChangeAspect="1"/>
          </p:cNvPicPr>
          <p:nvPr/>
        </p:nvPicPr>
        <p:blipFill>
          <a:blip r:embed="rId2"/>
          <a:stretch>
            <a:fillRect/>
          </a:stretch>
        </p:blipFill>
        <p:spPr>
          <a:xfrm>
            <a:off x="1402079" y="740228"/>
            <a:ext cx="5791200" cy="3622613"/>
          </a:xfrm>
          <a:prstGeom prst="rect">
            <a:avLst/>
          </a:prstGeom>
        </p:spPr>
      </p:pic>
      <mc:AlternateContent xmlns:mc="http://schemas.openxmlformats.org/markup-compatibility/2006" xmlns:a14="http://schemas.microsoft.com/office/drawing/2010/main">
        <mc:Choice Requires="a14">
          <p:sp>
            <p:nvSpPr>
              <p:cNvPr id="3" name="TextBox 2"/>
              <p:cNvSpPr txBox="1"/>
              <p:nvPr/>
            </p:nvSpPr>
            <p:spPr>
              <a:xfrm>
                <a:off x="7757570" y="2627018"/>
                <a:ext cx="2193741" cy="101380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𝜂</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2</m:t>
                              </m:r>
                            </m:den>
                          </m:f>
                          <m:r>
                            <a:rPr lang="en-US" i="1">
                              <a:latin typeface="Cambria Math" panose="02040503050406030204" pitchFamily="18" charset="0"/>
                              <a:ea typeface="Cambria Math" panose="02040503050406030204" pitchFamily="18" charset="0"/>
                            </a:rPr>
                            <m:t>𝑠𝐶</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𝑜</m:t>
                              </m:r>
                            </m:sub>
                            <m:sup>
                              <m:r>
                                <a:rPr lang="en-US" i="1">
                                  <a:latin typeface="Cambria Math" panose="02040503050406030204" pitchFamily="18" charset="0"/>
                                  <a:ea typeface="Cambria Math" panose="02040503050406030204" pitchFamily="18" charset="0"/>
                                </a:rPr>
                                <m:t>2</m:t>
                              </m:r>
                            </m:sup>
                          </m:sSubSup>
                        </m:num>
                        <m:den>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2</m:t>
                              </m:r>
                            </m:den>
                          </m:f>
                          <m:r>
                            <a:rPr lang="en-US" i="1">
                              <a:latin typeface="Cambria Math" panose="02040503050406030204" pitchFamily="18" charset="0"/>
                              <a:ea typeface="Cambria Math" panose="02040503050406030204" pitchFamily="18" charset="0"/>
                            </a:rPr>
                            <m:t>𝑠𝐶</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𝑜</m:t>
                              </m:r>
                            </m:sub>
                          </m:sSub>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𝑖𝑛</m:t>
                              </m:r>
                            </m:sub>
                          </m:sSub>
                        </m:den>
                      </m:f>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𝑜</m:t>
                              </m:r>
                            </m:sub>
                          </m:sSub>
                        </m:num>
                        <m:den>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𝑖𝑛</m:t>
                              </m:r>
                            </m:sub>
                          </m:sSub>
                        </m:den>
                      </m:f>
                    </m:oMath>
                  </m:oMathPara>
                </a14:m>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7757570" y="2627018"/>
                <a:ext cx="2193741" cy="1013804"/>
              </a:xfrm>
              <a:prstGeom prst="rect">
                <a:avLst/>
              </a:prstGeom>
              <a:blipFill>
                <a:blip r:embed="rId3"/>
                <a:stretch>
                  <a:fillRect b="-24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5950362" y="986836"/>
                <a:ext cx="3145092" cy="10138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i="1" smtClean="0">
                              <a:solidFill>
                                <a:srgbClr val="FF0000"/>
                              </a:solidFill>
                              <a:latin typeface="Cambria Math" panose="02040503050406030204" pitchFamily="18" charset="0"/>
                              <a:ea typeface="Cambria Math" panose="02040503050406030204" pitchFamily="18" charset="0"/>
                            </a:rPr>
                            <m:t>𝜂</m:t>
                          </m:r>
                        </m:e>
                        <m:sup>
                          <m:r>
                            <a:rPr lang="en-US" b="0" i="1" smtClean="0">
                              <a:solidFill>
                                <a:srgbClr val="FF0000"/>
                              </a:solidFill>
                              <a:latin typeface="Cambria Math" panose="02040503050406030204" pitchFamily="18" charset="0"/>
                              <a:ea typeface="Cambria Math" panose="02040503050406030204" pitchFamily="18" charset="0"/>
                            </a:rPr>
                            <m:t>′</m:t>
                          </m:r>
                        </m:sup>
                      </m:sSup>
                      <m:r>
                        <a:rPr lang="en-US" i="1">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1−</m:t>
                      </m:r>
                      <m:f>
                        <m:fPr>
                          <m:ctrlPr>
                            <a:rPr lang="en-US" i="1">
                              <a:solidFill>
                                <a:srgbClr val="FF0000"/>
                              </a:solidFill>
                              <a:latin typeface="Cambria Math" panose="02040503050406030204" pitchFamily="18" charset="0"/>
                              <a:ea typeface="Cambria Math" panose="02040503050406030204" pitchFamily="18" charset="0"/>
                            </a:rPr>
                          </m:ctrlPr>
                        </m:fPr>
                        <m:num>
                          <m:f>
                            <m:fPr>
                              <m:ctrlPr>
                                <a:rPr lang="en-US" i="1">
                                  <a:solidFill>
                                    <a:srgbClr val="FF0000"/>
                                  </a:solidFill>
                                  <a:latin typeface="Cambria Math" panose="02040503050406030204" pitchFamily="18" charset="0"/>
                                  <a:ea typeface="Cambria Math" panose="02040503050406030204" pitchFamily="18" charset="0"/>
                                </a:rPr>
                              </m:ctrlPr>
                            </m:fPr>
                            <m:num>
                              <m:r>
                                <a:rPr lang="en-US" i="1">
                                  <a:solidFill>
                                    <a:srgbClr val="FF0000"/>
                                  </a:solidFill>
                                  <a:latin typeface="Cambria Math" panose="02040503050406030204" pitchFamily="18" charset="0"/>
                                  <a:ea typeface="Cambria Math" panose="02040503050406030204" pitchFamily="18" charset="0"/>
                                </a:rPr>
                                <m:t>1</m:t>
                              </m:r>
                            </m:num>
                            <m:den>
                              <m:r>
                                <a:rPr lang="en-US" i="1">
                                  <a:solidFill>
                                    <a:srgbClr val="FF0000"/>
                                  </a:solidFill>
                                  <a:latin typeface="Cambria Math" panose="02040503050406030204" pitchFamily="18" charset="0"/>
                                  <a:ea typeface="Cambria Math" panose="02040503050406030204" pitchFamily="18" charset="0"/>
                                </a:rPr>
                                <m:t>2</m:t>
                              </m:r>
                            </m:den>
                          </m:f>
                          <m:r>
                            <a:rPr lang="en-US" i="1">
                              <a:solidFill>
                                <a:srgbClr val="FF0000"/>
                              </a:solidFill>
                              <a:latin typeface="Cambria Math" panose="02040503050406030204" pitchFamily="18" charset="0"/>
                              <a:ea typeface="Cambria Math" panose="02040503050406030204" pitchFamily="18" charset="0"/>
                            </a:rPr>
                            <m:t>𝑠𝐶</m:t>
                          </m:r>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𝑉</m:t>
                              </m:r>
                            </m:e>
                            <m:sub>
                              <m:r>
                                <a:rPr lang="en-US" i="1">
                                  <a:solidFill>
                                    <a:srgbClr val="FF0000"/>
                                  </a:solidFill>
                                  <a:latin typeface="Cambria Math" panose="02040503050406030204" pitchFamily="18" charset="0"/>
                                  <a:ea typeface="Cambria Math" panose="02040503050406030204" pitchFamily="18" charset="0"/>
                                </a:rPr>
                                <m:t>𝑜</m:t>
                              </m:r>
                            </m:sub>
                          </m:sSub>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𝑉</m:t>
                              </m:r>
                            </m:e>
                            <m:sub>
                              <m:r>
                                <a:rPr lang="en-US" i="1">
                                  <a:solidFill>
                                    <a:srgbClr val="FF0000"/>
                                  </a:solidFill>
                                  <a:latin typeface="Cambria Math" panose="02040503050406030204" pitchFamily="18" charset="0"/>
                                  <a:ea typeface="Cambria Math" panose="02040503050406030204" pitchFamily="18" charset="0"/>
                                </a:rPr>
                                <m:t>𝑖𝑛</m:t>
                              </m:r>
                            </m:sub>
                          </m:sSub>
                        </m:num>
                        <m:den>
                          <m:f>
                            <m:fPr>
                              <m:ctrlPr>
                                <a:rPr lang="en-US" i="1">
                                  <a:solidFill>
                                    <a:srgbClr val="FF0000"/>
                                  </a:solidFill>
                                  <a:latin typeface="Cambria Math" panose="02040503050406030204" pitchFamily="18" charset="0"/>
                                  <a:ea typeface="Cambria Math" panose="02040503050406030204" pitchFamily="18" charset="0"/>
                                </a:rPr>
                              </m:ctrlPr>
                            </m:fPr>
                            <m:num>
                              <m:r>
                                <a:rPr lang="en-US" i="1">
                                  <a:solidFill>
                                    <a:srgbClr val="FF0000"/>
                                  </a:solidFill>
                                  <a:latin typeface="Cambria Math" panose="02040503050406030204" pitchFamily="18" charset="0"/>
                                  <a:ea typeface="Cambria Math" panose="02040503050406030204" pitchFamily="18" charset="0"/>
                                </a:rPr>
                                <m:t>1</m:t>
                              </m:r>
                            </m:num>
                            <m:den>
                              <m:r>
                                <a:rPr lang="en-US" i="1">
                                  <a:solidFill>
                                    <a:srgbClr val="FF0000"/>
                                  </a:solidFill>
                                  <a:latin typeface="Cambria Math" panose="02040503050406030204" pitchFamily="18" charset="0"/>
                                  <a:ea typeface="Cambria Math" panose="02040503050406030204" pitchFamily="18" charset="0"/>
                                </a:rPr>
                                <m:t>2</m:t>
                              </m:r>
                            </m:den>
                          </m:f>
                          <m:r>
                            <a:rPr lang="en-US" i="1">
                              <a:solidFill>
                                <a:srgbClr val="FF0000"/>
                              </a:solidFill>
                              <a:latin typeface="Cambria Math" panose="02040503050406030204" pitchFamily="18" charset="0"/>
                              <a:ea typeface="Cambria Math" panose="02040503050406030204" pitchFamily="18" charset="0"/>
                            </a:rPr>
                            <m:t>𝑠𝐶</m:t>
                          </m:r>
                          <m:sSubSup>
                            <m:sSubSupPr>
                              <m:ctrlPr>
                                <a:rPr lang="en-US" i="1">
                                  <a:solidFill>
                                    <a:srgbClr val="FF0000"/>
                                  </a:solidFill>
                                  <a:latin typeface="Cambria Math" panose="02040503050406030204" pitchFamily="18" charset="0"/>
                                  <a:ea typeface="Cambria Math" panose="02040503050406030204" pitchFamily="18" charset="0"/>
                                </a:rPr>
                              </m:ctrlPr>
                            </m:sSubSupPr>
                            <m:e>
                              <m:r>
                                <a:rPr lang="en-US" i="1">
                                  <a:solidFill>
                                    <a:srgbClr val="FF0000"/>
                                  </a:solidFill>
                                  <a:latin typeface="Cambria Math" panose="02040503050406030204" pitchFamily="18" charset="0"/>
                                  <a:ea typeface="Cambria Math" panose="02040503050406030204" pitchFamily="18" charset="0"/>
                                </a:rPr>
                                <m:t>𝑉</m:t>
                              </m:r>
                            </m:e>
                            <m:sub>
                              <m:r>
                                <a:rPr lang="en-US" b="0" i="1" smtClean="0">
                                  <a:solidFill>
                                    <a:srgbClr val="FF0000"/>
                                  </a:solidFill>
                                  <a:latin typeface="Cambria Math" panose="02040503050406030204" pitchFamily="18" charset="0"/>
                                  <a:ea typeface="Cambria Math" panose="02040503050406030204" pitchFamily="18" charset="0"/>
                                </a:rPr>
                                <m:t>𝑖𝑛</m:t>
                              </m:r>
                            </m:sub>
                            <m:sup>
                              <m:r>
                                <a:rPr lang="en-US" i="1">
                                  <a:solidFill>
                                    <a:srgbClr val="FF0000"/>
                                  </a:solidFill>
                                  <a:latin typeface="Cambria Math" panose="02040503050406030204" pitchFamily="18" charset="0"/>
                                  <a:ea typeface="Cambria Math" panose="02040503050406030204" pitchFamily="18" charset="0"/>
                                </a:rPr>
                                <m:t>2</m:t>
                              </m:r>
                            </m:sup>
                          </m:sSubSup>
                        </m:den>
                      </m:f>
                      <m:r>
                        <a:rPr lang="en-US" i="1">
                          <a:solidFill>
                            <a:srgbClr val="FF0000"/>
                          </a:solidFill>
                          <a:latin typeface="Cambria Math" panose="02040503050406030204" pitchFamily="18" charset="0"/>
                          <a:ea typeface="Cambria Math" panose="02040503050406030204" pitchFamily="18" charset="0"/>
                        </a:rPr>
                        <m:t>=</m:t>
                      </m:r>
                      <m:f>
                        <m:fPr>
                          <m:ctrlPr>
                            <a:rPr lang="en-US" i="1">
                              <a:solidFill>
                                <a:srgbClr val="FF0000"/>
                              </a:solidFill>
                              <a:latin typeface="Cambria Math" panose="02040503050406030204" pitchFamily="18" charset="0"/>
                              <a:ea typeface="Cambria Math" panose="02040503050406030204" pitchFamily="18" charset="0"/>
                            </a:rPr>
                          </m:ctrlPr>
                        </m:fPr>
                        <m:num>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𝑉</m:t>
                              </m:r>
                            </m:e>
                            <m:sub>
                              <m:r>
                                <a:rPr lang="en-US" i="1">
                                  <a:solidFill>
                                    <a:srgbClr val="FF0000"/>
                                  </a:solidFill>
                                  <a:latin typeface="Cambria Math" panose="02040503050406030204" pitchFamily="18" charset="0"/>
                                  <a:ea typeface="Cambria Math" panose="02040503050406030204" pitchFamily="18" charset="0"/>
                                </a:rPr>
                                <m:t>𝑖𝑛</m:t>
                              </m:r>
                            </m:sub>
                          </m:sSub>
                          <m:r>
                            <a:rPr lang="en-US" b="0" i="1" smtClean="0">
                              <a:solidFill>
                                <a:srgbClr val="FF0000"/>
                              </a:solidFill>
                              <a:latin typeface="Cambria Math" panose="02040503050406030204" pitchFamily="18" charset="0"/>
                              <a:ea typeface="Cambria Math" panose="02040503050406030204" pitchFamily="18" charset="0"/>
                            </a:rPr>
                            <m:t>−</m:t>
                          </m:r>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𝑉</m:t>
                              </m:r>
                            </m:e>
                            <m:sub>
                              <m:r>
                                <a:rPr lang="en-US" i="1">
                                  <a:solidFill>
                                    <a:srgbClr val="FF0000"/>
                                  </a:solidFill>
                                  <a:latin typeface="Cambria Math" panose="02040503050406030204" pitchFamily="18" charset="0"/>
                                  <a:ea typeface="Cambria Math" panose="02040503050406030204" pitchFamily="18" charset="0"/>
                                </a:rPr>
                                <m:t>𝑜</m:t>
                              </m:r>
                            </m:sub>
                          </m:sSub>
                        </m:num>
                        <m:den>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𝑉</m:t>
                              </m:r>
                            </m:e>
                            <m:sub>
                              <m:r>
                                <a:rPr lang="en-US" i="1">
                                  <a:solidFill>
                                    <a:srgbClr val="FF0000"/>
                                  </a:solidFill>
                                  <a:latin typeface="Cambria Math" panose="02040503050406030204" pitchFamily="18" charset="0"/>
                                  <a:ea typeface="Cambria Math" panose="02040503050406030204" pitchFamily="18" charset="0"/>
                                </a:rPr>
                                <m:t>𝑖𝑛</m:t>
                              </m:r>
                            </m:sub>
                          </m:sSub>
                        </m:den>
                      </m:f>
                    </m:oMath>
                  </m:oMathPara>
                </a14:m>
                <a:endParaRPr lang="en-US" dirty="0">
                  <a:solidFill>
                    <a:srgbClr val="FF0000"/>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5950362" y="986836"/>
                <a:ext cx="3145092" cy="1013804"/>
              </a:xfrm>
              <a:prstGeom prst="rect">
                <a:avLst/>
              </a:prstGeom>
              <a:blipFill>
                <a:blip r:embed="rId4"/>
                <a:stretch>
                  <a:fillRect b="-2469"/>
                </a:stretch>
              </a:blipFill>
            </p:spPr>
            <p:txBody>
              <a:bodyPr/>
              <a:lstStyle/>
              <a:p>
                <a:r>
                  <a:rPr lang="en-US">
                    <a:noFill/>
                  </a:rPr>
                  <a:t> </a:t>
                </a:r>
              </a:p>
            </p:txBody>
          </p:sp>
        </mc:Fallback>
      </mc:AlternateContent>
    </p:spTree>
    <p:extLst>
      <p:ext uri="{BB962C8B-B14F-4D97-AF65-F5344CB8AC3E}">
        <p14:creationId xmlns:p14="http://schemas.microsoft.com/office/powerpoint/2010/main" val="2923090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LDO Stability</a:t>
            </a:r>
          </a:p>
        </p:txBody>
      </p:sp>
      <p:sp>
        <p:nvSpPr>
          <p:cNvPr id="4" name="Content Placeholder 2"/>
          <p:cNvSpPr txBox="1">
            <a:spLocks/>
          </p:cNvSpPr>
          <p:nvPr/>
        </p:nvSpPr>
        <p:spPr>
          <a:xfrm>
            <a:off x="1676400" y="4422853"/>
            <a:ext cx="8839200" cy="1977947"/>
          </a:xfrm>
          <a:prstGeom prst="rect">
            <a:avLst/>
          </a:prstGeom>
        </p:spPr>
        <p:txBody>
          <a:bodyPr/>
          <a:lstStyle>
            <a:lvl1pPr marL="342900" indent="-342900" algn="l" rtl="0" eaLnBrk="1" fontAlgn="base" hangingPunct="1">
              <a:spcBef>
                <a:spcPct val="20000"/>
              </a:spcBef>
              <a:spcAft>
                <a:spcPct val="0"/>
              </a:spcAft>
              <a:buFont typeface="Arial" charset="0"/>
              <a:buChar char="•"/>
              <a:defRPr sz="2800" kern="1200">
                <a:solidFill>
                  <a:srgbClr val="002060"/>
                </a:solidFill>
                <a:latin typeface="Calibri" pitchFamily="34" charset="0"/>
                <a:ea typeface="+mn-ea"/>
                <a:cs typeface="Calibri" pitchFamily="34" charset="0"/>
              </a:defRPr>
            </a:lvl1pPr>
            <a:lvl2pPr marL="742950" indent="-285750" algn="l" rtl="0" eaLnBrk="1" fontAlgn="base" hangingPunct="1">
              <a:spcBef>
                <a:spcPct val="20000"/>
              </a:spcBef>
              <a:spcAft>
                <a:spcPct val="0"/>
              </a:spcAft>
              <a:buFont typeface="Arial" charset="0"/>
              <a:buChar char="–"/>
              <a:defRPr sz="2400" kern="1200">
                <a:solidFill>
                  <a:srgbClr val="002060"/>
                </a:solidFill>
                <a:latin typeface="Calibri" pitchFamily="34" charset="0"/>
                <a:ea typeface="+mn-ea"/>
                <a:cs typeface="Calibri" pitchFamily="34" charset="0"/>
              </a:defRPr>
            </a:lvl2pPr>
            <a:lvl3pPr marL="11430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3pPr>
            <a:lvl4pPr marL="16002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4pPr>
            <a:lvl5pPr marL="20574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
            </a:pPr>
            <a:r>
              <a:rPr lang="en-US" dirty="0"/>
              <a:t>On-chip implementations typically feature dominant error-amplifier output pole </a:t>
            </a:r>
          </a:p>
          <a:p>
            <a:pPr lvl="1">
              <a:buFont typeface="Wingdings" panose="05000000000000000000" pitchFamily="2" charset="2"/>
              <a:buChar char="§"/>
            </a:pPr>
            <a:r>
              <a:rPr lang="en-US" dirty="0"/>
              <a:t>Stability challenges at low current (high R</a:t>
            </a:r>
            <a:r>
              <a:rPr lang="en-US" baseline="-25000" dirty="0"/>
              <a:t>out</a:t>
            </a:r>
            <a:r>
              <a:rPr lang="en-US" dirty="0"/>
              <a:t>) configurations</a:t>
            </a:r>
          </a:p>
          <a:p>
            <a:pPr lvl="1">
              <a:buFont typeface="Wingdings" panose="05000000000000000000" pitchFamily="2" charset="2"/>
              <a:buChar char="§"/>
            </a:pPr>
            <a:r>
              <a:rPr lang="en-US" dirty="0"/>
              <a:t>Require careful compensation techniques to maintain stability</a:t>
            </a:r>
          </a:p>
        </p:txBody>
      </p:sp>
      <p:pic>
        <p:nvPicPr>
          <p:cNvPr id="9" name="Picture 8"/>
          <p:cNvPicPr>
            <a:picLocks noChangeAspect="1"/>
          </p:cNvPicPr>
          <p:nvPr/>
        </p:nvPicPr>
        <p:blipFill>
          <a:blip r:embed="rId2"/>
          <a:stretch>
            <a:fillRect/>
          </a:stretch>
        </p:blipFill>
        <p:spPr>
          <a:xfrm>
            <a:off x="1676401" y="1070917"/>
            <a:ext cx="4124325" cy="2808400"/>
          </a:xfrm>
          <a:prstGeom prst="rect">
            <a:avLst/>
          </a:prstGeom>
        </p:spPr>
      </p:pic>
      <p:pic>
        <p:nvPicPr>
          <p:cNvPr id="3" name="Picture 2"/>
          <p:cNvPicPr>
            <a:picLocks noChangeAspect="1"/>
          </p:cNvPicPr>
          <p:nvPr/>
        </p:nvPicPr>
        <p:blipFill>
          <a:blip r:embed="rId3"/>
          <a:stretch>
            <a:fillRect/>
          </a:stretch>
        </p:blipFill>
        <p:spPr>
          <a:xfrm>
            <a:off x="5350539" y="152401"/>
            <a:ext cx="5156595" cy="4042505"/>
          </a:xfrm>
          <a:prstGeom prst="rect">
            <a:avLst/>
          </a:prstGeom>
        </p:spPr>
      </p:pic>
    </p:spTree>
    <p:extLst>
      <p:ext uri="{BB962C8B-B14F-4D97-AF65-F5344CB8AC3E}">
        <p14:creationId xmlns:p14="http://schemas.microsoft.com/office/powerpoint/2010/main" val="17434578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4200" y="460829"/>
            <a:ext cx="5797954" cy="3621314"/>
          </a:xfrm>
          <a:prstGeom prst="rect">
            <a:avLst/>
          </a:prstGeom>
        </p:spPr>
      </p:pic>
      <p:sp>
        <p:nvSpPr>
          <p:cNvPr id="2" name="Title 1"/>
          <p:cNvSpPr>
            <a:spLocks noGrp="1"/>
          </p:cNvSpPr>
          <p:nvPr>
            <p:ph type="title"/>
          </p:nvPr>
        </p:nvSpPr>
        <p:spPr/>
        <p:txBody>
          <a:bodyPr/>
          <a:lstStyle/>
          <a:p>
            <a:r>
              <a:rPr lang="en-US" dirty="0"/>
              <a:t>Digital LDOs</a:t>
            </a:r>
          </a:p>
        </p:txBody>
      </p:sp>
      <p:sp>
        <p:nvSpPr>
          <p:cNvPr id="5" name="Content Placeholder 2"/>
          <p:cNvSpPr txBox="1">
            <a:spLocks/>
          </p:cNvSpPr>
          <p:nvPr/>
        </p:nvSpPr>
        <p:spPr>
          <a:xfrm>
            <a:off x="1676400" y="4267201"/>
            <a:ext cx="8839200" cy="2133599"/>
          </a:xfrm>
          <a:prstGeom prst="rect">
            <a:avLst/>
          </a:prstGeom>
        </p:spPr>
        <p:txBody>
          <a:bodyPr/>
          <a:lstStyle>
            <a:lvl1pPr marL="342900" indent="-342900" algn="l" rtl="0" eaLnBrk="1" fontAlgn="base" hangingPunct="1">
              <a:spcBef>
                <a:spcPct val="20000"/>
              </a:spcBef>
              <a:spcAft>
                <a:spcPct val="0"/>
              </a:spcAft>
              <a:buFont typeface="Arial" charset="0"/>
              <a:buChar char="•"/>
              <a:defRPr sz="2800" kern="1200">
                <a:solidFill>
                  <a:srgbClr val="002060"/>
                </a:solidFill>
                <a:latin typeface="Calibri" pitchFamily="34" charset="0"/>
                <a:ea typeface="+mn-ea"/>
                <a:cs typeface="Calibri" pitchFamily="34" charset="0"/>
              </a:defRPr>
            </a:lvl1pPr>
            <a:lvl2pPr marL="742950" indent="-285750" algn="l" rtl="0" eaLnBrk="1" fontAlgn="base" hangingPunct="1">
              <a:spcBef>
                <a:spcPct val="20000"/>
              </a:spcBef>
              <a:spcAft>
                <a:spcPct val="0"/>
              </a:spcAft>
              <a:buFont typeface="Arial" charset="0"/>
              <a:buChar char="–"/>
              <a:defRPr sz="2400" kern="1200">
                <a:solidFill>
                  <a:srgbClr val="002060"/>
                </a:solidFill>
                <a:latin typeface="Calibri" pitchFamily="34" charset="0"/>
                <a:ea typeface="+mn-ea"/>
                <a:cs typeface="Calibri" pitchFamily="34" charset="0"/>
              </a:defRPr>
            </a:lvl2pPr>
            <a:lvl3pPr marL="11430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3pPr>
            <a:lvl4pPr marL="16002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4pPr>
            <a:lvl5pPr marL="2057400" indent="-228600" algn="l" rtl="0" eaLnBrk="1" fontAlgn="base" hangingPunct="1">
              <a:spcBef>
                <a:spcPct val="20000"/>
              </a:spcBef>
              <a:spcAft>
                <a:spcPct val="0"/>
              </a:spcAft>
              <a:buFont typeface="Arial" charset="0"/>
              <a:buChar char="»"/>
              <a:defRPr sz="2000" kern="1200">
                <a:solidFill>
                  <a:srgbClr val="002060"/>
                </a:solidFill>
                <a:latin typeface="Calibri" pitchFamily="34" charset="0"/>
                <a:ea typeface="+mn-ea"/>
                <a:cs typeface="Calibr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
            </a:pPr>
            <a:r>
              <a:rPr lang="en-US" dirty="0"/>
              <a:t>Recently receiving a lot of attention for </a:t>
            </a:r>
            <a:r>
              <a:rPr lang="en-US" dirty="0" err="1"/>
              <a:t>SoC</a:t>
            </a:r>
            <a:r>
              <a:rPr lang="en-US" dirty="0"/>
              <a:t> applications</a:t>
            </a:r>
          </a:p>
          <a:p>
            <a:pPr lvl="1">
              <a:buFont typeface="Wingdings" panose="05000000000000000000" pitchFamily="2" charset="2"/>
              <a:buChar char="§"/>
            </a:pPr>
            <a:r>
              <a:rPr lang="en-US" dirty="0"/>
              <a:t>Consistent with largely digital workflow</a:t>
            </a:r>
          </a:p>
          <a:p>
            <a:pPr lvl="1">
              <a:buFont typeface="Wingdings" panose="05000000000000000000" pitchFamily="2" charset="2"/>
              <a:buChar char="§"/>
            </a:pPr>
            <a:r>
              <a:rPr lang="en-US" dirty="0"/>
              <a:t>Potentially easy to port across designs and process tech.</a:t>
            </a:r>
          </a:p>
          <a:p>
            <a:pPr>
              <a:buFont typeface="Wingdings" panose="05000000000000000000" pitchFamily="2" charset="2"/>
              <a:buChar char="§"/>
            </a:pPr>
            <a:r>
              <a:rPr lang="en-US" dirty="0"/>
              <a:t>Key challenge: Transient droop response and efficiency</a:t>
            </a:r>
          </a:p>
        </p:txBody>
      </p:sp>
      <p:sp>
        <p:nvSpPr>
          <p:cNvPr id="6" name="Text Box 9"/>
          <p:cNvSpPr txBox="1">
            <a:spLocks noChangeArrowheads="1"/>
          </p:cNvSpPr>
          <p:nvPr/>
        </p:nvSpPr>
        <p:spPr bwMode="auto">
          <a:xfrm>
            <a:off x="1672772" y="6443246"/>
            <a:ext cx="3758973" cy="3385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1600" b="1" dirty="0">
                <a:solidFill>
                  <a:srgbClr val="000000"/>
                </a:solidFill>
                <a:latin typeface="Arial" pitchFamily="34" charset="0"/>
                <a:cs typeface="Arial" pitchFamily="34" charset="0"/>
              </a:rPr>
              <a:t>[10] O. </a:t>
            </a:r>
            <a:r>
              <a:rPr lang="en-US" sz="1600" b="1" dirty="0" err="1">
                <a:solidFill>
                  <a:srgbClr val="000000"/>
                </a:solidFill>
                <a:latin typeface="Arial" pitchFamily="34" charset="0"/>
                <a:cs typeface="Arial" pitchFamily="34" charset="0"/>
              </a:rPr>
              <a:t>Yasuyuki</a:t>
            </a:r>
            <a:r>
              <a:rPr lang="en-US" sz="1600" b="1" dirty="0">
                <a:solidFill>
                  <a:srgbClr val="000000"/>
                </a:solidFill>
                <a:latin typeface="Arial" pitchFamily="34" charset="0"/>
                <a:cs typeface="Arial" pitchFamily="34" charset="0"/>
              </a:rPr>
              <a:t>, et </a:t>
            </a:r>
            <a:r>
              <a:rPr lang="en-US" sz="1600" b="1" dirty="0" err="1">
                <a:solidFill>
                  <a:srgbClr val="000000"/>
                </a:solidFill>
                <a:latin typeface="Arial" pitchFamily="34" charset="0"/>
                <a:cs typeface="Arial" pitchFamily="34" charset="0"/>
              </a:rPr>
              <a:t>al.,CICC</a:t>
            </a:r>
            <a:r>
              <a:rPr lang="en-US" sz="1600" b="1" dirty="0">
                <a:solidFill>
                  <a:srgbClr val="000000"/>
                </a:solidFill>
                <a:latin typeface="Arial" pitchFamily="34" charset="0"/>
                <a:cs typeface="Arial" pitchFamily="34" charset="0"/>
              </a:rPr>
              <a:t> 2010.</a:t>
            </a:r>
          </a:p>
        </p:txBody>
      </p:sp>
    </p:spTree>
    <p:extLst>
      <p:ext uri="{BB962C8B-B14F-4D97-AF65-F5344CB8AC3E}">
        <p14:creationId xmlns:p14="http://schemas.microsoft.com/office/powerpoint/2010/main" val="3535838814"/>
      </p:ext>
    </p:extLst>
  </p:cSld>
  <p:clrMapOvr>
    <a:masterClrMapping/>
  </p:clrMapOvr>
</p:sld>
</file>

<file path=ppt/theme/theme1.xml><?xml version="1.0" encoding="utf-8"?>
<a:theme xmlns:a="http://schemas.openxmlformats.org/drawingml/2006/main" name="jobTalk_0.0">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B0DF1EB4DC6045BA1B288C5FF8EFB0" ma:contentTypeVersion="12" ma:contentTypeDescription="Create a new document." ma:contentTypeScope="" ma:versionID="0eb637dba263e58c5a47a493971a5613">
  <xsd:schema xmlns:xsd="http://www.w3.org/2001/XMLSchema" xmlns:xs="http://www.w3.org/2001/XMLSchema" xmlns:p="http://schemas.microsoft.com/office/2006/metadata/properties" xmlns:ns2="4daf3349-b87f-4476-a3e2-57489a25cbbc" xmlns:ns3="e61753a3-bbfe-4346-8d49-cb7251785657" targetNamespace="http://schemas.microsoft.com/office/2006/metadata/properties" ma:root="true" ma:fieldsID="812555bf2d3640cac8d951ede8f1496a" ns2:_="" ns3:_="">
    <xsd:import namespace="4daf3349-b87f-4476-a3e2-57489a25cbbc"/>
    <xsd:import namespace="e61753a3-bbfe-4346-8d49-cb725178565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af3349-b87f-4476-a3e2-57489a25cb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ec2506c3-735d-4e70-aa79-204d06275b9f"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61753a3-bbfe-4346-8d49-cb7251785657"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0f5cf9d6-07d7-4176-bbd8-9db3e7418672}" ma:internalName="TaxCatchAll" ma:showField="CatchAllData" ma:web="e61753a3-bbfe-4346-8d49-cb725178565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61753a3-bbfe-4346-8d49-cb7251785657" xsi:nil="true"/>
    <lcf76f155ced4ddcb4097134ff3c332f xmlns="4daf3349-b87f-4476-a3e2-57489a25cbb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EFA6447-7E8F-4F45-80E8-1DD29A464A5B}"/>
</file>

<file path=customXml/itemProps2.xml><?xml version="1.0" encoding="utf-8"?>
<ds:datastoreItem xmlns:ds="http://schemas.openxmlformats.org/officeDocument/2006/customXml" ds:itemID="{4445E62B-C4A0-452D-BC3D-81E5CEC282DA}"/>
</file>

<file path=customXml/itemProps3.xml><?xml version="1.0" encoding="utf-8"?>
<ds:datastoreItem xmlns:ds="http://schemas.openxmlformats.org/officeDocument/2006/customXml" ds:itemID="{5825FA94-43BB-4C7A-9FBD-5F31BA9025CA}"/>
</file>

<file path=docProps/app.xml><?xml version="1.0" encoding="utf-8"?>
<Properties xmlns="http://schemas.openxmlformats.org/officeDocument/2006/extended-properties" xmlns:vt="http://schemas.openxmlformats.org/officeDocument/2006/docPropsVTypes">
  <Template/>
  <TotalTime>59760</TotalTime>
  <Words>2640</Words>
  <Application>Microsoft Macintosh PowerPoint</Application>
  <PresentationFormat>Widescreen</PresentationFormat>
  <Paragraphs>505</Paragraphs>
  <Slides>46</Slides>
  <Notes>16</Notes>
  <HiddenSlides>1</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2</vt:i4>
      </vt:variant>
      <vt:variant>
        <vt:lpstr>Slide Titles</vt:lpstr>
      </vt:variant>
      <vt:variant>
        <vt:i4>46</vt:i4>
      </vt:variant>
    </vt:vector>
  </HeadingPairs>
  <TitlesOfParts>
    <vt:vector size="60" baseType="lpstr">
      <vt:lpstr>Calibri</vt:lpstr>
      <vt:lpstr>굴림</vt:lpstr>
      <vt:lpstr>ＭＳ Ｐゴシック</vt:lpstr>
      <vt:lpstr>Wingdings</vt:lpstr>
      <vt:lpstr>Symbol</vt:lpstr>
      <vt:lpstr>Arial</vt:lpstr>
      <vt:lpstr>Times New Roman</vt:lpstr>
      <vt:lpstr>Arial Black</vt:lpstr>
      <vt:lpstr>ＭＳ Ｐゴシック</vt:lpstr>
      <vt:lpstr>Cambria Math</vt:lpstr>
      <vt:lpstr>Trebuchet MS</vt:lpstr>
      <vt:lpstr>jobTalk_0.0</vt:lpstr>
      <vt:lpstr>Visio</vt:lpstr>
      <vt:lpstr>Equation</vt:lpstr>
      <vt:lpstr>Power Delivery</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State of Supply Noise in Modern SoCs</vt:lpstr>
      <vt:lpstr>Design Margins - Taxonomy</vt:lpstr>
      <vt:lpstr>Energy-Efficient Design: Traditional Approaches</vt:lpstr>
      <vt:lpstr>Voltage Margins: Challenging Perceptions</vt:lpstr>
      <vt:lpstr>Outline</vt:lpstr>
      <vt:lpstr>Power Delivery Network</vt:lpstr>
      <vt:lpstr>Understanding Decap</vt:lpstr>
      <vt:lpstr>Power Delivery Network</vt:lpstr>
      <vt:lpstr>Understanding Decap Parasitics</vt:lpstr>
      <vt:lpstr>Supply Impedance – Frequency Domain</vt:lpstr>
      <vt:lpstr>Supply Impedance – Frequency Domain</vt:lpstr>
      <vt:lpstr>Supply Impedance – Frequency Domain</vt:lpstr>
      <vt:lpstr>Supply Impedance – Frequency Domain</vt:lpstr>
      <vt:lpstr>Supply Impedance – Frequency Domain</vt:lpstr>
      <vt:lpstr>Supply Impedance – Time Domain</vt:lpstr>
      <vt:lpstr>The Power Supply Noise Problem</vt:lpstr>
      <vt:lpstr>Supply Noise: Stimulus and Response</vt:lpstr>
      <vt:lpstr>Power Delivery Network: Frequency Response</vt:lpstr>
      <vt:lpstr>Side-note High-density Decap</vt:lpstr>
      <vt:lpstr>High-density Decap</vt:lpstr>
      <vt:lpstr>High-density Decap</vt:lpstr>
      <vt:lpstr>Mitigating Droop: Microarchitecture</vt:lpstr>
      <vt:lpstr>Limitations of Throttling</vt:lpstr>
      <vt:lpstr>Doing Better (Worse) than a Step</vt:lpstr>
      <vt:lpstr>Worst-case Supply Noise : Step vs. Pulse</vt:lpstr>
      <vt:lpstr>Persistent Pulsing ….</vt:lpstr>
      <vt:lpstr>Integrated Voltage Regulation (IVR)</vt:lpstr>
      <vt:lpstr>Integrated Voltage Regulation (IVR)</vt:lpstr>
      <vt:lpstr>IVR – Improved Spatio-Temporal Resolution</vt:lpstr>
      <vt:lpstr>Integrated Voltage Regulation (Buck)</vt:lpstr>
      <vt:lpstr>FIVR(Intel Haswell)</vt:lpstr>
      <vt:lpstr>FIVR(Intel Haswell)</vt:lpstr>
      <vt:lpstr>Inductor Integration</vt:lpstr>
      <vt:lpstr>Phase Shedding</vt:lpstr>
      <vt:lpstr>Linear Regulators (Low Dropout)</vt:lpstr>
      <vt:lpstr>LDO Stability</vt:lpstr>
      <vt:lpstr>Digital LDOs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Energy-Efficient VLSI Systems</dc:title>
  <dc:creator>vish</dc:creator>
  <cp:lastModifiedBy>Sathe, Visvesh S</cp:lastModifiedBy>
  <cp:revision>680</cp:revision>
  <dcterms:created xsi:type="dcterms:W3CDTF">2013-02-11T16:48:12Z</dcterms:created>
  <dcterms:modified xsi:type="dcterms:W3CDTF">2026-01-30T13:50:12Z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0x01010019B0DF1EB4DC6045BA1B288C5FF8EFB0</vt:lpwstr>
  </property>
</Properties>
</file>